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81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-1526004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377440" cy="23774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70355"/>
            <a:ext cx="8229600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  	SEPARATION OF SUBSTANCES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3155" y="2201875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Separating Mixtures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45143" y="3657600"/>
            <a:ext cx="11161485" cy="106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Evaporation  •  Distillation  •  Chromatography  •  Centrifuging</a:t>
            </a:r>
            <a:endParaRPr lang="en-US" sz="3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3108A7-889B-D5BF-E381-431AC291929E}"/>
              </a:ext>
            </a:extLst>
          </p:cNvPr>
          <p:cNvGrpSpPr/>
          <p:nvPr/>
        </p:nvGrpSpPr>
        <p:grpSpPr>
          <a:xfrm>
            <a:off x="3628514" y="4846320"/>
            <a:ext cx="731520" cy="731520"/>
            <a:chOff x="1783080" y="4846320"/>
            <a:chExt cx="731520" cy="731520"/>
          </a:xfrm>
        </p:grpSpPr>
        <p:sp>
          <p:nvSpPr>
            <p:cNvPr id="10" name="Shape 7"/>
            <p:cNvSpPr/>
            <p:nvPr/>
          </p:nvSpPr>
          <p:spPr>
            <a:xfrm>
              <a:off x="1783080" y="4846320"/>
              <a:ext cx="731520" cy="731520"/>
            </a:xfrm>
            <a:prstGeom prst="ellipse">
              <a:avLst/>
            </a:prstGeom>
            <a:solidFill>
              <a:srgbClr val="1C7293"/>
            </a:solidFill>
            <a:ln/>
          </p:spPr>
        </p:sp>
        <p:pic>
          <p:nvPicPr>
            <p:cNvPr id="11" name="Image 1" descr="icons/flas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275" y="5036515"/>
              <a:ext cx="351130" cy="35113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210208-EE24-987C-2B87-57E3AD04F08C}"/>
              </a:ext>
            </a:extLst>
          </p:cNvPr>
          <p:cNvGrpSpPr/>
          <p:nvPr/>
        </p:nvGrpSpPr>
        <p:grpSpPr>
          <a:xfrm>
            <a:off x="6604000" y="4846320"/>
            <a:ext cx="731520" cy="731520"/>
            <a:chOff x="2743200" y="4846320"/>
            <a:chExt cx="731520" cy="731520"/>
          </a:xfrm>
        </p:grpSpPr>
        <p:sp>
          <p:nvSpPr>
            <p:cNvPr id="12" name="Shape 8"/>
            <p:cNvSpPr/>
            <p:nvPr/>
          </p:nvSpPr>
          <p:spPr>
            <a:xfrm>
              <a:off x="2743200" y="4846320"/>
              <a:ext cx="731520" cy="731520"/>
            </a:xfrm>
            <a:prstGeom prst="ellipse">
              <a:avLst/>
            </a:prstGeom>
            <a:solidFill>
              <a:srgbClr val="1C7293"/>
            </a:solidFill>
            <a:ln/>
          </p:spPr>
        </p:sp>
        <p:pic>
          <p:nvPicPr>
            <p:cNvPr id="13" name="Image 2" descr="icons/filte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3395" y="5036515"/>
              <a:ext cx="351130" cy="35113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AEE754-E89A-8D53-1504-4B5071DF5194}"/>
              </a:ext>
            </a:extLst>
          </p:cNvPr>
          <p:cNvGrpSpPr/>
          <p:nvPr/>
        </p:nvGrpSpPr>
        <p:grpSpPr>
          <a:xfrm>
            <a:off x="1375171" y="4846320"/>
            <a:ext cx="731520" cy="731520"/>
            <a:chOff x="822960" y="4846320"/>
            <a:chExt cx="731520" cy="731520"/>
          </a:xfrm>
        </p:grpSpPr>
        <p:sp>
          <p:nvSpPr>
            <p:cNvPr id="8" name="Shape 6"/>
            <p:cNvSpPr/>
            <p:nvPr/>
          </p:nvSpPr>
          <p:spPr>
            <a:xfrm>
              <a:off x="822960" y="4846320"/>
              <a:ext cx="731520" cy="731520"/>
            </a:xfrm>
            <a:prstGeom prst="ellipse">
              <a:avLst/>
            </a:prstGeom>
            <a:solidFill>
              <a:srgbClr val="1C7293"/>
            </a:solidFill>
            <a:ln/>
          </p:spPr>
        </p:sp>
        <p:pic>
          <p:nvPicPr>
            <p:cNvPr id="9" name="Image 0" descr="icons/fir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3155" y="5036515"/>
              <a:ext cx="351130" cy="351130"/>
            </a:xfrm>
            <a:prstGeom prst="rect">
              <a:avLst/>
            </a:prstGeom>
          </p:spPr>
        </p:pic>
      </p:grpSp>
      <p:sp>
        <p:nvSpPr>
          <p:cNvPr id="14" name="Shape 9"/>
          <p:cNvSpPr/>
          <p:nvPr/>
        </p:nvSpPr>
        <p:spPr>
          <a:xfrm>
            <a:off x="9281160" y="4846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5" name="Image 3" descr="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7075" y="5036515"/>
            <a:ext cx="351130" cy="35113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151CECC5-4782-DBD3-49B3-BEE6BE5620A1}"/>
              </a:ext>
            </a:extLst>
          </p:cNvPr>
          <p:cNvSpPr/>
          <p:nvPr/>
        </p:nvSpPr>
        <p:spPr>
          <a:xfrm>
            <a:off x="1554480" y="262432"/>
            <a:ext cx="8229600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201F662-5F2D-D5E5-4A37-8D8687F5944C}"/>
              </a:ext>
            </a:extLst>
          </p:cNvPr>
          <p:cNvSpPr/>
          <p:nvPr/>
        </p:nvSpPr>
        <p:spPr>
          <a:xfrm>
            <a:off x="1016058" y="394236"/>
            <a:ext cx="8229600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0" dirty="0">
                <a:solidFill>
                  <a:schemeClr val="accent5">
                    <a:lumMod val="75000"/>
                  </a:schemeClr>
                </a:solidFill>
              </a:rPr>
              <a:t>MIXTURE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Separate a Mixture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mixtures need different techniques. The right method depends on what is dissolved, how the substances behave when heated, or how heavy the particles 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30" y="26828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Evaporation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397764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 is removed by heating, leaving the dissolved solid behind.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5092" y="24688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062" y="26828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0440" y="397764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is boiled and the vapour is cooled back into pure liquid.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35724" y="246888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694" y="26828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Chromatography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91072" y="397764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substances move at different rates on an absorbing medium.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8860536" y="214884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06356" y="246888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3" descr="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0326" y="268285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97696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Centrifuging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061704" y="397764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at speed separates particles by density in a liquid.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Evaporation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88952" cy="18288"/>
          </a:xfrm>
          <a:prstGeom prst="rect">
            <a:avLst/>
          </a:prstGeom>
          <a:solidFill>
            <a:srgbClr val="E4EE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a dissolved solid from its solution by heating.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solution is heated slowly, the solvent evaporates and the dissolved solid (solute) is left behind in the vessel.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heating salt water in a pan — the water evaporates and salt remains at the bottom.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salt is obtained from seawater — a process called desalination</a:t>
            </a: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60920" y="274320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EAF4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35240" y="3063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s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774" y="32177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 from Seawater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3794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is heated in shallow pans under the sun. Water evaporates into the air, and only salt and minerals remain behind as solid crystals.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88952" cy="18288"/>
          </a:xfrm>
          <a:prstGeom prst="rect">
            <a:avLst/>
          </a:prstGeom>
          <a:solidFill>
            <a:srgbClr val="E4EE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Boiling a liquid, then cooling and condensing its vapour back into liquid form.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separates two miscible liquids that boil at different temperatures. The vapour is passed through a condenser, where cooling turns it back into a pure liquid — this device is what makes distillation possible</a:t>
            </a: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2976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alcohol and water can be separated:</a:t>
            </a:r>
            <a:endParaRPr lang="en-US" sz="1400" dirty="0"/>
          </a:p>
          <a:p>
            <a:pPr marL="0" indent="0">
              <a:buNone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is soluble in water, but the two boil at different temperatures — so heating drives off one before the other.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452360" y="278892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2F8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78°C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32688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boils at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52360" y="434340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F2F8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26680" y="4480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100°C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326880" y="4480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boils 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5943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alcohol boils first, its vapour forms and can be condensed and collected separately, leaving water behind.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· 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Distillation Apparatus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salt solution is heated in a flask over a burner until it boils.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2384" y="2880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83864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83864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2152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 Rises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313639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water vaporises — salt and minerals stay behind in the flask.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3016" y="2880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9904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313639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passes through the condenser, cooled by water flowing around it.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13648" y="2880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0536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25128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02512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43416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43416" y="313639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condensed liquid — pure water — drips into the beaker below.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0" descr="icons/ther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5106010"/>
            <a:ext cx="395021" cy="39502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874520" y="47091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— boiling a liquid by heating and condensing the vapour back to liquid by cooling — is called </a:t>
            </a:r>
            <a:r>
              <a:rPr lang="en-US" sz="20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lets us separate salt and water from a solution.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· APPLICATIONS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at Work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bot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&amp; Traditional 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alcohol-making mixes fermented millet, maize or rice with water in a large earthen pot.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earthen pot with a small hole is placed on top; the joint is sealed with wet clothes to prevent vapour loss.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mixture is heated, alcohol vapour forms and condenses back into liquid, collected at the base of the top pot.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2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Use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29400" y="26974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oil refining, water purification, and production of alcohol and other chemicals.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distillation repeats the process across multiple liquids with different boiling points — this is called fractional distillation.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is separated into petrol, diesel, kerosene and more by fractional distillation.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Chromatography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88952" cy="18288"/>
          </a:xfrm>
          <a:prstGeom prst="rect">
            <a:avLst/>
          </a:prstGeom>
          <a:solidFill>
            <a:srgbClr val="E4EE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dissolved substances by how fast they move through an absorbing medium.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of ink placed on wet blotting paper spreads and splits into different colours — this is chromatography in action.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Dyes are mixtures of colours. When water (the solvent) is poured onto the mixture, it carries the dyes across an absorbing medium — paper, cloth, or chalk.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colour dissolves and travels differently, the colours separate at different rates and distances.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452360" y="274320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EFEF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30175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chem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934" y="3172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Spread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772400" y="3749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that travels farthest on the paper is the most soluble in the solvent. The colour that stays closest to the original spot is the least soluble.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72400" y="4892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 = “colour writing” — a method for separating and identifying dyes present in a mixture.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· APPLICATIONS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Chromatography Is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Chemical Industry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2221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check purity, detect additives, and analyse ingredients.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92424" y="201168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22860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93592" y="29718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Industry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3592" y="3703320"/>
            <a:ext cx="2221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develop and test medicines by separating their components.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36208" y="201168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4808" y="22860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7376" y="29718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&amp; Research Labs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37376" y="3703320"/>
            <a:ext cx="2221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chemicals from blood samples and urine during diagnosis.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79992" y="201168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22860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9718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Science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81160" y="3703320"/>
            <a:ext cx="2221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detect narcotics, drugs, and poisons in biological specimens.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version: red cabbage or beetroot juice, mixed with alcohol and dropped onto filter paper, will also separate into its natural pigments.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Centrifuging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88952" cy="18288"/>
          </a:xfrm>
          <a:prstGeom prst="rect">
            <a:avLst/>
          </a:prstGeom>
          <a:solidFill>
            <a:srgbClr val="E4EE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substances of different density by spinning them at speed.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mixture of two solids in water is rotated fast in a circular path, the heavier particles settle at the bottom and the lighter ones stay on top.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device used for this is called a centrifuge — it can be hand-operated or electric.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best with only a small amount of solid mixed into a liquid.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360920" y="2743200"/>
            <a:ext cx="4297680" cy="3108960"/>
          </a:xfrm>
          <a:prstGeom prst="roundRect">
            <a:avLst>
              <a:gd name="adj" fmla="val 3529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3017520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icons/v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494" y="3172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Uses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80960" y="374904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blood cells from plasma in medical labs.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butter from cream during churning of curd or milk.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Method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22202"/>
              </p:ext>
            </p:extLst>
          </p:nvPr>
        </p:nvGraphicFramePr>
        <p:xfrm>
          <a:off x="548640" y="1691640"/>
          <a:ext cx="11091672" cy="42062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Separates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Based On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Evaporation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Dissolved solid from solution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Solvent evaporates on heating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Salt from seawater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Distillation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Miscible liquids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Different boiling points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Alcohol from water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Chromatography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Dissolved substances / dyes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Different rates of movement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Colours in ink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Centrifuging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Solids of different density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Spinning at speed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Blood cells from plasma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975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Separation of Substances</dc:title>
  <dc:subject>PptxGenJS Presentation</dc:subject>
  <dc:creator>Science Class</dc:creator>
  <cp:lastModifiedBy>DELL</cp:lastModifiedBy>
  <cp:revision>2</cp:revision>
  <dcterms:created xsi:type="dcterms:W3CDTF">2026-07-01T06:01:53Z</dcterms:created>
  <dcterms:modified xsi:type="dcterms:W3CDTF">2026-07-01T06:17:29Z</dcterms:modified>
</cp:coreProperties>
</file>