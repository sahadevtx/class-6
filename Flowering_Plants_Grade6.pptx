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57" r:id="rId3"/>
    <p:sldId id="258" r:id="rId4"/>
    <p:sldId id="279" r:id="rId5"/>
    <p:sldId id="259" r:id="rId6"/>
    <p:sldId id="260" r:id="rId7"/>
    <p:sldId id="261" r:id="rId8"/>
    <p:sldId id="264" r:id="rId9"/>
    <p:sldId id="265" r:id="rId10"/>
    <p:sldId id="266" r:id="rId11"/>
    <p:sldId id="268" r:id="rId12"/>
    <p:sldId id="269" r:id="rId13"/>
    <p:sldId id="270" r:id="rId14"/>
    <p:sldId id="271" r:id="rId15"/>
    <p:sldId id="273" r:id="rId16"/>
    <p:sldId id="274" r:id="rId17"/>
    <p:sldId id="275" r:id="rId18"/>
    <p:sldId id="276" r:id="rId19"/>
    <p:sldId id="277" r:id="rId20"/>
    <p:sldId id="278" r:id="rId2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p:scale>
          <a:sx n="75" d="100"/>
          <a:sy n="75" d="100"/>
        </p:scale>
        <p:origin x="1236" y="3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459517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Welcome students. Show title slide while introducing the topic. Ask: 'Who can name a flowering plant they know?'</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First show only the top box. Ask the prediction question. Then reveal Gymnosperms + Angiosperms. Finally reveal Monocots + Dicots under Angiosperms. Emphasize: Gymnosperms = naked seeds, Angiosperms = enclosed seeds in fruits.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Emphasize 'naked seeds' means seeds are not protected by a fruit. Show a real pine cone if available. Ask: 'Have you ever seen a pine cone?'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Reveal steps one by one. Ask: 'Where does the pollen come from?' → Male cone. Ask: 'Where is the ovule found?' → Female cone. Stress that seeds are naked (not inside fruit).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In many gymnosperms like pine, male and female cones are on the same plant. Pollen reaches ovule → fertilization → seed forms. Keep language simple.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Angiosperms = flowering plants. Seeds develop inside fruits. Contrast with gymnosperms (naked seeds).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Reveal each row one by one. Ask: 'What is the biggest difference between the seeds?' Reveal the answer at the bottom.</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Animate: first show Angiosperms, then reveal the two groups. Cotyledon = seed leaf that stores food for the baby plant.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Show real examples if possible (rice grains, maize, wheat). Point out fibrous roots and long narrow leaves.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Contrast with monocots. Show a bean or pea seed if possible. Point out broad leaves and tap roots.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Students select first. Correct: Mango, Pea, Mustard. Rice, Maize, Wheat are monocots.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This is a prediction activity. Ask students first, then reveal. Ideally, have real soaked seeds for students to open.</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Reveal each row after asking students to predict. Use this as a summary of monocot vs dicot differences.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Students answer. Then reveal: ✅ C. Pine. Gymnosperm = naked seeds, pine is the classic example.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Students answer. Reveal: ✅ B. Anther. The anther is the male part that makes pollen.</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Students answer. Reveal: ✅ A. One. Mono = one. Dicot = two.</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Students answer. Reveal: ✅ D. Mango. Rice, maize, wheat are all monocots.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Students answer. Reveal: ✅ C. Fruit. This is the key difference from gymnosperms.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Recap the whole classification. Challenge students to look at plants outside or at home and classify them.</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3.png"/><Relationship Id="rId7" Type="http://schemas.openxmlformats.org/officeDocument/2006/relationships/image" Target="../media/image6.jpe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5.jpeg"/><Relationship Id="rId5" Type="http://schemas.openxmlformats.org/officeDocument/2006/relationships/image" Target="../media/image4.png"/><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6.jpe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2.jpeg"/><Relationship Id="rId5" Type="http://schemas.openxmlformats.org/officeDocument/2006/relationships/image" Target="../media/image11.png"/><Relationship Id="rId4" Type="http://schemas.openxmlformats.org/officeDocument/2006/relationships/image" Target="../media/image10.jpe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4332"/>
        </a:solidFill>
        <a:effectLst/>
      </p:bgPr>
    </p:bg>
    <p:spTree>
      <p:nvGrpSpPr>
        <p:cNvPr id="1" name=""/>
        <p:cNvGrpSpPr/>
        <p:nvPr/>
      </p:nvGrpSpPr>
      <p:grpSpPr>
        <a:xfrm>
          <a:off x="0" y="0"/>
          <a:ext cx="0" cy="0"/>
          <a:chOff x="0" y="0"/>
          <a:chExt cx="0" cy="0"/>
        </a:xfrm>
      </p:grpSpPr>
      <p:sp>
        <p:nvSpPr>
          <p:cNvPr id="2" name="Shape 0"/>
          <p:cNvSpPr/>
          <p:nvPr/>
        </p:nvSpPr>
        <p:spPr>
          <a:xfrm>
            <a:off x="-914400" y="-914400"/>
            <a:ext cx="3657600" cy="3657600"/>
          </a:xfrm>
          <a:prstGeom prst="ellipse">
            <a:avLst/>
          </a:prstGeom>
          <a:solidFill>
            <a:srgbClr val="2D6A4F">
              <a:alpha val="40000"/>
            </a:srgbClr>
          </a:solidFill>
          <a:ln/>
        </p:spPr>
      </p:sp>
      <p:sp>
        <p:nvSpPr>
          <p:cNvPr id="3" name="Shape 1"/>
          <p:cNvSpPr/>
          <p:nvPr/>
        </p:nvSpPr>
        <p:spPr>
          <a:xfrm>
            <a:off x="7315200" y="3200400"/>
            <a:ext cx="3200400" cy="3200400"/>
          </a:xfrm>
          <a:prstGeom prst="ellipse">
            <a:avLst/>
          </a:prstGeom>
          <a:solidFill>
            <a:srgbClr val="2D6A4F">
              <a:alpha val="50000"/>
            </a:srgbClr>
          </a:solidFill>
          <a:ln/>
        </p:spPr>
      </p:sp>
      <p:pic>
        <p:nvPicPr>
          <p:cNvPr id="4" name="Image 0" descr="preencoded.png"/>
          <p:cNvPicPr>
            <a:picLocks noChangeAspect="1"/>
          </p:cNvPicPr>
          <p:nvPr/>
        </p:nvPicPr>
        <p:blipFill>
          <a:blip r:embed="rId3"/>
          <a:stretch>
            <a:fillRect/>
          </a:stretch>
        </p:blipFill>
        <p:spPr>
          <a:xfrm>
            <a:off x="3975100" y="182880"/>
            <a:ext cx="914400" cy="914400"/>
          </a:xfrm>
          <a:prstGeom prst="rect">
            <a:avLst/>
          </a:prstGeom>
        </p:spPr>
      </p:pic>
      <p:sp>
        <p:nvSpPr>
          <p:cNvPr id="5" name="Text 2"/>
          <p:cNvSpPr/>
          <p:nvPr/>
        </p:nvSpPr>
        <p:spPr>
          <a:xfrm>
            <a:off x="457200" y="1731010"/>
            <a:ext cx="8229600" cy="914400"/>
          </a:xfrm>
          <a:prstGeom prst="rect">
            <a:avLst/>
          </a:prstGeom>
          <a:noFill/>
          <a:ln/>
        </p:spPr>
        <p:txBody>
          <a:bodyPr wrap="square" lIns="0" tIns="0" rIns="0" bIns="0" rtlCol="0" anchor="ctr"/>
          <a:lstStyle/>
          <a:p>
            <a:pPr marL="0" indent="0" algn="ctr">
              <a:buNone/>
            </a:pPr>
            <a:r>
              <a:rPr lang="en-US" sz="6000" b="1" dirty="0">
                <a:solidFill>
                  <a:srgbClr val="FFFFFF"/>
                </a:solidFill>
                <a:latin typeface="Arial" pitchFamily="34" charset="0"/>
                <a:ea typeface="Arial" pitchFamily="34" charset="-122"/>
                <a:cs typeface="Arial" pitchFamily="34" charset="-120"/>
              </a:rPr>
              <a:t>FLOWERING PLANTS</a:t>
            </a:r>
            <a:endParaRPr lang="en-US" sz="6000" dirty="0"/>
          </a:p>
        </p:txBody>
      </p:sp>
      <p:sp>
        <p:nvSpPr>
          <p:cNvPr id="6" name="Text 3"/>
          <p:cNvSpPr/>
          <p:nvPr/>
        </p:nvSpPr>
        <p:spPr>
          <a:xfrm>
            <a:off x="774700" y="2821940"/>
            <a:ext cx="8229600" cy="1610360"/>
          </a:xfrm>
          <a:prstGeom prst="rect">
            <a:avLst/>
          </a:prstGeom>
          <a:noFill/>
          <a:ln/>
        </p:spPr>
        <p:txBody>
          <a:bodyPr wrap="square" lIns="0" tIns="0" rIns="0" bIns="0" rtlCol="0" anchor="ctr"/>
          <a:lstStyle/>
          <a:p>
            <a:pPr marL="0" indent="0" algn="ctr">
              <a:buNone/>
            </a:pPr>
            <a:r>
              <a:rPr lang="en-US" sz="3600" dirty="0">
                <a:solidFill>
                  <a:srgbClr val="74C69D"/>
                </a:solidFill>
                <a:latin typeface="Arial" pitchFamily="34" charset="0"/>
                <a:ea typeface="Arial" pitchFamily="34" charset="-122"/>
                <a:cs typeface="Arial" pitchFamily="34" charset="-120"/>
              </a:rPr>
              <a:t>Understanding Gymnosperms, Angiosperms,</a:t>
            </a:r>
            <a:endParaRPr lang="en-US" sz="3600" dirty="0"/>
          </a:p>
          <a:p>
            <a:pPr marL="0" indent="0" algn="ctr">
              <a:buNone/>
            </a:pPr>
            <a:r>
              <a:rPr lang="en-US" sz="3600" dirty="0">
                <a:solidFill>
                  <a:srgbClr val="74C69D"/>
                </a:solidFill>
                <a:latin typeface="Arial" pitchFamily="34" charset="0"/>
                <a:ea typeface="Arial" pitchFamily="34" charset="-122"/>
                <a:cs typeface="Arial" pitchFamily="34" charset="-120"/>
              </a:rPr>
              <a:t>Monocotyledons and Dicotyledons</a:t>
            </a:r>
            <a:endParaRPr lang="en-US" sz="3600" dirty="0"/>
          </a:p>
        </p:txBody>
      </p:sp>
      <p:sp>
        <p:nvSpPr>
          <p:cNvPr id="7" name="Shape 4"/>
          <p:cNvSpPr/>
          <p:nvPr/>
        </p:nvSpPr>
        <p:spPr>
          <a:xfrm>
            <a:off x="4889500" y="4572000"/>
            <a:ext cx="4572000" cy="640080"/>
          </a:xfrm>
          <a:prstGeom prst="roundRect">
            <a:avLst>
              <a:gd name="adj" fmla="val 21429"/>
            </a:avLst>
          </a:prstGeom>
          <a:solidFill>
            <a:srgbClr val="40916C"/>
          </a:solidFill>
          <a:ln/>
        </p:spPr>
      </p:sp>
      <p:sp>
        <p:nvSpPr>
          <p:cNvPr id="8" name="Text 5"/>
          <p:cNvSpPr/>
          <p:nvPr/>
        </p:nvSpPr>
        <p:spPr>
          <a:xfrm>
            <a:off x="5029200" y="4572000"/>
            <a:ext cx="4572000" cy="640080"/>
          </a:xfrm>
          <a:prstGeom prst="rect">
            <a:avLst/>
          </a:prstGeom>
          <a:noFill/>
          <a:ln/>
        </p:spPr>
        <p:txBody>
          <a:bodyPr wrap="square" lIns="0" tIns="0" rIns="0" bIns="0" rtlCol="0" anchor="ctr"/>
          <a:lstStyle/>
          <a:p>
            <a:pPr marL="0" indent="0" algn="ctr">
              <a:buNone/>
            </a:pPr>
            <a:r>
              <a:rPr lang="en-US" sz="4000" dirty="0">
                <a:solidFill>
                  <a:srgbClr val="FFFFFF"/>
                </a:solidFill>
                <a:latin typeface="Arial" pitchFamily="34" charset="0"/>
                <a:ea typeface="Arial" pitchFamily="34" charset="-122"/>
                <a:cs typeface="Arial" pitchFamily="34" charset="-120"/>
              </a:rPr>
              <a:t>Grade 6 Science  •</a:t>
            </a:r>
            <a:endParaRPr lang="en-US" sz="4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9F5"/>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B4332"/>
          </a:solidFill>
          <a:ln/>
        </p:spPr>
      </p:sp>
      <p:sp>
        <p:nvSpPr>
          <p:cNvPr id="3" name="Text 1"/>
          <p:cNvSpPr/>
          <p:nvPr/>
        </p:nvSpPr>
        <p:spPr>
          <a:xfrm>
            <a:off x="365760" y="137160"/>
            <a:ext cx="8229600" cy="457200"/>
          </a:xfrm>
          <a:prstGeom prst="rect">
            <a:avLst/>
          </a:prstGeom>
          <a:noFill/>
          <a:ln/>
        </p:spPr>
        <p:txBody>
          <a:bodyPr wrap="square" lIns="0" tIns="0" rIns="0" bIns="0" rtlCol="0" anchor="ctr"/>
          <a:lstStyle/>
          <a:p>
            <a:pPr marL="0" indent="0">
              <a:buNone/>
            </a:pPr>
            <a:r>
              <a:rPr lang="en-US" sz="2400" b="1" dirty="0">
                <a:solidFill>
                  <a:srgbClr val="FFFFFF"/>
                </a:solidFill>
                <a:latin typeface="Arial" pitchFamily="34" charset="0"/>
                <a:ea typeface="Arial" pitchFamily="34" charset="-122"/>
                <a:cs typeface="Arial" pitchFamily="34" charset="-120"/>
              </a:rPr>
              <a:t>Classification of Seed-Producing Plants</a:t>
            </a:r>
            <a:endParaRPr lang="en-US" sz="2400" dirty="0"/>
          </a:p>
        </p:txBody>
      </p:sp>
      <p:sp>
        <p:nvSpPr>
          <p:cNvPr id="4" name="Shape 2"/>
          <p:cNvSpPr/>
          <p:nvPr/>
        </p:nvSpPr>
        <p:spPr>
          <a:xfrm>
            <a:off x="2286000" y="914400"/>
            <a:ext cx="4572000" cy="640080"/>
          </a:xfrm>
          <a:prstGeom prst="roundRect">
            <a:avLst>
              <a:gd name="adj" fmla="val 14286"/>
            </a:avLst>
          </a:prstGeom>
          <a:solidFill>
            <a:srgbClr val="2D6A4F"/>
          </a:solidFill>
          <a:ln/>
          <a:effectLst>
            <a:outerShdw blurRad="101600" dist="38100" dir="8100000" algn="bl" rotWithShape="0">
              <a:srgbClr val="000000">
                <a:alpha val="12000"/>
              </a:srgbClr>
            </a:outerShdw>
          </a:effectLst>
        </p:spPr>
      </p:sp>
      <p:sp>
        <p:nvSpPr>
          <p:cNvPr id="5" name="Text 3"/>
          <p:cNvSpPr/>
          <p:nvPr/>
        </p:nvSpPr>
        <p:spPr>
          <a:xfrm>
            <a:off x="2286000" y="914400"/>
            <a:ext cx="4572000" cy="640080"/>
          </a:xfrm>
          <a:prstGeom prst="rect">
            <a:avLst/>
          </a:prstGeom>
          <a:noFill/>
          <a:ln/>
        </p:spPr>
        <p:txBody>
          <a:bodyPr wrap="square" lIns="0" tIns="0" rIns="0" bIns="0"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SEED-PRODUCING PLANTS</a:t>
            </a:r>
            <a:endParaRPr lang="en-US" sz="1600" dirty="0"/>
          </a:p>
          <a:p>
            <a:pPr marL="0" indent="0" algn="ctr">
              <a:buNone/>
            </a:pPr>
            <a:r>
              <a:rPr lang="en-US" sz="1600" b="1" dirty="0">
                <a:solidFill>
                  <a:srgbClr val="FFFFFF"/>
                </a:solidFill>
                <a:latin typeface="Arial" pitchFamily="34" charset="0"/>
                <a:ea typeface="Arial" pitchFamily="34" charset="-122"/>
                <a:cs typeface="Arial" pitchFamily="34" charset="-120"/>
              </a:rPr>
              <a:t>(Phanerogams)</a:t>
            </a:r>
            <a:endParaRPr lang="en-US" sz="1600" dirty="0"/>
          </a:p>
        </p:txBody>
      </p:sp>
      <p:pic>
        <p:nvPicPr>
          <p:cNvPr id="6" name="Image 0" descr="preencoded.png"/>
          <p:cNvPicPr>
            <a:picLocks noChangeAspect="1"/>
          </p:cNvPicPr>
          <p:nvPr/>
        </p:nvPicPr>
        <p:blipFill>
          <a:blip r:embed="rId3"/>
          <a:stretch>
            <a:fillRect/>
          </a:stretch>
        </p:blipFill>
        <p:spPr>
          <a:xfrm>
            <a:off x="4297680" y="1600200"/>
            <a:ext cx="365760" cy="320040"/>
          </a:xfrm>
          <a:prstGeom prst="rect">
            <a:avLst/>
          </a:prstGeom>
        </p:spPr>
      </p:pic>
      <p:sp>
        <p:nvSpPr>
          <p:cNvPr id="7" name="Shape 4"/>
          <p:cNvSpPr/>
          <p:nvPr/>
        </p:nvSpPr>
        <p:spPr>
          <a:xfrm>
            <a:off x="457200" y="2011680"/>
            <a:ext cx="3840480" cy="1005840"/>
          </a:xfrm>
          <a:prstGeom prst="roundRect">
            <a:avLst>
              <a:gd name="adj" fmla="val 9091"/>
            </a:avLst>
          </a:prstGeom>
          <a:solidFill>
            <a:srgbClr val="FEF3C7"/>
          </a:solidFill>
          <a:ln/>
          <a:effectLst>
            <a:outerShdw blurRad="101600" dist="38100" dir="8100000" algn="bl" rotWithShape="0">
              <a:srgbClr val="000000">
                <a:alpha val="12000"/>
              </a:srgbClr>
            </a:outerShdw>
          </a:effectLst>
        </p:spPr>
      </p:sp>
      <p:sp>
        <p:nvSpPr>
          <p:cNvPr id="8" name="Text 5"/>
          <p:cNvSpPr/>
          <p:nvPr/>
        </p:nvSpPr>
        <p:spPr>
          <a:xfrm>
            <a:off x="457200" y="2057400"/>
            <a:ext cx="3840480" cy="640080"/>
          </a:xfrm>
          <a:prstGeom prst="rect">
            <a:avLst/>
          </a:prstGeom>
          <a:noFill/>
          <a:ln/>
        </p:spPr>
        <p:txBody>
          <a:bodyPr wrap="square" lIns="0" tIns="0" rIns="0" bIns="0" rtlCol="0" anchor="ctr"/>
          <a:lstStyle/>
          <a:p>
            <a:pPr marL="0" indent="0" algn="ctr">
              <a:buNone/>
            </a:pPr>
            <a:r>
              <a:rPr lang="en-US" sz="1800" b="1" dirty="0">
                <a:solidFill>
                  <a:srgbClr val="1A1A1A"/>
                </a:solidFill>
                <a:latin typeface="Arial" pitchFamily="34" charset="0"/>
                <a:ea typeface="Arial" pitchFamily="34" charset="-122"/>
                <a:cs typeface="Arial" pitchFamily="34" charset="-120"/>
              </a:rPr>
              <a:t>GYMNOSPERMS</a:t>
            </a:r>
            <a:endParaRPr lang="en-US" sz="1800" dirty="0"/>
          </a:p>
          <a:p>
            <a:pPr marL="0" indent="0" algn="ctr">
              <a:buNone/>
            </a:pPr>
            <a:r>
              <a:rPr lang="en-US" sz="1800" b="1" dirty="0">
                <a:solidFill>
                  <a:srgbClr val="1A1A1A"/>
                </a:solidFill>
                <a:latin typeface="Arial" pitchFamily="34" charset="0"/>
                <a:ea typeface="Arial" pitchFamily="34" charset="-122"/>
                <a:cs typeface="Arial" pitchFamily="34" charset="-120"/>
              </a:rPr>
              <a:t>(Naked seeds)</a:t>
            </a:r>
            <a:endParaRPr lang="en-US" sz="1800" dirty="0"/>
          </a:p>
        </p:txBody>
      </p:sp>
      <p:sp>
        <p:nvSpPr>
          <p:cNvPr id="9" name="Text 6"/>
          <p:cNvSpPr/>
          <p:nvPr/>
        </p:nvSpPr>
        <p:spPr>
          <a:xfrm>
            <a:off x="457200" y="2651760"/>
            <a:ext cx="3840480" cy="274320"/>
          </a:xfrm>
          <a:prstGeom prst="rect">
            <a:avLst/>
          </a:prstGeom>
          <a:noFill/>
          <a:ln/>
        </p:spPr>
        <p:txBody>
          <a:bodyPr wrap="square" lIns="0" tIns="0" rIns="0" bIns="0" rtlCol="0" anchor="ctr"/>
          <a:lstStyle/>
          <a:p>
            <a:pPr marL="0" indent="0" algn="ctr">
              <a:buNone/>
            </a:pPr>
            <a:r>
              <a:rPr lang="en-US" sz="1400" dirty="0">
                <a:solidFill>
                  <a:srgbClr val="4A4A4A"/>
                </a:solidFill>
                <a:latin typeface="Arial" pitchFamily="34" charset="0"/>
                <a:ea typeface="Arial" pitchFamily="34" charset="-122"/>
                <a:cs typeface="Arial" pitchFamily="34" charset="-120"/>
              </a:rPr>
              <a:t>Example: Pine</a:t>
            </a:r>
            <a:endParaRPr lang="en-US" sz="1400" dirty="0"/>
          </a:p>
        </p:txBody>
      </p:sp>
      <p:sp>
        <p:nvSpPr>
          <p:cNvPr id="10" name="Shape 7"/>
          <p:cNvSpPr/>
          <p:nvPr/>
        </p:nvSpPr>
        <p:spPr>
          <a:xfrm>
            <a:off x="4846320" y="2011680"/>
            <a:ext cx="3840480" cy="1005840"/>
          </a:xfrm>
          <a:prstGeom prst="roundRect">
            <a:avLst>
              <a:gd name="adj" fmla="val 9091"/>
            </a:avLst>
          </a:prstGeom>
          <a:solidFill>
            <a:srgbClr val="D1FAE5"/>
          </a:solidFill>
          <a:ln/>
          <a:effectLst>
            <a:outerShdw blurRad="101600" dist="38100" dir="8100000" algn="bl" rotWithShape="0">
              <a:srgbClr val="000000">
                <a:alpha val="12000"/>
              </a:srgbClr>
            </a:outerShdw>
          </a:effectLst>
        </p:spPr>
      </p:sp>
      <p:sp>
        <p:nvSpPr>
          <p:cNvPr id="11" name="Text 8"/>
          <p:cNvSpPr/>
          <p:nvPr/>
        </p:nvSpPr>
        <p:spPr>
          <a:xfrm>
            <a:off x="4846320" y="2057400"/>
            <a:ext cx="3840480" cy="640080"/>
          </a:xfrm>
          <a:prstGeom prst="rect">
            <a:avLst/>
          </a:prstGeom>
          <a:noFill/>
          <a:ln/>
        </p:spPr>
        <p:txBody>
          <a:bodyPr wrap="square" lIns="0" tIns="0" rIns="0" bIns="0" rtlCol="0" anchor="ctr"/>
          <a:lstStyle/>
          <a:p>
            <a:pPr marL="0" indent="0" algn="ctr">
              <a:buNone/>
            </a:pPr>
            <a:r>
              <a:rPr lang="en-US" sz="1800" b="1" dirty="0">
                <a:solidFill>
                  <a:srgbClr val="1A1A1A"/>
                </a:solidFill>
                <a:latin typeface="Arial" pitchFamily="34" charset="0"/>
                <a:ea typeface="Arial" pitchFamily="34" charset="-122"/>
                <a:cs typeface="Arial" pitchFamily="34" charset="-120"/>
              </a:rPr>
              <a:t>ANGIOSPERMS</a:t>
            </a:r>
            <a:endParaRPr lang="en-US" sz="1800" dirty="0"/>
          </a:p>
          <a:p>
            <a:pPr marL="0" indent="0" algn="ctr">
              <a:buNone/>
            </a:pPr>
            <a:r>
              <a:rPr lang="en-US" sz="1800" b="1" dirty="0">
                <a:solidFill>
                  <a:srgbClr val="1A1A1A"/>
                </a:solidFill>
                <a:latin typeface="Arial" pitchFamily="34" charset="0"/>
                <a:ea typeface="Arial" pitchFamily="34" charset="-122"/>
                <a:cs typeface="Arial" pitchFamily="34" charset="-120"/>
              </a:rPr>
              <a:t>(Enclosed seeds)</a:t>
            </a:r>
            <a:endParaRPr lang="en-US" sz="1800" dirty="0"/>
          </a:p>
        </p:txBody>
      </p:sp>
      <p:sp>
        <p:nvSpPr>
          <p:cNvPr id="12" name="Text 9"/>
          <p:cNvSpPr/>
          <p:nvPr/>
        </p:nvSpPr>
        <p:spPr>
          <a:xfrm>
            <a:off x="4846320" y="2651760"/>
            <a:ext cx="3840480" cy="274320"/>
          </a:xfrm>
          <a:prstGeom prst="rect">
            <a:avLst/>
          </a:prstGeom>
          <a:noFill/>
          <a:ln/>
        </p:spPr>
        <p:txBody>
          <a:bodyPr wrap="square" lIns="0" tIns="0" rIns="0" bIns="0" rtlCol="0" anchor="ctr"/>
          <a:lstStyle/>
          <a:p>
            <a:pPr marL="0" indent="0" algn="ctr">
              <a:buNone/>
            </a:pPr>
            <a:r>
              <a:rPr lang="en-US" sz="1400" dirty="0">
                <a:solidFill>
                  <a:srgbClr val="4A4A4A"/>
                </a:solidFill>
                <a:latin typeface="Arial" pitchFamily="34" charset="0"/>
                <a:ea typeface="Arial" pitchFamily="34" charset="-122"/>
                <a:cs typeface="Arial" pitchFamily="34" charset="-120"/>
              </a:rPr>
              <a:t>Flowering plants</a:t>
            </a:r>
            <a:endParaRPr lang="en-US" sz="1400" dirty="0"/>
          </a:p>
        </p:txBody>
      </p:sp>
      <p:pic>
        <p:nvPicPr>
          <p:cNvPr id="13" name="Image 1" descr="preencoded.png"/>
          <p:cNvPicPr>
            <a:picLocks noChangeAspect="1"/>
          </p:cNvPicPr>
          <p:nvPr/>
        </p:nvPicPr>
        <p:blipFill>
          <a:blip r:embed="rId3"/>
          <a:stretch>
            <a:fillRect/>
          </a:stretch>
        </p:blipFill>
        <p:spPr>
          <a:xfrm>
            <a:off x="5266112" y="3202479"/>
            <a:ext cx="320040" cy="274320"/>
          </a:xfrm>
          <a:prstGeom prst="rect">
            <a:avLst/>
          </a:prstGeom>
        </p:spPr>
      </p:pic>
      <p:sp>
        <p:nvSpPr>
          <p:cNvPr id="14" name="Shape 10"/>
          <p:cNvSpPr/>
          <p:nvPr/>
        </p:nvSpPr>
        <p:spPr>
          <a:xfrm>
            <a:off x="4389120" y="3474720"/>
            <a:ext cx="2194560" cy="777240"/>
          </a:xfrm>
          <a:prstGeom prst="roundRect">
            <a:avLst>
              <a:gd name="adj" fmla="val 11765"/>
            </a:avLst>
          </a:prstGeom>
          <a:solidFill>
            <a:srgbClr val="E0F7F5"/>
          </a:solidFill>
          <a:ln/>
          <a:effectLst>
            <a:outerShdw blurRad="101600" dist="38100" dir="8100000" algn="bl" rotWithShape="0">
              <a:srgbClr val="000000">
                <a:alpha val="12000"/>
              </a:srgbClr>
            </a:outerShdw>
          </a:effectLst>
        </p:spPr>
      </p:sp>
      <p:sp>
        <p:nvSpPr>
          <p:cNvPr id="15" name="Text 11"/>
          <p:cNvSpPr/>
          <p:nvPr/>
        </p:nvSpPr>
        <p:spPr>
          <a:xfrm>
            <a:off x="4389120" y="3520440"/>
            <a:ext cx="2194560" cy="685800"/>
          </a:xfrm>
          <a:prstGeom prst="rect">
            <a:avLst/>
          </a:prstGeom>
          <a:noFill/>
          <a:ln/>
        </p:spPr>
        <p:txBody>
          <a:bodyPr wrap="square" lIns="0" tIns="0" rIns="0" bIns="0" rtlCol="0" anchor="ctr"/>
          <a:lstStyle/>
          <a:p>
            <a:pPr marL="0" indent="0" algn="ctr">
              <a:buNone/>
            </a:pPr>
            <a:r>
              <a:rPr lang="en-US" sz="1400" b="1" dirty="0">
                <a:solidFill>
                  <a:srgbClr val="1A1A1A"/>
                </a:solidFill>
                <a:latin typeface="Arial" pitchFamily="34" charset="0"/>
                <a:ea typeface="Arial" pitchFamily="34" charset="-122"/>
                <a:cs typeface="Arial" pitchFamily="34" charset="-120"/>
              </a:rPr>
              <a:t>MONOCOTS</a:t>
            </a:r>
            <a:endParaRPr lang="en-US" sz="1400" dirty="0"/>
          </a:p>
          <a:p>
            <a:pPr marL="0" indent="0" algn="ctr">
              <a:buNone/>
            </a:pPr>
            <a:r>
              <a:rPr lang="en-US" sz="1400" b="1" dirty="0">
                <a:solidFill>
                  <a:srgbClr val="1A1A1A"/>
                </a:solidFill>
                <a:latin typeface="Arial" pitchFamily="34" charset="0"/>
                <a:ea typeface="Arial" pitchFamily="34" charset="-122"/>
                <a:cs typeface="Arial" pitchFamily="34" charset="-120"/>
              </a:rPr>
              <a:t>One cotyledon</a:t>
            </a:r>
            <a:endParaRPr lang="en-US" sz="1400" dirty="0"/>
          </a:p>
        </p:txBody>
      </p:sp>
      <p:sp>
        <p:nvSpPr>
          <p:cNvPr id="16" name="Shape 12"/>
          <p:cNvSpPr/>
          <p:nvPr/>
        </p:nvSpPr>
        <p:spPr>
          <a:xfrm>
            <a:off x="6766560" y="3474720"/>
            <a:ext cx="2194560" cy="777240"/>
          </a:xfrm>
          <a:prstGeom prst="roundRect">
            <a:avLst>
              <a:gd name="adj" fmla="val 11765"/>
            </a:avLst>
          </a:prstGeom>
          <a:solidFill>
            <a:srgbClr val="FEF3C7"/>
          </a:solidFill>
          <a:ln/>
          <a:effectLst>
            <a:outerShdw blurRad="101600" dist="38100" dir="8100000" algn="bl" rotWithShape="0">
              <a:srgbClr val="000000">
                <a:alpha val="12000"/>
              </a:srgbClr>
            </a:outerShdw>
          </a:effectLst>
        </p:spPr>
      </p:sp>
      <p:sp>
        <p:nvSpPr>
          <p:cNvPr id="17" name="Text 13"/>
          <p:cNvSpPr/>
          <p:nvPr/>
        </p:nvSpPr>
        <p:spPr>
          <a:xfrm>
            <a:off x="6766560" y="3520440"/>
            <a:ext cx="2194560" cy="685800"/>
          </a:xfrm>
          <a:prstGeom prst="rect">
            <a:avLst/>
          </a:prstGeom>
          <a:noFill/>
          <a:ln/>
        </p:spPr>
        <p:txBody>
          <a:bodyPr wrap="square" lIns="0" tIns="0" rIns="0" bIns="0" rtlCol="0" anchor="ctr"/>
          <a:lstStyle/>
          <a:p>
            <a:pPr marL="0" indent="0" algn="ctr">
              <a:buNone/>
            </a:pPr>
            <a:r>
              <a:rPr lang="en-US" sz="1400" b="1" dirty="0">
                <a:solidFill>
                  <a:srgbClr val="1A1A1A"/>
                </a:solidFill>
                <a:latin typeface="Arial" pitchFamily="34" charset="0"/>
                <a:ea typeface="Arial" pitchFamily="34" charset="-122"/>
                <a:cs typeface="Arial" pitchFamily="34" charset="-120"/>
              </a:rPr>
              <a:t>DICOTS</a:t>
            </a:r>
            <a:endParaRPr lang="en-US" sz="1400" dirty="0"/>
          </a:p>
          <a:p>
            <a:pPr marL="0" indent="0" algn="ctr">
              <a:buNone/>
            </a:pPr>
            <a:r>
              <a:rPr lang="en-US" sz="1400" b="1" dirty="0">
                <a:solidFill>
                  <a:srgbClr val="1A1A1A"/>
                </a:solidFill>
                <a:latin typeface="Arial" pitchFamily="34" charset="0"/>
                <a:ea typeface="Arial" pitchFamily="34" charset="-122"/>
                <a:cs typeface="Arial" pitchFamily="34" charset="-120"/>
              </a:rPr>
              <a:t>Two cotyledons</a:t>
            </a:r>
            <a:endParaRPr lang="en-US" sz="1400" dirty="0"/>
          </a:p>
        </p:txBody>
      </p:sp>
      <p:sp>
        <p:nvSpPr>
          <p:cNvPr id="18" name="Shape 14"/>
          <p:cNvSpPr/>
          <p:nvPr/>
        </p:nvSpPr>
        <p:spPr>
          <a:xfrm>
            <a:off x="457200" y="4434840"/>
            <a:ext cx="8229600" cy="548640"/>
          </a:xfrm>
          <a:prstGeom prst="roundRect">
            <a:avLst>
              <a:gd name="adj" fmla="val 16667"/>
            </a:avLst>
          </a:prstGeom>
          <a:solidFill>
            <a:srgbClr val="1B4332"/>
          </a:solidFill>
          <a:ln/>
        </p:spPr>
      </p:sp>
      <p:sp>
        <p:nvSpPr>
          <p:cNvPr id="19" name="Text 15"/>
          <p:cNvSpPr/>
          <p:nvPr/>
        </p:nvSpPr>
        <p:spPr>
          <a:xfrm>
            <a:off x="640080" y="4434840"/>
            <a:ext cx="7863840" cy="548640"/>
          </a:xfrm>
          <a:prstGeom prst="rect">
            <a:avLst/>
          </a:prstGeom>
          <a:noFill/>
          <a:ln/>
        </p:spPr>
        <p:txBody>
          <a:bodyPr wrap="square" lIns="0" tIns="0" rIns="0" bIns="0" rtlCol="0" anchor="ctr"/>
          <a:lstStyle/>
          <a:p>
            <a:pPr marL="0" indent="0" algn="ctr">
              <a:buNone/>
            </a:pPr>
            <a:r>
              <a:rPr lang="en-US" sz="1500" dirty="0">
                <a:solidFill>
                  <a:srgbClr val="FFFFFF"/>
                </a:solidFill>
                <a:latin typeface="Arial" pitchFamily="34" charset="0"/>
                <a:ea typeface="Arial" pitchFamily="34" charset="-122"/>
                <a:cs typeface="Arial" pitchFamily="34" charset="-120"/>
              </a:rPr>
              <a:t>❓ Can you predict the two main groups of seed-producing plants?</a:t>
            </a:r>
            <a:endParaRPr lang="en-US" sz="1500" dirty="0"/>
          </a:p>
        </p:txBody>
      </p:sp>
      <p:pic>
        <p:nvPicPr>
          <p:cNvPr id="21" name="Image 1" descr="preencoded.png">
            <a:extLst>
              <a:ext uri="{FF2B5EF4-FFF2-40B4-BE49-F238E27FC236}">
                <a16:creationId xmlns:a16="http://schemas.microsoft.com/office/drawing/2014/main" id="{9514F710-88FE-4D3A-5B42-652CE3910C21}"/>
              </a:ext>
            </a:extLst>
          </p:cNvPr>
          <p:cNvPicPr>
            <a:picLocks noChangeAspect="1"/>
          </p:cNvPicPr>
          <p:nvPr/>
        </p:nvPicPr>
        <p:blipFill>
          <a:blip r:embed="rId3"/>
          <a:stretch>
            <a:fillRect/>
          </a:stretch>
        </p:blipFill>
        <p:spPr>
          <a:xfrm>
            <a:off x="7662952" y="3219796"/>
            <a:ext cx="320040" cy="274320"/>
          </a:xfrm>
          <a:prstGeom prst="rect">
            <a:avLst/>
          </a:prstGeom>
        </p:spPr>
      </p:pic>
      <p:pic>
        <p:nvPicPr>
          <p:cNvPr id="23" name="Image 0" descr="preencoded.png">
            <a:extLst>
              <a:ext uri="{FF2B5EF4-FFF2-40B4-BE49-F238E27FC236}">
                <a16:creationId xmlns:a16="http://schemas.microsoft.com/office/drawing/2014/main" id="{CD1A06AA-CB03-4B9E-8A39-C15CA6F5FBF6}"/>
              </a:ext>
            </a:extLst>
          </p:cNvPr>
          <p:cNvPicPr>
            <a:picLocks noChangeAspect="1"/>
          </p:cNvPicPr>
          <p:nvPr/>
        </p:nvPicPr>
        <p:blipFill>
          <a:blip r:embed="rId3"/>
          <a:stretch>
            <a:fillRect/>
          </a:stretch>
        </p:blipFill>
        <p:spPr>
          <a:xfrm>
            <a:off x="6400800" y="2926080"/>
            <a:ext cx="365760" cy="320040"/>
          </a:xfrm>
          <a:prstGeom prst="rect">
            <a:avLst/>
          </a:prstGeom>
        </p:spPr>
      </p:pic>
      <p:cxnSp>
        <p:nvCxnSpPr>
          <p:cNvPr id="25" name="Straight Connector 24">
            <a:extLst>
              <a:ext uri="{FF2B5EF4-FFF2-40B4-BE49-F238E27FC236}">
                <a16:creationId xmlns:a16="http://schemas.microsoft.com/office/drawing/2014/main" id="{E3254B73-E4C5-16D5-7CF8-5F2E56E070FE}"/>
              </a:ext>
            </a:extLst>
          </p:cNvPr>
          <p:cNvCxnSpPr>
            <a:stCxn id="13" idx="0"/>
            <a:endCxn id="21" idx="0"/>
          </p:cNvCxnSpPr>
          <p:nvPr/>
        </p:nvCxnSpPr>
        <p:spPr>
          <a:xfrm>
            <a:off x="5426132" y="3202479"/>
            <a:ext cx="2396840" cy="17317"/>
          </a:xfrm>
          <a:prstGeom prst="line">
            <a:avLst/>
          </a:prstGeom>
          <a:ln>
            <a:solidFill>
              <a:schemeClr val="accent1"/>
            </a:solidFill>
          </a:ln>
        </p:spPr>
        <p:style>
          <a:lnRef idx="3">
            <a:schemeClr val="accent6"/>
          </a:lnRef>
          <a:fillRef idx="0">
            <a:schemeClr val="accent6"/>
          </a:fillRef>
          <a:effectRef idx="2">
            <a:schemeClr val="accent6"/>
          </a:effectRef>
          <a:fontRef idx="minor">
            <a:schemeClr val="tx1"/>
          </a:fontRef>
        </p:style>
      </p:cxn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9F5"/>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B4332"/>
          </a:solidFill>
          <a:ln/>
        </p:spPr>
      </p:sp>
      <p:sp>
        <p:nvSpPr>
          <p:cNvPr id="3" name="Text 1"/>
          <p:cNvSpPr/>
          <p:nvPr/>
        </p:nvSpPr>
        <p:spPr>
          <a:xfrm>
            <a:off x="365760" y="137160"/>
            <a:ext cx="8229600" cy="457200"/>
          </a:xfrm>
          <a:prstGeom prst="rect">
            <a:avLst/>
          </a:prstGeom>
          <a:noFill/>
          <a:ln/>
        </p:spPr>
        <p:txBody>
          <a:bodyPr wrap="square" lIns="0" tIns="0" rIns="0" bIns="0" rtlCol="0" anchor="ctr"/>
          <a:lstStyle/>
          <a:p>
            <a:pPr marL="0" indent="0">
              <a:buNone/>
            </a:pPr>
            <a:r>
              <a:rPr lang="en-US" sz="2600" b="1" dirty="0">
                <a:solidFill>
                  <a:srgbClr val="FFFFFF"/>
                </a:solidFill>
                <a:latin typeface="Arial" pitchFamily="34" charset="0"/>
                <a:ea typeface="Arial" pitchFamily="34" charset="-122"/>
                <a:cs typeface="Arial" pitchFamily="34" charset="-120"/>
              </a:rPr>
              <a:t>What are Gymnosperms?</a:t>
            </a:r>
            <a:endParaRPr lang="en-US" sz="2600" dirty="0"/>
          </a:p>
        </p:txBody>
      </p:sp>
      <p:sp>
        <p:nvSpPr>
          <p:cNvPr id="4" name="Shape 2"/>
          <p:cNvSpPr/>
          <p:nvPr/>
        </p:nvSpPr>
        <p:spPr>
          <a:xfrm>
            <a:off x="365760" y="960120"/>
            <a:ext cx="8412480" cy="1188720"/>
          </a:xfrm>
          <a:prstGeom prst="roundRect">
            <a:avLst>
              <a:gd name="adj" fmla="val 9231"/>
            </a:avLst>
          </a:prstGeom>
          <a:solidFill>
            <a:srgbClr val="FFFFFF"/>
          </a:solidFill>
          <a:ln/>
          <a:effectLst>
            <a:outerShdw blurRad="101600" dist="38100" dir="8100000" algn="bl" rotWithShape="0">
              <a:srgbClr val="000000">
                <a:alpha val="12000"/>
              </a:srgbClr>
            </a:outerShdw>
          </a:effectLst>
        </p:spPr>
      </p:sp>
      <p:sp>
        <p:nvSpPr>
          <p:cNvPr id="5" name="Text 3"/>
          <p:cNvSpPr/>
          <p:nvPr/>
        </p:nvSpPr>
        <p:spPr>
          <a:xfrm>
            <a:off x="548640" y="1097280"/>
            <a:ext cx="8046720" cy="914400"/>
          </a:xfrm>
          <a:prstGeom prst="rect">
            <a:avLst/>
          </a:prstGeom>
          <a:noFill/>
          <a:ln/>
        </p:spPr>
        <p:txBody>
          <a:bodyPr wrap="square" lIns="0" tIns="0" rIns="0" bIns="0" rtlCol="0" anchor="ctr"/>
          <a:lstStyle/>
          <a:p>
            <a:pPr marL="0" indent="0" algn="ctr">
              <a:buNone/>
            </a:pPr>
            <a:r>
              <a:rPr lang="en-US" sz="1800" dirty="0">
                <a:solidFill>
                  <a:srgbClr val="1A1A1A"/>
                </a:solidFill>
                <a:latin typeface="Arial" pitchFamily="34" charset="0"/>
                <a:ea typeface="Arial" pitchFamily="34" charset="-122"/>
                <a:cs typeface="Arial" pitchFamily="34" charset="-120"/>
              </a:rPr>
              <a:t>Gymnosperms are seed-producing plants whose seeds are not enclosed inside a fruit.</a:t>
            </a:r>
            <a:endParaRPr lang="en-US" sz="1800" dirty="0"/>
          </a:p>
          <a:p>
            <a:pPr marL="0" indent="0" algn="ctr">
              <a:buNone/>
            </a:pPr>
            <a:r>
              <a:rPr lang="en-US" sz="1800" dirty="0">
                <a:solidFill>
                  <a:srgbClr val="1A1A1A"/>
                </a:solidFill>
                <a:latin typeface="Arial" pitchFamily="34" charset="0"/>
                <a:ea typeface="Arial" pitchFamily="34" charset="-122"/>
                <a:cs typeface="Arial" pitchFamily="34" charset="-120"/>
              </a:rPr>
              <a:t>Their seeds are called naked seeds.</a:t>
            </a:r>
            <a:endParaRPr lang="en-US" sz="1800" dirty="0"/>
          </a:p>
        </p:txBody>
      </p:sp>
      <p:sp>
        <p:nvSpPr>
          <p:cNvPr id="6" name="Shape 4"/>
          <p:cNvSpPr/>
          <p:nvPr/>
        </p:nvSpPr>
        <p:spPr>
          <a:xfrm>
            <a:off x="457200" y="2377440"/>
            <a:ext cx="2743200" cy="2194560"/>
          </a:xfrm>
          <a:prstGeom prst="roundRect">
            <a:avLst>
              <a:gd name="adj" fmla="val 5000"/>
            </a:avLst>
          </a:prstGeom>
          <a:solidFill>
            <a:srgbClr val="FFFFFF"/>
          </a:solidFill>
          <a:ln/>
          <a:effectLst>
            <a:outerShdw blurRad="101600" dist="38100" dir="8100000" algn="bl" rotWithShape="0">
              <a:srgbClr val="000000">
                <a:alpha val="12000"/>
              </a:srgbClr>
            </a:outerShdw>
          </a:effectLst>
        </p:spPr>
      </p:sp>
      <p:sp>
        <p:nvSpPr>
          <p:cNvPr id="7" name="Shape 5"/>
          <p:cNvSpPr/>
          <p:nvPr/>
        </p:nvSpPr>
        <p:spPr>
          <a:xfrm>
            <a:off x="1280160" y="2606040"/>
            <a:ext cx="1097280" cy="1097280"/>
          </a:xfrm>
          <a:prstGeom prst="ellipse">
            <a:avLst/>
          </a:prstGeom>
          <a:solidFill>
            <a:srgbClr val="D8F3DC"/>
          </a:solidFill>
          <a:ln/>
        </p:spPr>
      </p:sp>
      <p:pic>
        <p:nvPicPr>
          <p:cNvPr id="8" name="Image 0" descr="preencoded.png"/>
          <p:cNvPicPr>
            <a:picLocks noChangeAspect="1"/>
          </p:cNvPicPr>
          <p:nvPr/>
        </p:nvPicPr>
        <p:blipFill>
          <a:blip r:embed="rId3"/>
          <a:stretch>
            <a:fillRect/>
          </a:stretch>
        </p:blipFill>
        <p:spPr>
          <a:xfrm>
            <a:off x="1463040" y="2788920"/>
            <a:ext cx="731520" cy="731520"/>
          </a:xfrm>
          <a:prstGeom prst="rect">
            <a:avLst/>
          </a:prstGeom>
        </p:spPr>
      </p:pic>
      <p:sp>
        <p:nvSpPr>
          <p:cNvPr id="9" name="Text 6"/>
          <p:cNvSpPr/>
          <p:nvPr/>
        </p:nvSpPr>
        <p:spPr>
          <a:xfrm>
            <a:off x="548640" y="3840480"/>
            <a:ext cx="2560320" cy="320040"/>
          </a:xfrm>
          <a:prstGeom prst="rect">
            <a:avLst/>
          </a:prstGeom>
          <a:noFill/>
          <a:ln/>
        </p:spPr>
        <p:txBody>
          <a:bodyPr wrap="square" lIns="0" tIns="0" rIns="0" bIns="0" rtlCol="0" anchor="ctr"/>
          <a:lstStyle/>
          <a:p>
            <a:pPr marL="0" indent="0" algn="ctr">
              <a:buNone/>
            </a:pPr>
            <a:endParaRPr lang="en-US" sz="1500" dirty="0"/>
          </a:p>
        </p:txBody>
      </p:sp>
      <p:sp>
        <p:nvSpPr>
          <p:cNvPr id="10" name="Text 7"/>
          <p:cNvSpPr/>
          <p:nvPr/>
        </p:nvSpPr>
        <p:spPr>
          <a:xfrm>
            <a:off x="527840" y="4798522"/>
            <a:ext cx="2560320" cy="274320"/>
          </a:xfrm>
          <a:prstGeom prst="rect">
            <a:avLst/>
          </a:prstGeom>
          <a:noFill/>
          <a:ln/>
        </p:spPr>
        <p:txBody>
          <a:bodyPr wrap="square" lIns="0" tIns="0" rIns="0" bIns="0" rtlCol="0" anchor="ctr"/>
          <a:lstStyle/>
          <a:p>
            <a:pPr marL="0" indent="0" algn="ctr">
              <a:buNone/>
            </a:pPr>
            <a:r>
              <a:rPr lang="en-US" sz="1300" dirty="0">
                <a:solidFill>
                  <a:srgbClr val="4A4A4A"/>
                </a:solidFill>
                <a:latin typeface="Arial" pitchFamily="34" charset="0"/>
                <a:ea typeface="Arial" pitchFamily="34" charset="-122"/>
                <a:cs typeface="Arial" pitchFamily="34" charset="-120"/>
              </a:rPr>
              <a:t>A classic example</a:t>
            </a:r>
            <a:endParaRPr lang="en-US" sz="1300" dirty="0"/>
          </a:p>
        </p:txBody>
      </p:sp>
      <p:sp>
        <p:nvSpPr>
          <p:cNvPr id="11" name="Shape 8"/>
          <p:cNvSpPr/>
          <p:nvPr/>
        </p:nvSpPr>
        <p:spPr>
          <a:xfrm>
            <a:off x="3337560" y="2377440"/>
            <a:ext cx="2743200" cy="2194560"/>
          </a:xfrm>
          <a:prstGeom prst="roundRect">
            <a:avLst>
              <a:gd name="adj" fmla="val 5000"/>
            </a:avLst>
          </a:prstGeom>
          <a:solidFill>
            <a:srgbClr val="FFFFFF"/>
          </a:solidFill>
          <a:ln/>
          <a:effectLst>
            <a:outerShdw blurRad="101600" dist="38100" dir="8100000" algn="bl" rotWithShape="0">
              <a:srgbClr val="000000">
                <a:alpha val="12000"/>
              </a:srgbClr>
            </a:outerShdw>
          </a:effectLst>
        </p:spPr>
      </p:sp>
      <p:sp>
        <p:nvSpPr>
          <p:cNvPr id="12" name="Shape 9"/>
          <p:cNvSpPr/>
          <p:nvPr/>
        </p:nvSpPr>
        <p:spPr>
          <a:xfrm>
            <a:off x="4160520" y="2606040"/>
            <a:ext cx="1097280" cy="1097280"/>
          </a:xfrm>
          <a:prstGeom prst="ellipse">
            <a:avLst/>
          </a:prstGeom>
          <a:solidFill>
            <a:srgbClr val="D8F3DC"/>
          </a:solidFill>
          <a:ln/>
        </p:spPr>
      </p:sp>
      <p:pic>
        <p:nvPicPr>
          <p:cNvPr id="13" name="Image 1" descr="preencoded.png"/>
          <p:cNvPicPr>
            <a:picLocks noChangeAspect="1"/>
          </p:cNvPicPr>
          <p:nvPr/>
        </p:nvPicPr>
        <p:blipFill>
          <a:blip r:embed="rId4"/>
          <a:stretch>
            <a:fillRect/>
          </a:stretch>
        </p:blipFill>
        <p:spPr>
          <a:xfrm>
            <a:off x="4343400" y="2788920"/>
            <a:ext cx="731520" cy="731520"/>
          </a:xfrm>
          <a:prstGeom prst="rect">
            <a:avLst/>
          </a:prstGeom>
        </p:spPr>
      </p:pic>
      <p:sp>
        <p:nvSpPr>
          <p:cNvPr id="14" name="Text 10"/>
          <p:cNvSpPr/>
          <p:nvPr/>
        </p:nvSpPr>
        <p:spPr>
          <a:xfrm>
            <a:off x="3350029" y="4540828"/>
            <a:ext cx="2560320" cy="320040"/>
          </a:xfrm>
          <a:prstGeom prst="rect">
            <a:avLst/>
          </a:prstGeom>
          <a:noFill/>
          <a:ln/>
        </p:spPr>
        <p:txBody>
          <a:bodyPr wrap="square" lIns="0" tIns="0" rIns="0" bIns="0" rtlCol="0" anchor="ctr"/>
          <a:lstStyle/>
          <a:p>
            <a:pPr marL="0" indent="0" algn="ctr">
              <a:buNone/>
            </a:pPr>
            <a:r>
              <a:rPr lang="en-US" sz="1500" b="1" dirty="0">
                <a:solidFill>
                  <a:srgbClr val="1B4332"/>
                </a:solidFill>
                <a:latin typeface="Arial" pitchFamily="34" charset="0"/>
                <a:ea typeface="Arial" pitchFamily="34" charset="-122"/>
                <a:cs typeface="Arial" pitchFamily="34" charset="-120"/>
              </a:rPr>
              <a:t>Naked Seed</a:t>
            </a:r>
            <a:endParaRPr lang="en-US" sz="1500" dirty="0"/>
          </a:p>
        </p:txBody>
      </p:sp>
      <p:sp>
        <p:nvSpPr>
          <p:cNvPr id="15" name="Text 11"/>
          <p:cNvSpPr/>
          <p:nvPr/>
        </p:nvSpPr>
        <p:spPr>
          <a:xfrm>
            <a:off x="3362498" y="4798522"/>
            <a:ext cx="2560320" cy="274320"/>
          </a:xfrm>
          <a:prstGeom prst="rect">
            <a:avLst/>
          </a:prstGeom>
          <a:noFill/>
          <a:ln/>
        </p:spPr>
        <p:txBody>
          <a:bodyPr wrap="square" lIns="0" tIns="0" rIns="0" bIns="0" rtlCol="0" anchor="ctr"/>
          <a:lstStyle/>
          <a:p>
            <a:pPr marL="0" indent="0" algn="ctr">
              <a:buNone/>
            </a:pPr>
            <a:r>
              <a:rPr lang="en-US" sz="1300" dirty="0">
                <a:solidFill>
                  <a:srgbClr val="4A4A4A"/>
                </a:solidFill>
                <a:latin typeface="Arial" pitchFamily="34" charset="0"/>
                <a:ea typeface="Arial" pitchFamily="34" charset="-122"/>
                <a:cs typeface="Arial" pitchFamily="34" charset="-120"/>
              </a:rPr>
              <a:t>Not inside a fruit</a:t>
            </a:r>
            <a:endParaRPr lang="en-US" sz="1300" dirty="0"/>
          </a:p>
        </p:txBody>
      </p:sp>
      <p:sp>
        <p:nvSpPr>
          <p:cNvPr id="16" name="Shape 12"/>
          <p:cNvSpPr/>
          <p:nvPr/>
        </p:nvSpPr>
        <p:spPr>
          <a:xfrm>
            <a:off x="6217920" y="2377440"/>
            <a:ext cx="2743200" cy="2194560"/>
          </a:xfrm>
          <a:prstGeom prst="roundRect">
            <a:avLst>
              <a:gd name="adj" fmla="val 5000"/>
            </a:avLst>
          </a:prstGeom>
          <a:solidFill>
            <a:srgbClr val="FFFFFF"/>
          </a:solidFill>
          <a:ln/>
          <a:effectLst>
            <a:outerShdw blurRad="101600" dist="38100" dir="8100000" algn="bl" rotWithShape="0">
              <a:srgbClr val="000000">
                <a:alpha val="12000"/>
              </a:srgbClr>
            </a:outerShdw>
          </a:effectLst>
        </p:spPr>
      </p:sp>
      <p:sp>
        <p:nvSpPr>
          <p:cNvPr id="17" name="Shape 13"/>
          <p:cNvSpPr/>
          <p:nvPr/>
        </p:nvSpPr>
        <p:spPr>
          <a:xfrm>
            <a:off x="7040880" y="2606040"/>
            <a:ext cx="1097280" cy="1097280"/>
          </a:xfrm>
          <a:prstGeom prst="ellipse">
            <a:avLst/>
          </a:prstGeom>
          <a:solidFill>
            <a:srgbClr val="D8F3DC"/>
          </a:solidFill>
          <a:ln/>
        </p:spPr>
      </p:sp>
      <p:pic>
        <p:nvPicPr>
          <p:cNvPr id="18" name="Image 2" descr="preencoded.png"/>
          <p:cNvPicPr>
            <a:picLocks noChangeAspect="1"/>
          </p:cNvPicPr>
          <p:nvPr/>
        </p:nvPicPr>
        <p:blipFill>
          <a:blip r:embed="rId5"/>
          <a:stretch>
            <a:fillRect/>
          </a:stretch>
        </p:blipFill>
        <p:spPr>
          <a:xfrm>
            <a:off x="7223760" y="2788920"/>
            <a:ext cx="731520" cy="731520"/>
          </a:xfrm>
          <a:prstGeom prst="rect">
            <a:avLst/>
          </a:prstGeom>
        </p:spPr>
      </p:pic>
      <p:sp>
        <p:nvSpPr>
          <p:cNvPr id="19" name="Text 14"/>
          <p:cNvSpPr/>
          <p:nvPr/>
        </p:nvSpPr>
        <p:spPr>
          <a:xfrm>
            <a:off x="6286500" y="4615642"/>
            <a:ext cx="2560320" cy="320040"/>
          </a:xfrm>
          <a:prstGeom prst="rect">
            <a:avLst/>
          </a:prstGeom>
          <a:noFill/>
          <a:ln/>
        </p:spPr>
        <p:txBody>
          <a:bodyPr wrap="square" lIns="0" tIns="0" rIns="0" bIns="0" rtlCol="0" anchor="ctr"/>
          <a:lstStyle/>
          <a:p>
            <a:pPr marL="0" indent="0" algn="ctr">
              <a:buNone/>
            </a:pPr>
            <a:r>
              <a:rPr lang="en-US" sz="1500" b="1" dirty="0">
                <a:solidFill>
                  <a:srgbClr val="1B4332"/>
                </a:solidFill>
                <a:latin typeface="Arial" pitchFamily="34" charset="0"/>
                <a:ea typeface="Arial" pitchFamily="34" charset="-122"/>
                <a:cs typeface="Arial" pitchFamily="34" charset="-120"/>
              </a:rPr>
              <a:t>Needle-like leaves</a:t>
            </a:r>
            <a:endParaRPr lang="en-US" sz="1500" dirty="0"/>
          </a:p>
        </p:txBody>
      </p:sp>
      <p:sp>
        <p:nvSpPr>
          <p:cNvPr id="20" name="Text 15"/>
          <p:cNvSpPr/>
          <p:nvPr/>
        </p:nvSpPr>
        <p:spPr>
          <a:xfrm>
            <a:off x="6309360" y="4798522"/>
            <a:ext cx="2560320" cy="274320"/>
          </a:xfrm>
          <a:prstGeom prst="rect">
            <a:avLst/>
          </a:prstGeom>
          <a:noFill/>
          <a:ln/>
        </p:spPr>
        <p:txBody>
          <a:bodyPr wrap="square" lIns="0" tIns="0" rIns="0" bIns="0" rtlCol="0" anchor="ctr"/>
          <a:lstStyle/>
          <a:p>
            <a:pPr marL="0" indent="0" algn="ctr">
              <a:buNone/>
            </a:pPr>
            <a:r>
              <a:rPr lang="en-US" sz="1300" dirty="0">
                <a:solidFill>
                  <a:srgbClr val="4A4A4A"/>
                </a:solidFill>
                <a:latin typeface="Arial" pitchFamily="34" charset="0"/>
                <a:ea typeface="Arial" pitchFamily="34" charset="-122"/>
                <a:cs typeface="Arial" pitchFamily="34" charset="-120"/>
              </a:rPr>
              <a:t>Usually thin needles</a:t>
            </a:r>
            <a:endParaRPr lang="en-US" sz="1300" dirty="0"/>
          </a:p>
        </p:txBody>
      </p:sp>
      <p:pic>
        <p:nvPicPr>
          <p:cNvPr id="21" name="Picture 20" descr="Gymnosperm - Wikipedia">
            <a:extLst>
              <a:ext uri="{FF2B5EF4-FFF2-40B4-BE49-F238E27FC236}">
                <a16:creationId xmlns:a16="http://schemas.microsoft.com/office/drawing/2014/main" id="{722A663F-D4B3-596B-3B98-B8EA6DD9A683}"/>
              </a:ext>
            </a:extLst>
          </p:cNvPr>
          <p:cNvPicPr>
            <a:picLocks noChangeAspect="1"/>
          </p:cNvPicPr>
          <p:nvPr/>
        </p:nvPicPr>
        <p:blipFill>
          <a:blip r:embed="rId6"/>
          <a:stretch>
            <a:fillRect/>
          </a:stretch>
        </p:blipFill>
        <p:spPr>
          <a:xfrm>
            <a:off x="261816" y="2304707"/>
            <a:ext cx="3046649" cy="2310938"/>
          </a:xfrm>
          <a:prstGeom prst="rect">
            <a:avLst/>
          </a:prstGeom>
        </p:spPr>
      </p:pic>
      <p:pic>
        <p:nvPicPr>
          <p:cNvPr id="22" name="Picture 21" descr="Life Cycle of Pine Tree: reproduction of gymnosperms">
            <a:extLst>
              <a:ext uri="{FF2B5EF4-FFF2-40B4-BE49-F238E27FC236}">
                <a16:creationId xmlns:a16="http://schemas.microsoft.com/office/drawing/2014/main" id="{ADD06822-1F64-821C-E257-297C3EACC966}"/>
              </a:ext>
            </a:extLst>
          </p:cNvPr>
          <p:cNvPicPr>
            <a:picLocks noChangeAspect="1"/>
          </p:cNvPicPr>
          <p:nvPr/>
        </p:nvPicPr>
        <p:blipFill>
          <a:blip r:embed="rId7"/>
          <a:stretch>
            <a:fillRect/>
          </a:stretch>
        </p:blipFill>
        <p:spPr>
          <a:xfrm>
            <a:off x="3445625" y="2148840"/>
            <a:ext cx="2547851" cy="2366217"/>
          </a:xfrm>
          <a:prstGeom prst="rect">
            <a:avLst/>
          </a:prstGeom>
        </p:spPr>
      </p:pic>
      <p:pic>
        <p:nvPicPr>
          <p:cNvPr id="24" name="Picture 23">
            <a:extLst>
              <a:ext uri="{FF2B5EF4-FFF2-40B4-BE49-F238E27FC236}">
                <a16:creationId xmlns:a16="http://schemas.microsoft.com/office/drawing/2014/main" id="{57AF7EDF-C85A-87F8-EAE4-159A3805A908}"/>
              </a:ext>
            </a:extLst>
          </p:cNvPr>
          <p:cNvPicPr>
            <a:picLocks noChangeAspect="1"/>
          </p:cNvPicPr>
          <p:nvPr/>
        </p:nvPicPr>
        <p:blipFill>
          <a:blip r:embed="rId8"/>
          <a:stretch>
            <a:fillRect/>
          </a:stretch>
        </p:blipFill>
        <p:spPr>
          <a:xfrm>
            <a:off x="6286500" y="2304707"/>
            <a:ext cx="2697480" cy="212399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0">
            <a:extLst>
              <a:ext uri="{FF2B5EF4-FFF2-40B4-BE49-F238E27FC236}">
                <a16:creationId xmlns:a16="http://schemas.microsoft.com/office/drawing/2014/main" id="{5A40DFE9-F49D-AE93-3C3F-8F5899DD6856}"/>
              </a:ext>
            </a:extLst>
          </p:cNvPr>
          <p:cNvSpPr/>
          <p:nvPr/>
        </p:nvSpPr>
        <p:spPr>
          <a:xfrm>
            <a:off x="0" y="0"/>
            <a:ext cx="9144000" cy="731520"/>
          </a:xfrm>
          <a:prstGeom prst="rect">
            <a:avLst/>
          </a:prstGeom>
          <a:solidFill>
            <a:srgbClr val="1B4332"/>
          </a:solidFill>
          <a:ln/>
        </p:spPr>
      </p:sp>
      <p:sp>
        <p:nvSpPr>
          <p:cNvPr id="5" name="Text 1">
            <a:extLst>
              <a:ext uri="{FF2B5EF4-FFF2-40B4-BE49-F238E27FC236}">
                <a16:creationId xmlns:a16="http://schemas.microsoft.com/office/drawing/2014/main" id="{96F1156C-E006-46F1-7431-68AABCD821DD}"/>
              </a:ext>
            </a:extLst>
          </p:cNvPr>
          <p:cNvSpPr/>
          <p:nvPr/>
        </p:nvSpPr>
        <p:spPr>
          <a:xfrm>
            <a:off x="365760" y="137160"/>
            <a:ext cx="8229600" cy="457200"/>
          </a:xfrm>
          <a:prstGeom prst="rect">
            <a:avLst/>
          </a:prstGeom>
          <a:noFill/>
          <a:ln/>
        </p:spPr>
        <p:txBody>
          <a:bodyPr wrap="square" lIns="0" tIns="0" rIns="0" bIns="0" rtlCol="0" anchor="ctr"/>
          <a:lstStyle/>
          <a:p>
            <a:pPr marL="0" indent="0">
              <a:buNone/>
            </a:pPr>
            <a:r>
              <a:rPr lang="en-US" sz="2600" b="1" dirty="0">
                <a:solidFill>
                  <a:srgbClr val="FFFFFF"/>
                </a:solidFill>
                <a:latin typeface="Arial" pitchFamily="34" charset="0"/>
                <a:ea typeface="Arial" pitchFamily="34" charset="-122"/>
                <a:cs typeface="Arial" pitchFamily="34" charset="-120"/>
              </a:rPr>
              <a:t>Lets see Gymnosperms?</a:t>
            </a:r>
            <a:endParaRPr lang="en-US" sz="2600" dirty="0"/>
          </a:p>
        </p:txBody>
      </p:sp>
      <p:sp>
        <p:nvSpPr>
          <p:cNvPr id="9" name="Text 3">
            <a:extLst>
              <a:ext uri="{FF2B5EF4-FFF2-40B4-BE49-F238E27FC236}">
                <a16:creationId xmlns:a16="http://schemas.microsoft.com/office/drawing/2014/main" id="{46A1F97D-4BC2-D45D-8F9A-57441A8EE98A}"/>
              </a:ext>
            </a:extLst>
          </p:cNvPr>
          <p:cNvSpPr/>
          <p:nvPr/>
        </p:nvSpPr>
        <p:spPr>
          <a:xfrm>
            <a:off x="548640" y="1097280"/>
            <a:ext cx="8046720" cy="914400"/>
          </a:xfrm>
          <a:prstGeom prst="rect">
            <a:avLst/>
          </a:prstGeom>
          <a:noFill/>
          <a:ln/>
        </p:spPr>
        <p:txBody>
          <a:bodyPr wrap="square" lIns="0" tIns="0" rIns="0" bIns="0" rtlCol="0" anchor="ctr"/>
          <a:lstStyle/>
          <a:p>
            <a:pPr marL="0" indent="0" algn="ctr">
              <a:buNone/>
            </a:pPr>
            <a:endParaRPr lang="en-US" sz="1800" dirty="0"/>
          </a:p>
        </p:txBody>
      </p:sp>
      <p:sp>
        <p:nvSpPr>
          <p:cNvPr id="11" name="Shape 4">
            <a:extLst>
              <a:ext uri="{FF2B5EF4-FFF2-40B4-BE49-F238E27FC236}">
                <a16:creationId xmlns:a16="http://schemas.microsoft.com/office/drawing/2014/main" id="{50B2C167-9D16-9FB7-D59F-7F96CEFDE1DC}"/>
              </a:ext>
            </a:extLst>
          </p:cNvPr>
          <p:cNvSpPr/>
          <p:nvPr/>
        </p:nvSpPr>
        <p:spPr>
          <a:xfrm>
            <a:off x="457200" y="2377440"/>
            <a:ext cx="2743200" cy="2194560"/>
          </a:xfrm>
          <a:prstGeom prst="roundRect">
            <a:avLst>
              <a:gd name="adj" fmla="val 5000"/>
            </a:avLst>
          </a:prstGeom>
          <a:solidFill>
            <a:srgbClr val="FFFFFF"/>
          </a:solidFill>
          <a:ln/>
          <a:effectLst>
            <a:outerShdw blurRad="101600" dist="38100" dir="8100000" algn="bl" rotWithShape="0">
              <a:srgbClr val="000000">
                <a:alpha val="12000"/>
              </a:srgbClr>
            </a:outerShdw>
          </a:effectLst>
        </p:spPr>
      </p:sp>
      <p:sp>
        <p:nvSpPr>
          <p:cNvPr id="13" name="Shape 5">
            <a:extLst>
              <a:ext uri="{FF2B5EF4-FFF2-40B4-BE49-F238E27FC236}">
                <a16:creationId xmlns:a16="http://schemas.microsoft.com/office/drawing/2014/main" id="{EAEB7DF1-25E8-D03A-360C-2E091CE323B0}"/>
              </a:ext>
            </a:extLst>
          </p:cNvPr>
          <p:cNvSpPr/>
          <p:nvPr/>
        </p:nvSpPr>
        <p:spPr>
          <a:xfrm>
            <a:off x="1280160" y="2606040"/>
            <a:ext cx="1097280" cy="1097280"/>
          </a:xfrm>
          <a:prstGeom prst="ellipse">
            <a:avLst/>
          </a:prstGeom>
          <a:solidFill>
            <a:srgbClr val="D8F3DC"/>
          </a:solidFill>
          <a:ln/>
        </p:spPr>
      </p:sp>
      <p:pic>
        <p:nvPicPr>
          <p:cNvPr id="15" name="Image 0" descr="preencoded.png">
            <a:extLst>
              <a:ext uri="{FF2B5EF4-FFF2-40B4-BE49-F238E27FC236}">
                <a16:creationId xmlns:a16="http://schemas.microsoft.com/office/drawing/2014/main" id="{C1D5236F-C4AA-B45D-9553-2E4DD317D796}"/>
              </a:ext>
            </a:extLst>
          </p:cNvPr>
          <p:cNvPicPr>
            <a:picLocks noChangeAspect="1"/>
          </p:cNvPicPr>
          <p:nvPr/>
        </p:nvPicPr>
        <p:blipFill>
          <a:blip r:embed="rId2"/>
          <a:stretch>
            <a:fillRect/>
          </a:stretch>
        </p:blipFill>
        <p:spPr>
          <a:xfrm>
            <a:off x="1463040" y="2788920"/>
            <a:ext cx="731520" cy="731520"/>
          </a:xfrm>
          <a:prstGeom prst="rect">
            <a:avLst/>
          </a:prstGeom>
        </p:spPr>
      </p:pic>
      <p:sp>
        <p:nvSpPr>
          <p:cNvPr id="17" name="Text 6">
            <a:extLst>
              <a:ext uri="{FF2B5EF4-FFF2-40B4-BE49-F238E27FC236}">
                <a16:creationId xmlns:a16="http://schemas.microsoft.com/office/drawing/2014/main" id="{F484DF33-0A64-DD41-2000-638C87C54B7B}"/>
              </a:ext>
            </a:extLst>
          </p:cNvPr>
          <p:cNvSpPr/>
          <p:nvPr/>
        </p:nvSpPr>
        <p:spPr>
          <a:xfrm>
            <a:off x="548640" y="3840480"/>
            <a:ext cx="2560320" cy="320040"/>
          </a:xfrm>
          <a:prstGeom prst="rect">
            <a:avLst/>
          </a:prstGeom>
          <a:noFill/>
          <a:ln/>
        </p:spPr>
        <p:txBody>
          <a:bodyPr wrap="square" lIns="0" tIns="0" rIns="0" bIns="0" rtlCol="0" anchor="ctr"/>
          <a:lstStyle/>
          <a:p>
            <a:pPr marL="0" indent="0" algn="ctr">
              <a:buNone/>
            </a:pPr>
            <a:endParaRPr lang="en-US" sz="1500" dirty="0"/>
          </a:p>
        </p:txBody>
      </p:sp>
      <p:sp>
        <p:nvSpPr>
          <p:cNvPr id="19" name="Text 7">
            <a:extLst>
              <a:ext uri="{FF2B5EF4-FFF2-40B4-BE49-F238E27FC236}">
                <a16:creationId xmlns:a16="http://schemas.microsoft.com/office/drawing/2014/main" id="{F6592279-3411-C17C-C22C-54B760F275C2}"/>
              </a:ext>
            </a:extLst>
          </p:cNvPr>
          <p:cNvSpPr/>
          <p:nvPr/>
        </p:nvSpPr>
        <p:spPr>
          <a:xfrm>
            <a:off x="548640" y="4690461"/>
            <a:ext cx="2560320" cy="274320"/>
          </a:xfrm>
          <a:prstGeom prst="rect">
            <a:avLst/>
          </a:prstGeom>
          <a:noFill/>
          <a:ln/>
        </p:spPr>
        <p:txBody>
          <a:bodyPr wrap="square" lIns="0" tIns="0" rIns="0" bIns="0" rtlCol="0" anchor="ctr"/>
          <a:lstStyle/>
          <a:p>
            <a:pPr marL="0" indent="0" algn="ctr">
              <a:buNone/>
            </a:pPr>
            <a:r>
              <a:rPr lang="en-US" sz="1300" dirty="0">
                <a:solidFill>
                  <a:srgbClr val="4A4A4A"/>
                </a:solidFill>
                <a:latin typeface="Arial" pitchFamily="34" charset="0"/>
                <a:ea typeface="Arial" pitchFamily="34" charset="-122"/>
                <a:cs typeface="Arial" pitchFamily="34" charset="-120"/>
              </a:rPr>
              <a:t>A classic example</a:t>
            </a:r>
            <a:endParaRPr lang="en-US" sz="1300" dirty="0"/>
          </a:p>
        </p:txBody>
      </p:sp>
      <p:sp>
        <p:nvSpPr>
          <p:cNvPr id="27" name="Text 10">
            <a:extLst>
              <a:ext uri="{FF2B5EF4-FFF2-40B4-BE49-F238E27FC236}">
                <a16:creationId xmlns:a16="http://schemas.microsoft.com/office/drawing/2014/main" id="{AA9808B3-D692-5D02-80F4-F709BC38054A}"/>
              </a:ext>
            </a:extLst>
          </p:cNvPr>
          <p:cNvSpPr/>
          <p:nvPr/>
        </p:nvSpPr>
        <p:spPr>
          <a:xfrm>
            <a:off x="5320145" y="4615646"/>
            <a:ext cx="2560320" cy="320040"/>
          </a:xfrm>
          <a:prstGeom prst="rect">
            <a:avLst/>
          </a:prstGeom>
          <a:noFill/>
          <a:ln/>
        </p:spPr>
        <p:txBody>
          <a:bodyPr wrap="square" lIns="0" tIns="0" rIns="0" bIns="0" rtlCol="0" anchor="ctr"/>
          <a:lstStyle/>
          <a:p>
            <a:pPr marL="0" indent="0" algn="ctr">
              <a:buNone/>
            </a:pPr>
            <a:r>
              <a:rPr lang="en-US" sz="1500" b="1" dirty="0">
                <a:solidFill>
                  <a:srgbClr val="1B4332"/>
                </a:solidFill>
                <a:latin typeface="Arial" pitchFamily="34" charset="0"/>
                <a:ea typeface="Arial" pitchFamily="34" charset="-122"/>
                <a:cs typeface="Arial" pitchFamily="34" charset="-120"/>
              </a:rPr>
              <a:t>Naked Seed</a:t>
            </a:r>
            <a:endParaRPr lang="en-US" sz="1500" dirty="0"/>
          </a:p>
        </p:txBody>
      </p:sp>
      <p:sp>
        <p:nvSpPr>
          <p:cNvPr id="29" name="Text 11">
            <a:extLst>
              <a:ext uri="{FF2B5EF4-FFF2-40B4-BE49-F238E27FC236}">
                <a16:creationId xmlns:a16="http://schemas.microsoft.com/office/drawing/2014/main" id="{5E653507-98EF-BB59-85B5-0F284F157C87}"/>
              </a:ext>
            </a:extLst>
          </p:cNvPr>
          <p:cNvSpPr/>
          <p:nvPr/>
        </p:nvSpPr>
        <p:spPr>
          <a:xfrm>
            <a:off x="5326382" y="4860868"/>
            <a:ext cx="2560320" cy="274320"/>
          </a:xfrm>
          <a:prstGeom prst="rect">
            <a:avLst/>
          </a:prstGeom>
          <a:noFill/>
          <a:ln/>
        </p:spPr>
        <p:txBody>
          <a:bodyPr wrap="square" lIns="0" tIns="0" rIns="0" bIns="0" rtlCol="0" anchor="ctr"/>
          <a:lstStyle/>
          <a:p>
            <a:pPr marL="0" indent="0" algn="ctr">
              <a:buNone/>
            </a:pPr>
            <a:r>
              <a:rPr lang="en-US" sz="1300" dirty="0">
                <a:solidFill>
                  <a:srgbClr val="4A4A4A"/>
                </a:solidFill>
                <a:latin typeface="Arial" pitchFamily="34" charset="0"/>
                <a:ea typeface="Arial" pitchFamily="34" charset="-122"/>
                <a:cs typeface="Arial" pitchFamily="34" charset="-120"/>
              </a:rPr>
              <a:t>Not inside a fruit</a:t>
            </a:r>
            <a:endParaRPr lang="en-US" sz="1300" dirty="0"/>
          </a:p>
        </p:txBody>
      </p:sp>
      <p:pic>
        <p:nvPicPr>
          <p:cNvPr id="41" name="Picture 40" descr="Gymnosperm - Wikipedia">
            <a:extLst>
              <a:ext uri="{FF2B5EF4-FFF2-40B4-BE49-F238E27FC236}">
                <a16:creationId xmlns:a16="http://schemas.microsoft.com/office/drawing/2014/main" id="{EB6BCF60-4862-C256-D881-6F91FA5867B1}"/>
              </a:ext>
            </a:extLst>
          </p:cNvPr>
          <p:cNvPicPr>
            <a:picLocks noChangeAspect="1"/>
          </p:cNvPicPr>
          <p:nvPr/>
        </p:nvPicPr>
        <p:blipFill>
          <a:blip r:embed="rId3"/>
          <a:stretch>
            <a:fillRect/>
          </a:stretch>
        </p:blipFill>
        <p:spPr>
          <a:xfrm>
            <a:off x="261816" y="960120"/>
            <a:ext cx="4310184" cy="3655525"/>
          </a:xfrm>
          <a:prstGeom prst="rect">
            <a:avLst/>
          </a:prstGeom>
        </p:spPr>
      </p:pic>
      <p:pic>
        <p:nvPicPr>
          <p:cNvPr id="43" name="Picture 42" descr="Life Cycle of Pine Tree: reproduction of gymnosperms">
            <a:extLst>
              <a:ext uri="{FF2B5EF4-FFF2-40B4-BE49-F238E27FC236}">
                <a16:creationId xmlns:a16="http://schemas.microsoft.com/office/drawing/2014/main" id="{DF331C3B-2563-D8EC-FC6F-91F7D81F8A77}"/>
              </a:ext>
            </a:extLst>
          </p:cNvPr>
          <p:cNvPicPr>
            <a:picLocks noChangeAspect="1"/>
          </p:cNvPicPr>
          <p:nvPr/>
        </p:nvPicPr>
        <p:blipFill>
          <a:blip r:embed="rId4"/>
          <a:stretch>
            <a:fillRect/>
          </a:stretch>
        </p:blipFill>
        <p:spPr>
          <a:xfrm>
            <a:off x="4771505" y="682243"/>
            <a:ext cx="4235335" cy="3933402"/>
          </a:xfrm>
          <a:prstGeom prst="rect">
            <a:avLst/>
          </a:prstGeom>
        </p:spPr>
      </p:pic>
    </p:spTree>
    <p:extLst>
      <p:ext uri="{BB962C8B-B14F-4D97-AF65-F5344CB8AC3E}">
        <p14:creationId xmlns:p14="http://schemas.microsoft.com/office/powerpoint/2010/main" val="6887353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8F9F5"/>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B4332"/>
          </a:solidFill>
          <a:ln/>
        </p:spPr>
      </p:sp>
      <p:sp>
        <p:nvSpPr>
          <p:cNvPr id="3" name="Text 1"/>
          <p:cNvSpPr/>
          <p:nvPr/>
        </p:nvSpPr>
        <p:spPr>
          <a:xfrm>
            <a:off x="365760" y="137160"/>
            <a:ext cx="8229600" cy="457200"/>
          </a:xfrm>
          <a:prstGeom prst="rect">
            <a:avLst/>
          </a:prstGeom>
          <a:noFill/>
          <a:ln/>
        </p:spPr>
        <p:txBody>
          <a:bodyPr wrap="square" lIns="0" tIns="0" rIns="0" bIns="0" rtlCol="0" anchor="ctr"/>
          <a:lstStyle/>
          <a:p>
            <a:pPr marL="0" indent="0">
              <a:buNone/>
            </a:pPr>
            <a:r>
              <a:rPr lang="en-US" sz="2400" b="1" dirty="0">
                <a:solidFill>
                  <a:srgbClr val="FFFFFF"/>
                </a:solidFill>
                <a:latin typeface="Arial" pitchFamily="34" charset="0"/>
                <a:ea typeface="Arial" pitchFamily="34" charset="-122"/>
                <a:cs typeface="Arial" pitchFamily="34" charset="-120"/>
              </a:rPr>
              <a:t>How do Gymnosperms Reproduce?</a:t>
            </a:r>
            <a:endParaRPr lang="en-US" sz="2400" dirty="0"/>
          </a:p>
        </p:txBody>
      </p:sp>
      <p:grpSp>
        <p:nvGrpSpPr>
          <p:cNvPr id="45" name="Group 44">
            <a:extLst>
              <a:ext uri="{FF2B5EF4-FFF2-40B4-BE49-F238E27FC236}">
                <a16:creationId xmlns:a16="http://schemas.microsoft.com/office/drawing/2014/main" id="{F00B7F81-584D-4912-5D6E-2E189FEF02A5}"/>
              </a:ext>
            </a:extLst>
          </p:cNvPr>
          <p:cNvGrpSpPr/>
          <p:nvPr/>
        </p:nvGrpSpPr>
        <p:grpSpPr>
          <a:xfrm>
            <a:off x="457200" y="1005839"/>
            <a:ext cx="2743200" cy="1727267"/>
            <a:chOff x="457200" y="1005840"/>
            <a:chExt cx="2743200" cy="1280160"/>
          </a:xfrm>
        </p:grpSpPr>
        <p:sp>
          <p:nvSpPr>
            <p:cNvPr id="4" name="Shape 2"/>
            <p:cNvSpPr/>
            <p:nvPr/>
          </p:nvSpPr>
          <p:spPr>
            <a:xfrm>
              <a:off x="457200" y="1005840"/>
              <a:ext cx="2743200" cy="1280160"/>
            </a:xfrm>
            <a:prstGeom prst="roundRect">
              <a:avLst>
                <a:gd name="adj" fmla="val 7143"/>
              </a:avLst>
            </a:prstGeom>
            <a:solidFill>
              <a:srgbClr val="FEF3C7"/>
            </a:solidFill>
            <a:ln/>
            <a:effectLst>
              <a:outerShdw blurRad="101600" dist="38100" dir="8100000" algn="bl" rotWithShape="0">
                <a:srgbClr val="000000">
                  <a:alpha val="12000"/>
                </a:srgbClr>
              </a:outerShdw>
            </a:effectLst>
          </p:spPr>
        </p:sp>
        <p:sp>
          <p:nvSpPr>
            <p:cNvPr id="6" name="Text 4"/>
            <p:cNvSpPr/>
            <p:nvPr/>
          </p:nvSpPr>
          <p:spPr>
            <a:xfrm>
              <a:off x="594360" y="1371600"/>
              <a:ext cx="502920" cy="502920"/>
            </a:xfrm>
            <a:prstGeom prst="rect">
              <a:avLst/>
            </a:prstGeom>
            <a:solidFill>
              <a:schemeClr val="accent2"/>
            </a:solidFill>
            <a:ln/>
          </p:spPr>
          <p:txBody>
            <a:bodyPr wrap="square" lIns="0" tIns="0" rIns="0" bIns="0"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1</a:t>
              </a:r>
              <a:endParaRPr lang="en-US" sz="1800" dirty="0"/>
            </a:p>
          </p:txBody>
        </p:sp>
        <p:sp>
          <p:nvSpPr>
            <p:cNvPr id="7" name="Text 5"/>
            <p:cNvSpPr/>
            <p:nvPr/>
          </p:nvSpPr>
          <p:spPr>
            <a:xfrm>
              <a:off x="1188720" y="1280160"/>
              <a:ext cx="1828800" cy="411480"/>
            </a:xfrm>
            <a:prstGeom prst="rect">
              <a:avLst/>
            </a:prstGeom>
            <a:noFill/>
            <a:ln/>
          </p:spPr>
          <p:txBody>
            <a:bodyPr wrap="square" lIns="0" tIns="0" rIns="0" bIns="0" rtlCol="0" anchor="ctr"/>
            <a:lstStyle/>
            <a:p>
              <a:pPr marL="0" indent="0">
                <a:buNone/>
              </a:pPr>
              <a:r>
                <a:rPr lang="en-US" sz="1600" b="1" dirty="0">
                  <a:solidFill>
                    <a:srgbClr val="1A1A1A"/>
                  </a:solidFill>
                  <a:latin typeface="Arial" pitchFamily="34" charset="0"/>
                  <a:cs typeface="Arial" pitchFamily="34" charset="-120"/>
                </a:rPr>
                <a:t>Male Cone </a:t>
              </a:r>
              <a:endParaRPr lang="en-US" sz="1600" dirty="0"/>
            </a:p>
          </p:txBody>
        </p:sp>
        <p:sp>
          <p:nvSpPr>
            <p:cNvPr id="8" name="Text 6"/>
            <p:cNvSpPr/>
            <p:nvPr/>
          </p:nvSpPr>
          <p:spPr>
            <a:xfrm>
              <a:off x="1188720" y="1691640"/>
              <a:ext cx="1828800" cy="365760"/>
            </a:xfrm>
            <a:prstGeom prst="rect">
              <a:avLst/>
            </a:prstGeom>
            <a:noFill/>
            <a:ln/>
          </p:spPr>
          <p:txBody>
            <a:bodyPr wrap="square" lIns="0" tIns="0" rIns="0" bIns="0" rtlCol="0" anchor="ctr"/>
            <a:lstStyle/>
            <a:p>
              <a:pPr marL="0" indent="0">
                <a:buNone/>
              </a:pPr>
              <a:r>
                <a:rPr lang="en-US" sz="1300" dirty="0">
                  <a:solidFill>
                    <a:srgbClr val="4A4A4A"/>
                  </a:solidFill>
                  <a:latin typeface="Arial" pitchFamily="34" charset="0"/>
                  <a:ea typeface="Arial" pitchFamily="34" charset="-122"/>
                  <a:cs typeface="Arial" pitchFamily="34" charset="-120"/>
                </a:rPr>
                <a:t>Produces pollen</a:t>
              </a:r>
              <a:endParaRPr lang="en-US" sz="1300" dirty="0"/>
            </a:p>
          </p:txBody>
        </p:sp>
      </p:grpSp>
      <p:sp>
        <p:nvSpPr>
          <p:cNvPr id="10" name="Shape 8"/>
          <p:cNvSpPr/>
          <p:nvPr/>
        </p:nvSpPr>
        <p:spPr>
          <a:xfrm>
            <a:off x="3474720" y="1371600"/>
            <a:ext cx="502920" cy="502920"/>
          </a:xfrm>
          <a:prstGeom prst="ellipse">
            <a:avLst/>
          </a:prstGeom>
          <a:solidFill>
            <a:srgbClr val="2D6A4F"/>
          </a:solidFill>
          <a:ln/>
        </p:spPr>
      </p:sp>
      <p:grpSp>
        <p:nvGrpSpPr>
          <p:cNvPr id="41" name="Group 40">
            <a:extLst>
              <a:ext uri="{FF2B5EF4-FFF2-40B4-BE49-F238E27FC236}">
                <a16:creationId xmlns:a16="http://schemas.microsoft.com/office/drawing/2014/main" id="{1E4043CF-6EC2-4004-32D2-6BFC803181A2}"/>
              </a:ext>
            </a:extLst>
          </p:cNvPr>
          <p:cNvGrpSpPr/>
          <p:nvPr/>
        </p:nvGrpSpPr>
        <p:grpSpPr>
          <a:xfrm>
            <a:off x="3337560" y="1005839"/>
            <a:ext cx="2743200" cy="1789611"/>
            <a:chOff x="3337560" y="1005840"/>
            <a:chExt cx="2743200" cy="1280160"/>
          </a:xfrm>
        </p:grpSpPr>
        <p:sp>
          <p:nvSpPr>
            <p:cNvPr id="9" name="Shape 7"/>
            <p:cNvSpPr/>
            <p:nvPr/>
          </p:nvSpPr>
          <p:spPr>
            <a:xfrm>
              <a:off x="3337560" y="1005840"/>
              <a:ext cx="2743200" cy="1280160"/>
            </a:xfrm>
            <a:prstGeom prst="roundRect">
              <a:avLst>
                <a:gd name="adj" fmla="val 7143"/>
              </a:avLst>
            </a:prstGeom>
            <a:solidFill>
              <a:srgbClr val="D1FAE5"/>
            </a:solidFill>
            <a:ln/>
            <a:effectLst>
              <a:outerShdw blurRad="101600" dist="38100" dir="8100000" algn="bl" rotWithShape="0">
                <a:srgbClr val="000000">
                  <a:alpha val="12000"/>
                </a:srgbClr>
              </a:outerShdw>
            </a:effectLst>
          </p:spPr>
        </p:sp>
        <p:sp>
          <p:nvSpPr>
            <p:cNvPr id="11" name="Text 9"/>
            <p:cNvSpPr/>
            <p:nvPr/>
          </p:nvSpPr>
          <p:spPr>
            <a:xfrm>
              <a:off x="3474720" y="1371600"/>
              <a:ext cx="502920" cy="502920"/>
            </a:xfrm>
            <a:prstGeom prst="rect">
              <a:avLst/>
            </a:prstGeom>
            <a:solidFill>
              <a:schemeClr val="accent2"/>
            </a:solidFill>
            <a:ln/>
          </p:spPr>
          <p:txBody>
            <a:bodyPr wrap="square" lIns="0" tIns="0" rIns="0" bIns="0"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2</a:t>
              </a:r>
              <a:endParaRPr lang="en-US" sz="1800" dirty="0"/>
            </a:p>
          </p:txBody>
        </p:sp>
        <p:sp>
          <p:nvSpPr>
            <p:cNvPr id="12" name="Text 10"/>
            <p:cNvSpPr/>
            <p:nvPr/>
          </p:nvSpPr>
          <p:spPr>
            <a:xfrm>
              <a:off x="4069080" y="1280160"/>
              <a:ext cx="1828800" cy="411480"/>
            </a:xfrm>
            <a:prstGeom prst="rect">
              <a:avLst/>
            </a:prstGeom>
            <a:noFill/>
            <a:ln/>
          </p:spPr>
          <p:txBody>
            <a:bodyPr wrap="square" lIns="0" tIns="0" rIns="0" bIns="0" rtlCol="0" anchor="ctr"/>
            <a:lstStyle/>
            <a:p>
              <a:pPr marL="0" indent="0">
                <a:buNone/>
              </a:pPr>
              <a:r>
                <a:rPr lang="en-US" sz="1600" b="1" dirty="0">
                  <a:solidFill>
                    <a:srgbClr val="1A1A1A"/>
                  </a:solidFill>
                  <a:latin typeface="Arial" pitchFamily="34" charset="0"/>
                  <a:ea typeface="Arial" pitchFamily="34" charset="-122"/>
                  <a:cs typeface="Arial" pitchFamily="34" charset="-120"/>
                </a:rPr>
                <a:t>Pollen Grains</a:t>
              </a:r>
              <a:endParaRPr lang="en-US" sz="1600" dirty="0"/>
            </a:p>
          </p:txBody>
        </p:sp>
        <p:sp>
          <p:nvSpPr>
            <p:cNvPr id="13" name="Text 11"/>
            <p:cNvSpPr/>
            <p:nvPr/>
          </p:nvSpPr>
          <p:spPr>
            <a:xfrm>
              <a:off x="4069080" y="1691640"/>
              <a:ext cx="1828800" cy="365760"/>
            </a:xfrm>
            <a:prstGeom prst="rect">
              <a:avLst/>
            </a:prstGeom>
            <a:noFill/>
            <a:ln/>
          </p:spPr>
          <p:txBody>
            <a:bodyPr wrap="square" lIns="0" tIns="0" rIns="0" bIns="0" rtlCol="0" anchor="ctr"/>
            <a:lstStyle/>
            <a:p>
              <a:pPr marL="0" indent="0">
                <a:buNone/>
              </a:pPr>
              <a:r>
                <a:rPr lang="en-US" sz="1300" dirty="0">
                  <a:solidFill>
                    <a:srgbClr val="4A4A4A"/>
                  </a:solidFill>
                  <a:latin typeface="Arial" pitchFamily="34" charset="0"/>
                  <a:ea typeface="Arial" pitchFamily="34" charset="-122"/>
                  <a:cs typeface="Arial" pitchFamily="34" charset="-120"/>
                </a:rPr>
                <a:t>Tiny yellow dust</a:t>
              </a:r>
              <a:endParaRPr lang="en-US" sz="1300" dirty="0"/>
            </a:p>
          </p:txBody>
        </p:sp>
      </p:grpSp>
      <p:sp>
        <p:nvSpPr>
          <p:cNvPr id="15" name="Shape 13"/>
          <p:cNvSpPr/>
          <p:nvPr/>
        </p:nvSpPr>
        <p:spPr>
          <a:xfrm>
            <a:off x="6355080" y="1371600"/>
            <a:ext cx="502920" cy="502920"/>
          </a:xfrm>
          <a:prstGeom prst="ellipse">
            <a:avLst/>
          </a:prstGeom>
          <a:solidFill>
            <a:srgbClr val="2D6A4F"/>
          </a:solidFill>
          <a:ln/>
        </p:spPr>
      </p:sp>
      <p:grpSp>
        <p:nvGrpSpPr>
          <p:cNvPr id="40" name="Group 39">
            <a:extLst>
              <a:ext uri="{FF2B5EF4-FFF2-40B4-BE49-F238E27FC236}">
                <a16:creationId xmlns:a16="http://schemas.microsoft.com/office/drawing/2014/main" id="{109AF604-A84F-8B36-F75C-5B91DB7EACEC}"/>
              </a:ext>
            </a:extLst>
          </p:cNvPr>
          <p:cNvGrpSpPr/>
          <p:nvPr/>
        </p:nvGrpSpPr>
        <p:grpSpPr>
          <a:xfrm>
            <a:off x="6217920" y="968432"/>
            <a:ext cx="2743200" cy="1645993"/>
            <a:chOff x="6217920" y="968433"/>
            <a:chExt cx="2743200" cy="1280160"/>
          </a:xfrm>
        </p:grpSpPr>
        <p:sp>
          <p:nvSpPr>
            <p:cNvPr id="14" name="Shape 12"/>
            <p:cNvSpPr/>
            <p:nvPr/>
          </p:nvSpPr>
          <p:spPr>
            <a:xfrm>
              <a:off x="6217920" y="968433"/>
              <a:ext cx="2743200" cy="1280160"/>
            </a:xfrm>
            <a:prstGeom prst="roundRect">
              <a:avLst>
                <a:gd name="adj" fmla="val 7143"/>
              </a:avLst>
            </a:prstGeom>
            <a:solidFill>
              <a:srgbClr val="FEF3C7"/>
            </a:solidFill>
            <a:ln/>
            <a:effectLst>
              <a:outerShdw blurRad="101600" dist="38100" dir="8100000" algn="bl" rotWithShape="0">
                <a:srgbClr val="000000">
                  <a:alpha val="12000"/>
                </a:srgbClr>
              </a:outerShdw>
            </a:effectLst>
          </p:spPr>
        </p:sp>
        <p:sp>
          <p:nvSpPr>
            <p:cNvPr id="16" name="Text 14"/>
            <p:cNvSpPr/>
            <p:nvPr/>
          </p:nvSpPr>
          <p:spPr>
            <a:xfrm>
              <a:off x="6355080" y="1334193"/>
              <a:ext cx="502920" cy="502920"/>
            </a:xfrm>
            <a:prstGeom prst="rect">
              <a:avLst/>
            </a:prstGeom>
            <a:solidFill>
              <a:schemeClr val="accent2"/>
            </a:solidFill>
            <a:ln/>
          </p:spPr>
          <p:txBody>
            <a:bodyPr wrap="square" lIns="0" tIns="0" rIns="0" bIns="0"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3</a:t>
              </a:r>
              <a:endParaRPr lang="en-US" sz="1800" dirty="0"/>
            </a:p>
          </p:txBody>
        </p:sp>
        <p:sp>
          <p:nvSpPr>
            <p:cNvPr id="17" name="Text 15"/>
            <p:cNvSpPr/>
            <p:nvPr/>
          </p:nvSpPr>
          <p:spPr>
            <a:xfrm>
              <a:off x="6949440" y="1280160"/>
              <a:ext cx="1828800" cy="411480"/>
            </a:xfrm>
            <a:prstGeom prst="rect">
              <a:avLst/>
            </a:prstGeom>
            <a:noFill/>
            <a:ln/>
          </p:spPr>
          <p:txBody>
            <a:bodyPr wrap="square" lIns="0" tIns="0" rIns="0" bIns="0" rtlCol="0" anchor="ctr"/>
            <a:lstStyle/>
            <a:p>
              <a:pPr marL="0" indent="0">
                <a:buNone/>
              </a:pPr>
              <a:r>
                <a:rPr lang="en-US" sz="1600" b="1" dirty="0">
                  <a:solidFill>
                    <a:srgbClr val="1A1A1A"/>
                  </a:solidFill>
                  <a:latin typeface="Arial" pitchFamily="34" charset="0"/>
                  <a:ea typeface="Arial" pitchFamily="34" charset="-122"/>
                  <a:cs typeface="Arial" pitchFamily="34" charset="-120"/>
                </a:rPr>
                <a:t>Pollination</a:t>
              </a:r>
              <a:endParaRPr lang="en-US" sz="1600" dirty="0"/>
            </a:p>
          </p:txBody>
        </p:sp>
        <p:sp>
          <p:nvSpPr>
            <p:cNvPr id="18" name="Text 16"/>
            <p:cNvSpPr/>
            <p:nvPr/>
          </p:nvSpPr>
          <p:spPr>
            <a:xfrm>
              <a:off x="6949440" y="1654233"/>
              <a:ext cx="1828800" cy="365760"/>
            </a:xfrm>
            <a:prstGeom prst="rect">
              <a:avLst/>
            </a:prstGeom>
            <a:noFill/>
            <a:ln/>
          </p:spPr>
          <p:txBody>
            <a:bodyPr wrap="square" lIns="0" tIns="0" rIns="0" bIns="0" rtlCol="0" anchor="ctr"/>
            <a:lstStyle/>
            <a:p>
              <a:pPr marL="0" indent="0">
                <a:buNone/>
              </a:pPr>
              <a:r>
                <a:rPr lang="en-US" sz="1300" dirty="0">
                  <a:solidFill>
                    <a:srgbClr val="4A4A4A"/>
                  </a:solidFill>
                  <a:latin typeface="Arial" pitchFamily="34" charset="0"/>
                  <a:ea typeface="Arial" pitchFamily="34" charset="-122"/>
                  <a:cs typeface="Arial" pitchFamily="34" charset="-120"/>
                </a:rPr>
                <a:t>Pollen travels</a:t>
              </a:r>
              <a:endParaRPr lang="en-US" sz="1300" dirty="0"/>
            </a:p>
          </p:txBody>
        </p:sp>
      </p:grpSp>
      <p:grpSp>
        <p:nvGrpSpPr>
          <p:cNvPr id="37" name="Group 36">
            <a:extLst>
              <a:ext uri="{FF2B5EF4-FFF2-40B4-BE49-F238E27FC236}">
                <a16:creationId xmlns:a16="http://schemas.microsoft.com/office/drawing/2014/main" id="{759B0D37-51AA-5302-E108-B85A69E4BE14}"/>
              </a:ext>
            </a:extLst>
          </p:cNvPr>
          <p:cNvGrpSpPr/>
          <p:nvPr/>
        </p:nvGrpSpPr>
        <p:grpSpPr>
          <a:xfrm>
            <a:off x="365760" y="2857501"/>
            <a:ext cx="2834640" cy="1741519"/>
            <a:chOff x="457200" y="2560320"/>
            <a:chExt cx="2743200" cy="1280160"/>
          </a:xfrm>
        </p:grpSpPr>
        <p:sp>
          <p:nvSpPr>
            <p:cNvPr id="19" name="Shape 17"/>
            <p:cNvSpPr/>
            <p:nvPr/>
          </p:nvSpPr>
          <p:spPr>
            <a:xfrm>
              <a:off x="457200" y="2560320"/>
              <a:ext cx="2743200" cy="1280160"/>
            </a:xfrm>
            <a:prstGeom prst="roundRect">
              <a:avLst>
                <a:gd name="adj" fmla="val 7143"/>
              </a:avLst>
            </a:prstGeom>
            <a:solidFill>
              <a:srgbClr val="D1FAE5"/>
            </a:solidFill>
            <a:ln/>
            <a:effectLst>
              <a:outerShdw blurRad="101600" dist="38100" dir="8100000" algn="bl" rotWithShape="0">
                <a:srgbClr val="000000">
                  <a:alpha val="12000"/>
                </a:srgbClr>
              </a:outerShdw>
            </a:effectLst>
          </p:spPr>
        </p:sp>
        <p:sp>
          <p:nvSpPr>
            <p:cNvPr id="21" name="Text 19"/>
            <p:cNvSpPr/>
            <p:nvPr/>
          </p:nvSpPr>
          <p:spPr>
            <a:xfrm>
              <a:off x="594360" y="2926080"/>
              <a:ext cx="502920" cy="502920"/>
            </a:xfrm>
            <a:prstGeom prst="rect">
              <a:avLst/>
            </a:prstGeom>
            <a:solidFill>
              <a:schemeClr val="accent2"/>
            </a:solidFill>
            <a:ln/>
          </p:spPr>
          <p:txBody>
            <a:bodyPr wrap="square" lIns="0" tIns="0" rIns="0" bIns="0"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4</a:t>
              </a:r>
              <a:endParaRPr lang="en-US" sz="1800" dirty="0"/>
            </a:p>
          </p:txBody>
        </p:sp>
        <p:sp>
          <p:nvSpPr>
            <p:cNvPr id="22" name="Text 20"/>
            <p:cNvSpPr/>
            <p:nvPr/>
          </p:nvSpPr>
          <p:spPr>
            <a:xfrm>
              <a:off x="1188720" y="2834640"/>
              <a:ext cx="1828800" cy="411480"/>
            </a:xfrm>
            <a:prstGeom prst="rect">
              <a:avLst/>
            </a:prstGeom>
            <a:noFill/>
            <a:ln/>
          </p:spPr>
          <p:txBody>
            <a:bodyPr wrap="square" lIns="0" tIns="0" rIns="0" bIns="0" rtlCol="0" anchor="ctr"/>
            <a:lstStyle/>
            <a:p>
              <a:pPr marL="0" indent="0">
                <a:buNone/>
              </a:pPr>
              <a:r>
                <a:rPr lang="en-US" sz="1600" b="1" dirty="0">
                  <a:solidFill>
                    <a:srgbClr val="1A1A1A"/>
                  </a:solidFill>
                  <a:latin typeface="Arial" pitchFamily="34" charset="0"/>
                  <a:ea typeface="Arial" pitchFamily="34" charset="-122"/>
                  <a:cs typeface="Arial" pitchFamily="34" charset="-120"/>
                </a:rPr>
                <a:t>Female Cone</a:t>
              </a:r>
              <a:endParaRPr lang="en-US" sz="1600" dirty="0"/>
            </a:p>
          </p:txBody>
        </p:sp>
        <p:sp>
          <p:nvSpPr>
            <p:cNvPr id="23" name="Text 21"/>
            <p:cNvSpPr/>
            <p:nvPr/>
          </p:nvSpPr>
          <p:spPr>
            <a:xfrm>
              <a:off x="1188720" y="3246120"/>
              <a:ext cx="1828800" cy="365760"/>
            </a:xfrm>
            <a:prstGeom prst="rect">
              <a:avLst/>
            </a:prstGeom>
            <a:noFill/>
            <a:ln/>
          </p:spPr>
          <p:txBody>
            <a:bodyPr wrap="square" lIns="0" tIns="0" rIns="0" bIns="0" rtlCol="0" anchor="ctr"/>
            <a:lstStyle/>
            <a:p>
              <a:pPr marL="0" indent="0">
                <a:buNone/>
              </a:pPr>
              <a:r>
                <a:rPr lang="en-US" sz="1300" dirty="0">
                  <a:solidFill>
                    <a:srgbClr val="4A4A4A"/>
                  </a:solidFill>
                  <a:latin typeface="Arial" pitchFamily="34" charset="0"/>
                  <a:ea typeface="Arial" pitchFamily="34" charset="-122"/>
                  <a:cs typeface="Arial" pitchFamily="34" charset="-120"/>
                </a:rPr>
                <a:t>Has ovules</a:t>
              </a:r>
              <a:endParaRPr lang="en-US" sz="1300" dirty="0"/>
            </a:p>
          </p:txBody>
        </p:sp>
      </p:grpSp>
      <p:grpSp>
        <p:nvGrpSpPr>
          <p:cNvPr id="38" name="Group 37">
            <a:extLst>
              <a:ext uri="{FF2B5EF4-FFF2-40B4-BE49-F238E27FC236}">
                <a16:creationId xmlns:a16="http://schemas.microsoft.com/office/drawing/2014/main" id="{265012C3-7D55-9F9F-23D2-C518A68843EC}"/>
              </a:ext>
            </a:extLst>
          </p:cNvPr>
          <p:cNvGrpSpPr/>
          <p:nvPr/>
        </p:nvGrpSpPr>
        <p:grpSpPr>
          <a:xfrm>
            <a:off x="3337560" y="2919845"/>
            <a:ext cx="2743200" cy="1741519"/>
            <a:chOff x="3337560" y="2560320"/>
            <a:chExt cx="2743200" cy="1280160"/>
          </a:xfrm>
        </p:grpSpPr>
        <p:sp>
          <p:nvSpPr>
            <p:cNvPr id="24" name="Shape 22"/>
            <p:cNvSpPr/>
            <p:nvPr/>
          </p:nvSpPr>
          <p:spPr>
            <a:xfrm>
              <a:off x="3337560" y="2560320"/>
              <a:ext cx="2743200" cy="1280160"/>
            </a:xfrm>
            <a:prstGeom prst="roundRect">
              <a:avLst>
                <a:gd name="adj" fmla="val 7143"/>
              </a:avLst>
            </a:prstGeom>
            <a:solidFill>
              <a:srgbClr val="FEF3C7"/>
            </a:solidFill>
            <a:ln/>
            <a:effectLst>
              <a:outerShdw blurRad="101600" dist="38100" dir="8100000" algn="bl" rotWithShape="0">
                <a:srgbClr val="000000">
                  <a:alpha val="12000"/>
                </a:srgbClr>
              </a:outerShdw>
            </a:effectLst>
          </p:spPr>
        </p:sp>
        <p:sp>
          <p:nvSpPr>
            <p:cNvPr id="26" name="Text 24"/>
            <p:cNvSpPr/>
            <p:nvPr/>
          </p:nvSpPr>
          <p:spPr>
            <a:xfrm>
              <a:off x="3474720" y="2926080"/>
              <a:ext cx="502920" cy="502920"/>
            </a:xfrm>
            <a:prstGeom prst="rect">
              <a:avLst/>
            </a:prstGeom>
            <a:solidFill>
              <a:schemeClr val="accent2"/>
            </a:solidFill>
            <a:ln/>
          </p:spPr>
          <p:txBody>
            <a:bodyPr wrap="square" lIns="0" tIns="0" rIns="0" bIns="0"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5</a:t>
              </a:r>
              <a:endParaRPr lang="en-US" sz="1800" dirty="0"/>
            </a:p>
          </p:txBody>
        </p:sp>
        <p:sp>
          <p:nvSpPr>
            <p:cNvPr id="27" name="Text 25"/>
            <p:cNvSpPr/>
            <p:nvPr/>
          </p:nvSpPr>
          <p:spPr>
            <a:xfrm>
              <a:off x="4069080" y="2834640"/>
              <a:ext cx="1828800" cy="411480"/>
            </a:xfrm>
            <a:prstGeom prst="rect">
              <a:avLst/>
            </a:prstGeom>
            <a:noFill/>
            <a:ln/>
          </p:spPr>
          <p:txBody>
            <a:bodyPr wrap="square" lIns="0" tIns="0" rIns="0" bIns="0" rtlCol="0" anchor="ctr"/>
            <a:lstStyle/>
            <a:p>
              <a:pPr marL="0" indent="0">
                <a:buNone/>
              </a:pPr>
              <a:r>
                <a:rPr lang="en-US" sz="1600" b="1" dirty="0">
                  <a:solidFill>
                    <a:srgbClr val="1A1A1A"/>
                  </a:solidFill>
                  <a:latin typeface="Arial" pitchFamily="34" charset="0"/>
                  <a:ea typeface="Arial" pitchFamily="34" charset="-122"/>
                  <a:cs typeface="Arial" pitchFamily="34" charset="-120"/>
                </a:rPr>
                <a:t>Fertilization</a:t>
              </a:r>
              <a:endParaRPr lang="en-US" sz="1600" dirty="0"/>
            </a:p>
          </p:txBody>
        </p:sp>
        <p:sp>
          <p:nvSpPr>
            <p:cNvPr id="28" name="Text 26"/>
            <p:cNvSpPr/>
            <p:nvPr/>
          </p:nvSpPr>
          <p:spPr>
            <a:xfrm>
              <a:off x="4069080" y="3246120"/>
              <a:ext cx="1828800" cy="365760"/>
            </a:xfrm>
            <a:prstGeom prst="rect">
              <a:avLst/>
            </a:prstGeom>
            <a:noFill/>
            <a:ln/>
          </p:spPr>
          <p:txBody>
            <a:bodyPr wrap="square" lIns="0" tIns="0" rIns="0" bIns="0" rtlCol="0" anchor="ctr"/>
            <a:lstStyle/>
            <a:p>
              <a:pPr marL="0" indent="0">
                <a:buNone/>
              </a:pPr>
              <a:r>
                <a:rPr lang="en-US" sz="1300" dirty="0">
                  <a:solidFill>
                    <a:srgbClr val="4A4A4A"/>
                  </a:solidFill>
                  <a:latin typeface="Arial" pitchFamily="34" charset="0"/>
                  <a:ea typeface="Arial" pitchFamily="34" charset="-122"/>
                  <a:cs typeface="Arial" pitchFamily="34" charset="-120"/>
                </a:rPr>
                <a:t>Pollen + ovule</a:t>
              </a:r>
              <a:endParaRPr lang="en-US" sz="1300" dirty="0"/>
            </a:p>
          </p:txBody>
        </p:sp>
      </p:grpSp>
      <p:grpSp>
        <p:nvGrpSpPr>
          <p:cNvPr id="39" name="Group 38">
            <a:extLst>
              <a:ext uri="{FF2B5EF4-FFF2-40B4-BE49-F238E27FC236}">
                <a16:creationId xmlns:a16="http://schemas.microsoft.com/office/drawing/2014/main" id="{7D6EA667-2DAA-76C4-B13F-F0F5200A9A37}"/>
              </a:ext>
            </a:extLst>
          </p:cNvPr>
          <p:cNvGrpSpPr/>
          <p:nvPr/>
        </p:nvGrpSpPr>
        <p:grpSpPr>
          <a:xfrm>
            <a:off x="6217920" y="2919845"/>
            <a:ext cx="2743200" cy="1710346"/>
            <a:chOff x="6217920" y="2518756"/>
            <a:chExt cx="2743200" cy="1280160"/>
          </a:xfrm>
        </p:grpSpPr>
        <p:sp>
          <p:nvSpPr>
            <p:cNvPr id="29" name="Shape 27"/>
            <p:cNvSpPr/>
            <p:nvPr/>
          </p:nvSpPr>
          <p:spPr>
            <a:xfrm>
              <a:off x="6217920" y="2518756"/>
              <a:ext cx="2743200" cy="1280160"/>
            </a:xfrm>
            <a:prstGeom prst="roundRect">
              <a:avLst>
                <a:gd name="adj" fmla="val 7143"/>
              </a:avLst>
            </a:prstGeom>
            <a:solidFill>
              <a:srgbClr val="D1FAE5"/>
            </a:solidFill>
            <a:ln/>
            <a:effectLst>
              <a:outerShdw blurRad="101600" dist="38100" dir="8100000" algn="bl" rotWithShape="0">
                <a:srgbClr val="000000">
                  <a:alpha val="12000"/>
                </a:srgbClr>
              </a:outerShdw>
            </a:effectLst>
          </p:spPr>
        </p:sp>
        <p:sp>
          <p:nvSpPr>
            <p:cNvPr id="31" name="Text 29"/>
            <p:cNvSpPr/>
            <p:nvPr/>
          </p:nvSpPr>
          <p:spPr>
            <a:xfrm>
              <a:off x="6355080" y="2926080"/>
              <a:ext cx="502920" cy="502920"/>
            </a:xfrm>
            <a:prstGeom prst="rect">
              <a:avLst/>
            </a:prstGeom>
            <a:solidFill>
              <a:schemeClr val="accent2"/>
            </a:solidFill>
            <a:ln/>
          </p:spPr>
          <p:txBody>
            <a:bodyPr wrap="square" lIns="0" tIns="0" rIns="0" bIns="0"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6</a:t>
              </a:r>
              <a:endParaRPr lang="en-US" sz="1800" dirty="0"/>
            </a:p>
          </p:txBody>
        </p:sp>
        <p:sp>
          <p:nvSpPr>
            <p:cNvPr id="32" name="Text 30"/>
            <p:cNvSpPr/>
            <p:nvPr/>
          </p:nvSpPr>
          <p:spPr>
            <a:xfrm>
              <a:off x="6949440" y="2793076"/>
              <a:ext cx="1828800" cy="411480"/>
            </a:xfrm>
            <a:prstGeom prst="rect">
              <a:avLst/>
            </a:prstGeom>
            <a:noFill/>
            <a:ln/>
          </p:spPr>
          <p:txBody>
            <a:bodyPr wrap="square" lIns="0" tIns="0" rIns="0" bIns="0" rtlCol="0" anchor="ctr"/>
            <a:lstStyle/>
            <a:p>
              <a:pPr marL="0" indent="0">
                <a:buNone/>
              </a:pPr>
              <a:r>
                <a:rPr lang="en-US" sz="1600" b="1" dirty="0">
                  <a:solidFill>
                    <a:srgbClr val="1A1A1A"/>
                  </a:solidFill>
                  <a:latin typeface="Arial" pitchFamily="34" charset="0"/>
                  <a:ea typeface="Arial" pitchFamily="34" charset="-122"/>
                  <a:cs typeface="Arial" pitchFamily="34" charset="-120"/>
                </a:rPr>
                <a:t>Seed Forms</a:t>
              </a:r>
              <a:endParaRPr lang="en-US" sz="1600" dirty="0"/>
            </a:p>
          </p:txBody>
        </p:sp>
        <p:sp>
          <p:nvSpPr>
            <p:cNvPr id="33" name="Text 31"/>
            <p:cNvSpPr/>
            <p:nvPr/>
          </p:nvSpPr>
          <p:spPr>
            <a:xfrm>
              <a:off x="6949440" y="3204556"/>
              <a:ext cx="1828800" cy="365760"/>
            </a:xfrm>
            <a:prstGeom prst="rect">
              <a:avLst/>
            </a:prstGeom>
            <a:noFill/>
            <a:ln/>
          </p:spPr>
          <p:txBody>
            <a:bodyPr wrap="square" lIns="0" tIns="0" rIns="0" bIns="0" rtlCol="0" anchor="ctr"/>
            <a:lstStyle/>
            <a:p>
              <a:pPr marL="0" indent="0">
                <a:buNone/>
              </a:pPr>
              <a:r>
                <a:rPr lang="en-US" sz="1300" dirty="0">
                  <a:solidFill>
                    <a:srgbClr val="4A4A4A"/>
                  </a:solidFill>
                  <a:latin typeface="Arial" pitchFamily="34" charset="0"/>
                  <a:ea typeface="Arial" pitchFamily="34" charset="-122"/>
                  <a:cs typeface="Arial" pitchFamily="34" charset="-120"/>
                </a:rPr>
                <a:t>Naked seed</a:t>
              </a:r>
              <a:endParaRPr lang="en-US" sz="1300" dirty="0"/>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8F9F5"/>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B4332"/>
          </a:solidFill>
          <a:ln/>
        </p:spPr>
      </p:sp>
      <p:sp>
        <p:nvSpPr>
          <p:cNvPr id="3" name="Text 1"/>
          <p:cNvSpPr/>
          <p:nvPr/>
        </p:nvSpPr>
        <p:spPr>
          <a:xfrm>
            <a:off x="365760" y="137160"/>
            <a:ext cx="8229600" cy="457200"/>
          </a:xfrm>
          <a:prstGeom prst="rect">
            <a:avLst/>
          </a:prstGeom>
          <a:noFill/>
          <a:ln/>
        </p:spPr>
        <p:txBody>
          <a:bodyPr wrap="square" lIns="0" tIns="0" rIns="0" bIns="0" rtlCol="0" anchor="ctr"/>
          <a:lstStyle/>
          <a:p>
            <a:pPr marL="0" indent="0">
              <a:buNone/>
            </a:pPr>
            <a:r>
              <a:rPr lang="en-US" sz="2400" b="1" dirty="0">
                <a:solidFill>
                  <a:srgbClr val="FFFFFF"/>
                </a:solidFill>
                <a:latin typeface="Arial" pitchFamily="34" charset="0"/>
                <a:ea typeface="Arial" pitchFamily="34" charset="-122"/>
                <a:cs typeface="Arial" pitchFamily="34" charset="-120"/>
              </a:rPr>
              <a:t>Male &amp; Female Parts of Gymnosperms</a:t>
            </a:r>
            <a:endParaRPr lang="en-US" sz="2400" dirty="0"/>
          </a:p>
        </p:txBody>
      </p:sp>
      <p:sp>
        <p:nvSpPr>
          <p:cNvPr id="4" name="Shape 2"/>
          <p:cNvSpPr/>
          <p:nvPr/>
        </p:nvSpPr>
        <p:spPr>
          <a:xfrm>
            <a:off x="365760" y="980440"/>
            <a:ext cx="4023360" cy="3200400"/>
          </a:xfrm>
          <a:prstGeom prst="roundRect">
            <a:avLst>
              <a:gd name="adj" fmla="val 3429"/>
            </a:avLst>
          </a:prstGeom>
          <a:solidFill>
            <a:srgbClr val="FFFFFF"/>
          </a:solidFill>
          <a:ln/>
          <a:effectLst>
            <a:outerShdw blurRad="101600" dist="38100" dir="8100000" algn="bl" rotWithShape="0">
              <a:srgbClr val="000000">
                <a:alpha val="12000"/>
              </a:srgbClr>
            </a:outerShdw>
          </a:effectLst>
        </p:spPr>
      </p:sp>
      <p:sp>
        <p:nvSpPr>
          <p:cNvPr id="5" name="Shape 3"/>
          <p:cNvSpPr/>
          <p:nvPr/>
        </p:nvSpPr>
        <p:spPr>
          <a:xfrm>
            <a:off x="365760" y="789940"/>
            <a:ext cx="4023360" cy="640080"/>
          </a:xfrm>
          <a:prstGeom prst="rect">
            <a:avLst/>
          </a:prstGeom>
          <a:solidFill>
            <a:srgbClr val="2A9D8F"/>
          </a:solidFill>
          <a:ln/>
        </p:spPr>
      </p:sp>
      <p:sp>
        <p:nvSpPr>
          <p:cNvPr id="6" name="Text 4"/>
          <p:cNvSpPr/>
          <p:nvPr/>
        </p:nvSpPr>
        <p:spPr>
          <a:xfrm>
            <a:off x="365760" y="894080"/>
            <a:ext cx="402336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  MALE STRUCTURE</a:t>
            </a:r>
            <a:endParaRPr lang="en-US" sz="1800" dirty="0"/>
          </a:p>
        </p:txBody>
      </p:sp>
      <p:sp>
        <p:nvSpPr>
          <p:cNvPr id="7" name="Text 5"/>
          <p:cNvSpPr/>
          <p:nvPr/>
        </p:nvSpPr>
        <p:spPr>
          <a:xfrm>
            <a:off x="548640" y="1409700"/>
            <a:ext cx="3657600" cy="365760"/>
          </a:xfrm>
          <a:prstGeom prst="rect">
            <a:avLst/>
          </a:prstGeom>
          <a:noFill/>
          <a:ln/>
        </p:spPr>
        <p:txBody>
          <a:bodyPr wrap="square" lIns="0" tIns="0" rIns="0" bIns="0" rtlCol="0" anchor="ctr"/>
          <a:lstStyle/>
          <a:p>
            <a:pPr marL="0" indent="0">
              <a:buNone/>
            </a:pPr>
            <a:r>
              <a:rPr lang="en-US" sz="2000" b="1" dirty="0">
                <a:solidFill>
                  <a:srgbClr val="1B4332"/>
                </a:solidFill>
                <a:latin typeface="Arial" pitchFamily="34" charset="0"/>
                <a:ea typeface="Arial" pitchFamily="34" charset="-122"/>
                <a:cs typeface="Arial" pitchFamily="34" charset="-120"/>
              </a:rPr>
              <a:t>Male Cone</a:t>
            </a:r>
            <a:endParaRPr lang="en-US" sz="2000" dirty="0"/>
          </a:p>
        </p:txBody>
      </p:sp>
      <p:sp>
        <p:nvSpPr>
          <p:cNvPr id="8" name="Text 6"/>
          <p:cNvSpPr/>
          <p:nvPr/>
        </p:nvSpPr>
        <p:spPr>
          <a:xfrm>
            <a:off x="548640" y="1373909"/>
            <a:ext cx="3657600" cy="1371600"/>
          </a:xfrm>
          <a:prstGeom prst="rect">
            <a:avLst/>
          </a:prstGeom>
          <a:noFill/>
          <a:ln/>
        </p:spPr>
        <p:txBody>
          <a:bodyPr wrap="square" lIns="0" tIns="0" rIns="0" bIns="0" rtlCol="0" anchor="ctr"/>
          <a:lstStyle/>
          <a:p>
            <a:pPr marL="0" indent="0">
              <a:buNone/>
            </a:pPr>
            <a:r>
              <a:rPr lang="en-US" sz="1600" dirty="0">
                <a:solidFill>
                  <a:srgbClr val="1A1A1A"/>
                </a:solidFill>
                <a:latin typeface="Arial" pitchFamily="34" charset="0"/>
                <a:ea typeface="Arial" pitchFamily="34" charset="-122"/>
                <a:cs typeface="Arial" pitchFamily="34" charset="-120"/>
              </a:rPr>
              <a:t>• Produces pollen grains</a:t>
            </a:r>
            <a:endParaRPr lang="en-US" sz="1600" dirty="0"/>
          </a:p>
          <a:p>
            <a:pPr marL="0" indent="0">
              <a:buNone/>
            </a:pPr>
            <a:r>
              <a:rPr lang="en-US" sz="1600" dirty="0">
                <a:solidFill>
                  <a:srgbClr val="1A1A1A"/>
                </a:solidFill>
                <a:latin typeface="Arial" pitchFamily="34" charset="0"/>
                <a:ea typeface="Arial" pitchFamily="34" charset="-122"/>
                <a:cs typeface="Arial" pitchFamily="34" charset="-120"/>
              </a:rPr>
              <a:t>• Pollen is like fine yellow dust</a:t>
            </a:r>
            <a:endParaRPr lang="en-US" sz="1600" dirty="0"/>
          </a:p>
          <a:p>
            <a:pPr marL="0" indent="0">
              <a:buNone/>
            </a:pPr>
            <a:r>
              <a:rPr lang="en-US" sz="1600" dirty="0">
                <a:solidFill>
                  <a:srgbClr val="1A1A1A"/>
                </a:solidFill>
                <a:latin typeface="Arial" pitchFamily="34" charset="0"/>
                <a:ea typeface="Arial" pitchFamily="34" charset="-122"/>
                <a:cs typeface="Arial" pitchFamily="34" charset="-120"/>
              </a:rPr>
              <a:t>• Carried by wind to female cone</a:t>
            </a:r>
            <a:endParaRPr lang="en-US" sz="1600" dirty="0"/>
          </a:p>
        </p:txBody>
      </p:sp>
      <p:sp>
        <p:nvSpPr>
          <p:cNvPr id="9" name="Shape 7"/>
          <p:cNvSpPr/>
          <p:nvPr/>
        </p:nvSpPr>
        <p:spPr>
          <a:xfrm>
            <a:off x="4754880" y="802640"/>
            <a:ext cx="4023360" cy="3200400"/>
          </a:xfrm>
          <a:prstGeom prst="roundRect">
            <a:avLst>
              <a:gd name="adj" fmla="val 3429"/>
            </a:avLst>
          </a:prstGeom>
          <a:solidFill>
            <a:srgbClr val="FFFFFF"/>
          </a:solidFill>
          <a:ln/>
          <a:effectLst>
            <a:outerShdw blurRad="101600" dist="38100" dir="8100000" algn="bl" rotWithShape="0">
              <a:srgbClr val="000000">
                <a:alpha val="12000"/>
              </a:srgbClr>
            </a:outerShdw>
          </a:effectLst>
        </p:spPr>
      </p:sp>
      <p:sp>
        <p:nvSpPr>
          <p:cNvPr id="10" name="Shape 8"/>
          <p:cNvSpPr/>
          <p:nvPr/>
        </p:nvSpPr>
        <p:spPr>
          <a:xfrm>
            <a:off x="4754880" y="789940"/>
            <a:ext cx="4023360" cy="640080"/>
          </a:xfrm>
          <a:prstGeom prst="rect">
            <a:avLst/>
          </a:prstGeom>
          <a:solidFill>
            <a:srgbClr val="E76F51"/>
          </a:solidFill>
          <a:ln/>
        </p:spPr>
      </p:sp>
      <p:sp>
        <p:nvSpPr>
          <p:cNvPr id="11" name="Text 9"/>
          <p:cNvSpPr/>
          <p:nvPr/>
        </p:nvSpPr>
        <p:spPr>
          <a:xfrm>
            <a:off x="4754880" y="855980"/>
            <a:ext cx="402336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  FEMALE STRUCTURE</a:t>
            </a:r>
            <a:endParaRPr lang="en-US" sz="1800" dirty="0"/>
          </a:p>
        </p:txBody>
      </p:sp>
      <p:sp>
        <p:nvSpPr>
          <p:cNvPr id="12" name="Text 10"/>
          <p:cNvSpPr/>
          <p:nvPr/>
        </p:nvSpPr>
        <p:spPr>
          <a:xfrm>
            <a:off x="4937760" y="1358900"/>
            <a:ext cx="3657600" cy="365760"/>
          </a:xfrm>
          <a:prstGeom prst="rect">
            <a:avLst/>
          </a:prstGeom>
          <a:noFill/>
          <a:ln/>
        </p:spPr>
        <p:txBody>
          <a:bodyPr wrap="square" lIns="0" tIns="0" rIns="0" bIns="0" rtlCol="0" anchor="ctr"/>
          <a:lstStyle/>
          <a:p>
            <a:pPr marL="0" indent="0">
              <a:buNone/>
            </a:pPr>
            <a:r>
              <a:rPr lang="en-US" sz="2000" b="1" dirty="0">
                <a:solidFill>
                  <a:srgbClr val="1B4332"/>
                </a:solidFill>
                <a:latin typeface="Arial" pitchFamily="34" charset="0"/>
                <a:ea typeface="Arial" pitchFamily="34" charset="-122"/>
                <a:cs typeface="Arial" pitchFamily="34" charset="-120"/>
              </a:rPr>
              <a:t>Female Cone</a:t>
            </a:r>
            <a:endParaRPr lang="en-US" sz="2000" dirty="0"/>
          </a:p>
        </p:txBody>
      </p:sp>
      <p:sp>
        <p:nvSpPr>
          <p:cNvPr id="13" name="Text 11"/>
          <p:cNvSpPr/>
          <p:nvPr/>
        </p:nvSpPr>
        <p:spPr>
          <a:xfrm>
            <a:off x="4963160" y="1305560"/>
            <a:ext cx="4206240" cy="1371600"/>
          </a:xfrm>
          <a:prstGeom prst="rect">
            <a:avLst/>
          </a:prstGeom>
          <a:noFill/>
          <a:ln/>
        </p:spPr>
        <p:txBody>
          <a:bodyPr wrap="square" lIns="0" tIns="0" rIns="0" bIns="0" rtlCol="0" anchor="ctr"/>
          <a:lstStyle/>
          <a:p>
            <a:pPr marL="0" indent="0">
              <a:buNone/>
            </a:pPr>
            <a:r>
              <a:rPr lang="en-US" sz="1600" dirty="0">
                <a:solidFill>
                  <a:srgbClr val="1A1A1A"/>
                </a:solidFill>
                <a:latin typeface="Arial" pitchFamily="34" charset="0"/>
                <a:ea typeface="Arial" pitchFamily="34" charset="-122"/>
                <a:cs typeface="Arial" pitchFamily="34" charset="-120"/>
              </a:rPr>
              <a:t>• Bears ovules</a:t>
            </a:r>
            <a:endParaRPr lang="en-US" sz="1600" dirty="0"/>
          </a:p>
          <a:p>
            <a:pPr marL="0" indent="0">
              <a:buNone/>
            </a:pPr>
            <a:r>
              <a:rPr lang="en-US" sz="1600" dirty="0">
                <a:solidFill>
                  <a:srgbClr val="1A1A1A"/>
                </a:solidFill>
                <a:latin typeface="Arial" pitchFamily="34" charset="0"/>
                <a:ea typeface="Arial" pitchFamily="34" charset="-122"/>
                <a:cs typeface="Arial" pitchFamily="34" charset="-120"/>
              </a:rPr>
              <a:t>• Ovules become seeds after</a:t>
            </a:r>
            <a:r>
              <a:rPr lang="en-US" sz="1600" dirty="0"/>
              <a:t>  </a:t>
            </a:r>
            <a:r>
              <a:rPr lang="en-US" sz="1600" dirty="0">
                <a:solidFill>
                  <a:srgbClr val="1A1A1A"/>
                </a:solidFill>
                <a:latin typeface="Arial" pitchFamily="34" charset="0"/>
                <a:ea typeface="Arial" pitchFamily="34" charset="-122"/>
                <a:cs typeface="Arial" pitchFamily="34" charset="-120"/>
              </a:rPr>
              <a:t>fertilization</a:t>
            </a:r>
            <a:endParaRPr lang="en-US" sz="1600" dirty="0"/>
          </a:p>
          <a:p>
            <a:pPr marL="0" indent="0">
              <a:buNone/>
            </a:pPr>
            <a:r>
              <a:rPr lang="en-US" sz="1600" dirty="0">
                <a:solidFill>
                  <a:srgbClr val="1A1A1A"/>
                </a:solidFill>
                <a:latin typeface="Arial" pitchFamily="34" charset="0"/>
                <a:ea typeface="Arial" pitchFamily="34" charset="-122"/>
                <a:cs typeface="Arial" pitchFamily="34" charset="-120"/>
              </a:rPr>
              <a:t>• Seeds are naked (no fruit)</a:t>
            </a:r>
            <a:endParaRPr lang="en-US" sz="1600" dirty="0"/>
          </a:p>
        </p:txBody>
      </p:sp>
      <p:pic>
        <p:nvPicPr>
          <p:cNvPr id="14" name="Picture 13" descr="The conifer life cycle begins with a mature tree, which is called a sporophyte and is diploid (2n). The tree produces male cones in the lower branches, and female cones in the upper branches. The male cones produce pollen grains that contain two generative (sperm) nuclei and a tube nucleus. When the pollen lands on a female scale, a pollen tube grows toward the female gametophyte, which consists of an ovule containing the megaspore. Upon fertilization, a diploid zygote forms. The resulting seeds are dispersed, and grow into a mature tree, ending the cycle. Both the male and female cone are made up of rows of scales, but the male the female cone is round and wide, and the male cone is long and thin with thinner scales.">
            <a:extLst>
              <a:ext uri="{FF2B5EF4-FFF2-40B4-BE49-F238E27FC236}">
                <a16:creationId xmlns:a16="http://schemas.microsoft.com/office/drawing/2014/main" id="{3F758F2D-E32E-3767-B6D7-0314A7FC5F86}"/>
              </a:ext>
            </a:extLst>
          </p:cNvPr>
          <p:cNvPicPr>
            <a:picLocks noChangeAspect="1"/>
          </p:cNvPicPr>
          <p:nvPr/>
        </p:nvPicPr>
        <p:blipFill>
          <a:blip r:embed="rId3"/>
          <a:srcRect t="1093" r="26762" b="50835"/>
          <a:stretch>
            <a:fillRect/>
          </a:stretch>
        </p:blipFill>
        <p:spPr>
          <a:xfrm>
            <a:off x="802" y="2515870"/>
            <a:ext cx="9143198" cy="262763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8F9F5"/>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B4332"/>
          </a:solidFill>
          <a:ln/>
        </p:spPr>
      </p:sp>
      <p:sp>
        <p:nvSpPr>
          <p:cNvPr id="3" name="Text 1"/>
          <p:cNvSpPr/>
          <p:nvPr/>
        </p:nvSpPr>
        <p:spPr>
          <a:xfrm>
            <a:off x="365760" y="22860"/>
            <a:ext cx="8229600" cy="457200"/>
          </a:xfrm>
          <a:prstGeom prst="rect">
            <a:avLst/>
          </a:prstGeom>
          <a:noFill/>
          <a:ln/>
        </p:spPr>
        <p:txBody>
          <a:bodyPr wrap="square" lIns="0" tIns="0" rIns="0" bIns="0" rtlCol="0" anchor="ctr"/>
          <a:lstStyle/>
          <a:p>
            <a:pPr marL="0" indent="0">
              <a:buNone/>
            </a:pPr>
            <a:r>
              <a:rPr lang="en-US" sz="2600" b="1" dirty="0">
                <a:solidFill>
                  <a:srgbClr val="FFFFFF"/>
                </a:solidFill>
                <a:latin typeface="Arial" pitchFamily="34" charset="0"/>
                <a:ea typeface="Arial" pitchFamily="34" charset="-122"/>
                <a:cs typeface="Arial" pitchFamily="34" charset="-120"/>
              </a:rPr>
              <a:t>What are Angiosperms?</a:t>
            </a:r>
            <a:endParaRPr lang="en-US" sz="2600" dirty="0"/>
          </a:p>
        </p:txBody>
      </p:sp>
      <p:sp>
        <p:nvSpPr>
          <p:cNvPr id="4" name="Shape 2"/>
          <p:cNvSpPr/>
          <p:nvPr/>
        </p:nvSpPr>
        <p:spPr>
          <a:xfrm>
            <a:off x="365760" y="637540"/>
            <a:ext cx="8412480" cy="640080"/>
          </a:xfrm>
          <a:prstGeom prst="roundRect">
            <a:avLst>
              <a:gd name="adj" fmla="val 12000"/>
            </a:avLst>
          </a:prstGeom>
          <a:solidFill>
            <a:srgbClr val="FFFFFF"/>
          </a:solidFill>
          <a:ln/>
          <a:effectLst>
            <a:outerShdw blurRad="101600" dist="38100" dir="8100000" algn="bl" rotWithShape="0">
              <a:srgbClr val="000000">
                <a:alpha val="12000"/>
              </a:srgbClr>
            </a:outerShdw>
          </a:effectLst>
        </p:spPr>
      </p:sp>
      <p:sp>
        <p:nvSpPr>
          <p:cNvPr id="5" name="Text 3"/>
          <p:cNvSpPr/>
          <p:nvPr/>
        </p:nvSpPr>
        <p:spPr>
          <a:xfrm>
            <a:off x="548640" y="454660"/>
            <a:ext cx="8046720" cy="731520"/>
          </a:xfrm>
          <a:prstGeom prst="rect">
            <a:avLst/>
          </a:prstGeom>
          <a:noFill/>
          <a:ln/>
        </p:spPr>
        <p:txBody>
          <a:bodyPr wrap="square" lIns="0" tIns="0" rIns="0" bIns="0" rtlCol="0" anchor="ctr"/>
          <a:lstStyle/>
          <a:p>
            <a:pPr marL="0" indent="0" algn="ctr">
              <a:buNone/>
            </a:pPr>
            <a:r>
              <a:rPr lang="en-US" sz="1800" dirty="0">
                <a:solidFill>
                  <a:srgbClr val="1A1A1A"/>
                </a:solidFill>
                <a:latin typeface="Arial" pitchFamily="34" charset="0"/>
                <a:ea typeface="Arial" pitchFamily="34" charset="-122"/>
                <a:cs typeface="Arial" pitchFamily="34" charset="-120"/>
              </a:rPr>
              <a:t>Angiosperms are flowering plants whose seeds are enclosed inside fruits.</a:t>
            </a:r>
            <a:endParaRPr lang="en-US" sz="1800" dirty="0"/>
          </a:p>
        </p:txBody>
      </p:sp>
      <p:sp>
        <p:nvSpPr>
          <p:cNvPr id="6" name="Shape 4"/>
          <p:cNvSpPr/>
          <p:nvPr/>
        </p:nvSpPr>
        <p:spPr>
          <a:xfrm>
            <a:off x="548640" y="1663700"/>
            <a:ext cx="2834640" cy="2138680"/>
          </a:xfrm>
          <a:prstGeom prst="roundRect">
            <a:avLst>
              <a:gd name="adj" fmla="val 7692"/>
            </a:avLst>
          </a:prstGeom>
          <a:solidFill>
            <a:srgbClr val="D8F3DC"/>
          </a:solidFill>
          <a:ln/>
          <a:effectLst>
            <a:outerShdw blurRad="101600" dist="38100" dir="8100000" algn="bl" rotWithShape="0">
              <a:srgbClr val="000000">
                <a:alpha val="12000"/>
              </a:srgbClr>
            </a:outerShdw>
          </a:effectLst>
        </p:spPr>
      </p:sp>
      <p:sp>
        <p:nvSpPr>
          <p:cNvPr id="8" name="Text 6"/>
          <p:cNvSpPr/>
          <p:nvPr/>
        </p:nvSpPr>
        <p:spPr>
          <a:xfrm>
            <a:off x="775970" y="3691890"/>
            <a:ext cx="2011680" cy="365760"/>
          </a:xfrm>
          <a:prstGeom prst="rect">
            <a:avLst/>
          </a:prstGeom>
          <a:noFill/>
          <a:ln/>
        </p:spPr>
        <p:txBody>
          <a:bodyPr wrap="square" lIns="0" tIns="0" rIns="0" bIns="0" rtlCol="0" anchor="ctr"/>
          <a:lstStyle/>
          <a:p>
            <a:pPr marL="0" indent="0" algn="ctr">
              <a:buNone/>
            </a:pPr>
            <a:r>
              <a:rPr lang="en-US" sz="1600" b="1" dirty="0">
                <a:solidFill>
                  <a:srgbClr val="1B4332"/>
                </a:solidFill>
                <a:latin typeface="Arial" pitchFamily="34" charset="0"/>
                <a:ea typeface="Arial" pitchFamily="34" charset="-122"/>
                <a:cs typeface="Arial" pitchFamily="34" charset="-120"/>
              </a:rPr>
              <a:t>Flower</a:t>
            </a:r>
            <a:endParaRPr lang="en-US" sz="1600" dirty="0"/>
          </a:p>
        </p:txBody>
      </p:sp>
      <p:pic>
        <p:nvPicPr>
          <p:cNvPr id="9" name="Image 0" descr="preencoded.png"/>
          <p:cNvPicPr>
            <a:picLocks noChangeAspect="1"/>
          </p:cNvPicPr>
          <p:nvPr/>
        </p:nvPicPr>
        <p:blipFill>
          <a:blip r:embed="rId3"/>
          <a:stretch>
            <a:fillRect/>
          </a:stretch>
        </p:blipFill>
        <p:spPr>
          <a:xfrm>
            <a:off x="3429000" y="2514600"/>
            <a:ext cx="365760" cy="320040"/>
          </a:xfrm>
          <a:prstGeom prst="rect">
            <a:avLst/>
          </a:prstGeom>
        </p:spPr>
      </p:pic>
      <p:sp>
        <p:nvSpPr>
          <p:cNvPr id="12" name="Text 9"/>
          <p:cNvSpPr/>
          <p:nvPr/>
        </p:nvSpPr>
        <p:spPr>
          <a:xfrm>
            <a:off x="4033520" y="3696970"/>
            <a:ext cx="2011680" cy="365760"/>
          </a:xfrm>
          <a:prstGeom prst="rect">
            <a:avLst/>
          </a:prstGeom>
          <a:noFill/>
          <a:ln/>
        </p:spPr>
        <p:txBody>
          <a:bodyPr wrap="square" lIns="0" tIns="0" rIns="0" bIns="0" rtlCol="0" anchor="ctr"/>
          <a:lstStyle/>
          <a:p>
            <a:pPr marL="0" indent="0" algn="ctr">
              <a:buNone/>
            </a:pPr>
            <a:r>
              <a:rPr lang="en-US" sz="1600" b="1" dirty="0">
                <a:solidFill>
                  <a:srgbClr val="1B4332"/>
                </a:solidFill>
                <a:latin typeface="Arial" pitchFamily="34" charset="0"/>
                <a:ea typeface="Arial" pitchFamily="34" charset="-122"/>
                <a:cs typeface="Arial" pitchFamily="34" charset="-120"/>
              </a:rPr>
              <a:t>Fruit</a:t>
            </a:r>
            <a:endParaRPr lang="en-US" sz="1600" dirty="0"/>
          </a:p>
        </p:txBody>
      </p:sp>
      <p:pic>
        <p:nvPicPr>
          <p:cNvPr id="13" name="Image 1" descr="preencoded.png"/>
          <p:cNvPicPr>
            <a:picLocks noChangeAspect="1"/>
          </p:cNvPicPr>
          <p:nvPr/>
        </p:nvPicPr>
        <p:blipFill>
          <a:blip r:embed="rId3"/>
          <a:stretch>
            <a:fillRect/>
          </a:stretch>
        </p:blipFill>
        <p:spPr>
          <a:xfrm>
            <a:off x="6357620" y="2514600"/>
            <a:ext cx="365760" cy="320040"/>
          </a:xfrm>
          <a:prstGeom prst="rect">
            <a:avLst/>
          </a:prstGeom>
        </p:spPr>
      </p:pic>
      <p:sp>
        <p:nvSpPr>
          <p:cNvPr id="16" name="Text 12"/>
          <p:cNvSpPr/>
          <p:nvPr/>
        </p:nvSpPr>
        <p:spPr>
          <a:xfrm>
            <a:off x="7205980" y="3779520"/>
            <a:ext cx="2011680" cy="365760"/>
          </a:xfrm>
          <a:prstGeom prst="rect">
            <a:avLst/>
          </a:prstGeom>
          <a:noFill/>
          <a:ln/>
        </p:spPr>
        <p:txBody>
          <a:bodyPr wrap="square" lIns="0" tIns="0" rIns="0" bIns="0" rtlCol="0" anchor="ctr"/>
          <a:lstStyle/>
          <a:p>
            <a:pPr marL="0" indent="0" algn="ctr">
              <a:buNone/>
            </a:pPr>
            <a:r>
              <a:rPr lang="en-US" sz="1600" b="1" dirty="0">
                <a:solidFill>
                  <a:srgbClr val="1B4332"/>
                </a:solidFill>
                <a:latin typeface="Arial" pitchFamily="34" charset="0"/>
                <a:ea typeface="Arial" pitchFamily="34" charset="-122"/>
                <a:cs typeface="Arial" pitchFamily="34" charset="-120"/>
              </a:rPr>
              <a:t>Seed</a:t>
            </a:r>
            <a:endParaRPr lang="en-US" sz="1600" dirty="0"/>
          </a:p>
        </p:txBody>
      </p:sp>
      <p:sp>
        <p:nvSpPr>
          <p:cNvPr id="17" name="Text 13"/>
          <p:cNvSpPr/>
          <p:nvPr/>
        </p:nvSpPr>
        <p:spPr>
          <a:xfrm>
            <a:off x="389890" y="4124960"/>
            <a:ext cx="8229600" cy="365760"/>
          </a:xfrm>
          <a:prstGeom prst="rect">
            <a:avLst/>
          </a:prstGeom>
          <a:noFill/>
          <a:ln/>
        </p:spPr>
        <p:txBody>
          <a:bodyPr wrap="square" lIns="0" tIns="0" rIns="0" bIns="0" rtlCol="0" anchor="ctr"/>
          <a:lstStyle/>
          <a:p>
            <a:pPr marL="0" indent="0" algn="ctr">
              <a:buNone/>
            </a:pPr>
            <a:r>
              <a:rPr lang="en-US" sz="1600" dirty="0">
                <a:solidFill>
                  <a:srgbClr val="4A4A4A"/>
                </a:solidFill>
                <a:latin typeface="Arial" pitchFamily="34" charset="0"/>
                <a:ea typeface="Arial" pitchFamily="34" charset="-122"/>
                <a:cs typeface="Arial" pitchFamily="34" charset="-120"/>
              </a:rPr>
              <a:t>Examples •  Pea  •  Mustard  •  Rice  •  Maize  •  Rose</a:t>
            </a:r>
            <a:endParaRPr lang="en-US" sz="1600" dirty="0"/>
          </a:p>
        </p:txBody>
      </p:sp>
      <p:sp>
        <p:nvSpPr>
          <p:cNvPr id="18" name="Shape 14"/>
          <p:cNvSpPr/>
          <p:nvPr/>
        </p:nvSpPr>
        <p:spPr>
          <a:xfrm>
            <a:off x="1371600" y="4457700"/>
            <a:ext cx="6400800" cy="640080"/>
          </a:xfrm>
          <a:prstGeom prst="roundRect">
            <a:avLst>
              <a:gd name="adj" fmla="val 14286"/>
            </a:avLst>
          </a:prstGeom>
          <a:solidFill>
            <a:srgbClr val="1B4332"/>
          </a:solidFill>
          <a:ln/>
        </p:spPr>
      </p:sp>
      <p:sp>
        <p:nvSpPr>
          <p:cNvPr id="19" name="Text 15"/>
          <p:cNvSpPr/>
          <p:nvPr/>
        </p:nvSpPr>
        <p:spPr>
          <a:xfrm>
            <a:off x="1371600" y="4505960"/>
            <a:ext cx="6400800" cy="640080"/>
          </a:xfrm>
          <a:prstGeom prst="rect">
            <a:avLst/>
          </a:prstGeom>
          <a:noFill/>
          <a:ln/>
        </p:spPr>
        <p:txBody>
          <a:bodyPr wrap="square" lIns="0" tIns="0" rIns="0" bIns="0"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Key idea: Seeds are protected inside a fruit!</a:t>
            </a:r>
            <a:endParaRPr lang="en-US" sz="1600" dirty="0"/>
          </a:p>
        </p:txBody>
      </p:sp>
      <p:pic>
        <p:nvPicPr>
          <p:cNvPr id="20" name="Picture 19" descr="Elective Mango Flower Turn Into Mango Stock Photo 2338259791 | Shutterstock">
            <a:extLst>
              <a:ext uri="{FF2B5EF4-FFF2-40B4-BE49-F238E27FC236}">
                <a16:creationId xmlns:a16="http://schemas.microsoft.com/office/drawing/2014/main" id="{EADF98E6-F6EE-9677-7202-1998435C7446}"/>
              </a:ext>
            </a:extLst>
          </p:cNvPr>
          <p:cNvPicPr>
            <a:picLocks noChangeAspect="1"/>
          </p:cNvPicPr>
          <p:nvPr/>
        </p:nvPicPr>
        <p:blipFill>
          <a:blip r:embed="rId4"/>
          <a:srcRect b="9589"/>
          <a:stretch>
            <a:fillRect/>
          </a:stretch>
        </p:blipFill>
        <p:spPr>
          <a:xfrm>
            <a:off x="769620" y="1755429"/>
            <a:ext cx="2522220" cy="1812636"/>
          </a:xfrm>
          <a:prstGeom prst="rect">
            <a:avLst/>
          </a:prstGeom>
        </p:spPr>
      </p:pic>
      <p:sp>
        <p:nvSpPr>
          <p:cNvPr id="22" name="Shape 4">
            <a:extLst>
              <a:ext uri="{FF2B5EF4-FFF2-40B4-BE49-F238E27FC236}">
                <a16:creationId xmlns:a16="http://schemas.microsoft.com/office/drawing/2014/main" id="{3CE8CC58-3034-0796-01BC-4B20A940658F}"/>
              </a:ext>
            </a:extLst>
          </p:cNvPr>
          <p:cNvSpPr/>
          <p:nvPr/>
        </p:nvSpPr>
        <p:spPr>
          <a:xfrm>
            <a:off x="3761740" y="1635760"/>
            <a:ext cx="2595880" cy="2151380"/>
          </a:xfrm>
          <a:prstGeom prst="roundRect">
            <a:avLst>
              <a:gd name="adj" fmla="val 7692"/>
            </a:avLst>
          </a:prstGeom>
          <a:solidFill>
            <a:srgbClr val="D8F3DC"/>
          </a:solidFill>
          <a:ln/>
          <a:effectLst>
            <a:outerShdw blurRad="101600" dist="38100" dir="8100000" algn="bl" rotWithShape="0">
              <a:srgbClr val="000000">
                <a:alpha val="12000"/>
              </a:srgbClr>
            </a:outerShdw>
          </a:effectLst>
        </p:spPr>
      </p:sp>
      <p:pic>
        <p:nvPicPr>
          <p:cNvPr id="24" name="Picture 23">
            <a:extLst>
              <a:ext uri="{FF2B5EF4-FFF2-40B4-BE49-F238E27FC236}">
                <a16:creationId xmlns:a16="http://schemas.microsoft.com/office/drawing/2014/main" id="{32FD15D4-D4D3-5F67-9428-BE216173CCE2}"/>
              </a:ext>
            </a:extLst>
          </p:cNvPr>
          <p:cNvPicPr>
            <a:picLocks noChangeAspect="1"/>
          </p:cNvPicPr>
          <p:nvPr/>
        </p:nvPicPr>
        <p:blipFill>
          <a:blip r:embed="rId5"/>
          <a:stretch>
            <a:fillRect/>
          </a:stretch>
        </p:blipFill>
        <p:spPr>
          <a:xfrm>
            <a:off x="3672840" y="1297940"/>
            <a:ext cx="2832100" cy="2832100"/>
          </a:xfrm>
          <a:prstGeom prst="rect">
            <a:avLst/>
          </a:prstGeom>
        </p:spPr>
      </p:pic>
      <p:pic>
        <p:nvPicPr>
          <p:cNvPr id="25" name="Picture 24" descr="5 Benefits Of Mango Seeds For Skin, Hair, Weight Loss And More - NDTV Food">
            <a:extLst>
              <a:ext uri="{FF2B5EF4-FFF2-40B4-BE49-F238E27FC236}">
                <a16:creationId xmlns:a16="http://schemas.microsoft.com/office/drawing/2014/main" id="{57961D5B-199A-9A36-EC55-CE1472CCFA03}"/>
              </a:ext>
            </a:extLst>
          </p:cNvPr>
          <p:cNvPicPr>
            <a:picLocks noChangeAspect="1"/>
          </p:cNvPicPr>
          <p:nvPr/>
        </p:nvPicPr>
        <p:blipFill>
          <a:blip r:embed="rId6"/>
          <a:srcRect l="2482" r="51777" b="12954"/>
          <a:stretch>
            <a:fillRect/>
          </a:stretch>
        </p:blipFill>
        <p:spPr>
          <a:xfrm>
            <a:off x="6855460" y="1544320"/>
            <a:ext cx="2011680" cy="232283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F8F9F5"/>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B4332"/>
          </a:solidFill>
          <a:ln/>
        </p:spPr>
      </p:sp>
      <p:sp>
        <p:nvSpPr>
          <p:cNvPr id="3" name="Text 1"/>
          <p:cNvSpPr/>
          <p:nvPr/>
        </p:nvSpPr>
        <p:spPr>
          <a:xfrm>
            <a:off x="365760" y="137160"/>
            <a:ext cx="8229600" cy="457200"/>
          </a:xfrm>
          <a:prstGeom prst="rect">
            <a:avLst/>
          </a:prstGeom>
          <a:noFill/>
          <a:ln/>
        </p:spPr>
        <p:txBody>
          <a:bodyPr wrap="square" lIns="0" tIns="0" rIns="0" bIns="0" rtlCol="0" anchor="ctr"/>
          <a:lstStyle/>
          <a:p>
            <a:pPr marL="0" indent="0">
              <a:buNone/>
            </a:pPr>
            <a:r>
              <a:rPr lang="en-US" sz="2200" b="1" dirty="0">
                <a:solidFill>
                  <a:srgbClr val="FFFFFF"/>
                </a:solidFill>
                <a:latin typeface="Arial" pitchFamily="34" charset="0"/>
                <a:ea typeface="Arial" pitchFamily="34" charset="-122"/>
                <a:cs typeface="Arial" pitchFamily="34" charset="-120"/>
              </a:rPr>
              <a:t>Gymnosperm vs Angiosperm Reproduction</a:t>
            </a:r>
            <a:endParaRPr lang="en-US" sz="2200" dirty="0"/>
          </a:p>
        </p:txBody>
      </p:sp>
      <p:sp>
        <p:nvSpPr>
          <p:cNvPr id="4" name="Shape 2"/>
          <p:cNvSpPr/>
          <p:nvPr/>
        </p:nvSpPr>
        <p:spPr>
          <a:xfrm>
            <a:off x="365760" y="914400"/>
            <a:ext cx="2743200" cy="502920"/>
          </a:xfrm>
          <a:prstGeom prst="rect">
            <a:avLst/>
          </a:prstGeom>
          <a:solidFill>
            <a:srgbClr val="2D6A4F"/>
          </a:solidFill>
          <a:ln/>
        </p:spPr>
      </p:sp>
      <p:sp>
        <p:nvSpPr>
          <p:cNvPr id="5" name="Text 3"/>
          <p:cNvSpPr/>
          <p:nvPr/>
        </p:nvSpPr>
        <p:spPr>
          <a:xfrm>
            <a:off x="365760" y="914400"/>
            <a:ext cx="2743200"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Feature</a:t>
            </a:r>
            <a:endParaRPr lang="en-US" sz="1400" dirty="0"/>
          </a:p>
        </p:txBody>
      </p:sp>
      <p:sp>
        <p:nvSpPr>
          <p:cNvPr id="6" name="Shape 4"/>
          <p:cNvSpPr/>
          <p:nvPr/>
        </p:nvSpPr>
        <p:spPr>
          <a:xfrm>
            <a:off x="3108960" y="914400"/>
            <a:ext cx="2834640" cy="502920"/>
          </a:xfrm>
          <a:prstGeom prst="rect">
            <a:avLst/>
          </a:prstGeom>
          <a:solidFill>
            <a:srgbClr val="F4A261"/>
          </a:solidFill>
          <a:ln/>
        </p:spPr>
      </p:sp>
      <p:sp>
        <p:nvSpPr>
          <p:cNvPr id="7" name="Text 5"/>
          <p:cNvSpPr/>
          <p:nvPr/>
        </p:nvSpPr>
        <p:spPr>
          <a:xfrm>
            <a:off x="3108960" y="914400"/>
            <a:ext cx="2834640" cy="502920"/>
          </a:xfrm>
          <a:prstGeom prst="rect">
            <a:avLst/>
          </a:prstGeom>
          <a:noFill/>
          <a:ln/>
        </p:spPr>
        <p:txBody>
          <a:bodyPr wrap="square" lIns="0" tIns="0" rIns="0" bIns="0" rtlCol="0" anchor="ctr"/>
          <a:lstStyle/>
          <a:p>
            <a:pPr marL="0" indent="0" algn="ctr">
              <a:buNone/>
            </a:pPr>
            <a:r>
              <a:rPr lang="en-US" sz="1400" b="1" dirty="0">
                <a:solidFill>
                  <a:srgbClr val="1A1A1A"/>
                </a:solidFill>
                <a:latin typeface="Arial" pitchFamily="34" charset="0"/>
                <a:ea typeface="Arial" pitchFamily="34" charset="-122"/>
                <a:cs typeface="Arial" pitchFamily="34" charset="-120"/>
              </a:rPr>
              <a:t>Gymnosperms</a:t>
            </a:r>
            <a:endParaRPr lang="en-US" sz="1400" dirty="0"/>
          </a:p>
        </p:txBody>
      </p:sp>
      <p:sp>
        <p:nvSpPr>
          <p:cNvPr id="8" name="Shape 6"/>
          <p:cNvSpPr/>
          <p:nvPr/>
        </p:nvSpPr>
        <p:spPr>
          <a:xfrm>
            <a:off x="5943600" y="914400"/>
            <a:ext cx="2834640" cy="502920"/>
          </a:xfrm>
          <a:prstGeom prst="rect">
            <a:avLst/>
          </a:prstGeom>
          <a:solidFill>
            <a:srgbClr val="74C69D"/>
          </a:solidFill>
          <a:ln/>
        </p:spPr>
      </p:sp>
      <p:sp>
        <p:nvSpPr>
          <p:cNvPr id="9" name="Text 7"/>
          <p:cNvSpPr/>
          <p:nvPr/>
        </p:nvSpPr>
        <p:spPr>
          <a:xfrm>
            <a:off x="5943600" y="914400"/>
            <a:ext cx="2834640" cy="502920"/>
          </a:xfrm>
          <a:prstGeom prst="rect">
            <a:avLst/>
          </a:prstGeom>
          <a:noFill/>
          <a:ln/>
        </p:spPr>
        <p:txBody>
          <a:bodyPr wrap="square" lIns="0" tIns="0" rIns="0" bIns="0" rtlCol="0" anchor="ctr"/>
          <a:lstStyle/>
          <a:p>
            <a:pPr marL="0" indent="0" algn="ctr">
              <a:buNone/>
            </a:pPr>
            <a:r>
              <a:rPr lang="en-US" sz="1400" b="1" dirty="0">
                <a:solidFill>
                  <a:srgbClr val="1A1A1A"/>
                </a:solidFill>
                <a:latin typeface="Arial" pitchFamily="34" charset="0"/>
                <a:ea typeface="Arial" pitchFamily="34" charset="-122"/>
                <a:cs typeface="Arial" pitchFamily="34" charset="-120"/>
              </a:rPr>
              <a:t>Angiosperms</a:t>
            </a:r>
            <a:endParaRPr lang="en-US" sz="1400" dirty="0"/>
          </a:p>
        </p:txBody>
      </p:sp>
      <p:sp>
        <p:nvSpPr>
          <p:cNvPr id="10" name="Shape 8"/>
          <p:cNvSpPr/>
          <p:nvPr/>
        </p:nvSpPr>
        <p:spPr>
          <a:xfrm>
            <a:off x="365760" y="1417320"/>
            <a:ext cx="2743200" cy="502920"/>
          </a:xfrm>
          <a:prstGeom prst="rect">
            <a:avLst/>
          </a:prstGeom>
          <a:solidFill>
            <a:srgbClr val="FFFFFF"/>
          </a:solidFill>
          <a:ln/>
        </p:spPr>
      </p:sp>
      <p:sp>
        <p:nvSpPr>
          <p:cNvPr id="11" name="Text 9"/>
          <p:cNvSpPr/>
          <p:nvPr/>
        </p:nvSpPr>
        <p:spPr>
          <a:xfrm>
            <a:off x="457200" y="1417320"/>
            <a:ext cx="2560320" cy="502920"/>
          </a:xfrm>
          <a:prstGeom prst="rect">
            <a:avLst/>
          </a:prstGeom>
          <a:noFill/>
          <a:ln/>
        </p:spPr>
        <p:txBody>
          <a:bodyPr wrap="square" lIns="0" tIns="0" rIns="0" bIns="0" rtlCol="0" anchor="ctr"/>
          <a:lstStyle/>
          <a:p>
            <a:pPr marL="0" indent="0">
              <a:buNone/>
            </a:pPr>
            <a:r>
              <a:rPr lang="en-US" sz="1300" b="1" dirty="0">
                <a:solidFill>
                  <a:srgbClr val="1A1A1A"/>
                </a:solidFill>
                <a:latin typeface="Arial" pitchFamily="34" charset="0"/>
                <a:ea typeface="Arial" pitchFamily="34" charset="-122"/>
                <a:cs typeface="Arial" pitchFamily="34" charset="-120"/>
              </a:rPr>
              <a:t>Reproductive structure</a:t>
            </a:r>
            <a:endParaRPr lang="en-US" sz="1300" dirty="0"/>
          </a:p>
        </p:txBody>
      </p:sp>
      <p:sp>
        <p:nvSpPr>
          <p:cNvPr id="12" name="Shape 10"/>
          <p:cNvSpPr/>
          <p:nvPr/>
        </p:nvSpPr>
        <p:spPr>
          <a:xfrm>
            <a:off x="3108960" y="1417320"/>
            <a:ext cx="2834640" cy="502920"/>
          </a:xfrm>
          <a:prstGeom prst="rect">
            <a:avLst/>
          </a:prstGeom>
          <a:solidFill>
            <a:srgbClr val="FFFFFF"/>
          </a:solidFill>
          <a:ln/>
        </p:spPr>
      </p:sp>
      <p:sp>
        <p:nvSpPr>
          <p:cNvPr id="13" name="Text 11"/>
          <p:cNvSpPr/>
          <p:nvPr/>
        </p:nvSpPr>
        <p:spPr>
          <a:xfrm>
            <a:off x="3200400" y="1417320"/>
            <a:ext cx="2651760" cy="502920"/>
          </a:xfrm>
          <a:prstGeom prst="rect">
            <a:avLst/>
          </a:prstGeom>
          <a:noFill/>
          <a:ln/>
        </p:spPr>
        <p:txBody>
          <a:bodyPr wrap="square" lIns="0" tIns="0" rIns="0" bIns="0" rtlCol="0" anchor="ctr"/>
          <a:lstStyle/>
          <a:p>
            <a:pPr marL="0" indent="0" algn="ctr">
              <a:buNone/>
            </a:pPr>
            <a:r>
              <a:rPr lang="en-US" sz="1300" dirty="0">
                <a:solidFill>
                  <a:srgbClr val="1A1A1A"/>
                </a:solidFill>
                <a:latin typeface="Arial" pitchFamily="34" charset="0"/>
                <a:ea typeface="Arial" pitchFamily="34" charset="-122"/>
                <a:cs typeface="Arial" pitchFamily="34" charset="-120"/>
              </a:rPr>
              <a:t>Cones</a:t>
            </a:r>
            <a:endParaRPr lang="en-US" sz="1300" dirty="0"/>
          </a:p>
        </p:txBody>
      </p:sp>
      <p:sp>
        <p:nvSpPr>
          <p:cNvPr id="14" name="Shape 12"/>
          <p:cNvSpPr/>
          <p:nvPr/>
        </p:nvSpPr>
        <p:spPr>
          <a:xfrm>
            <a:off x="5943600" y="1417320"/>
            <a:ext cx="2834640" cy="502920"/>
          </a:xfrm>
          <a:prstGeom prst="rect">
            <a:avLst/>
          </a:prstGeom>
          <a:solidFill>
            <a:srgbClr val="FFFFFF"/>
          </a:solidFill>
          <a:ln/>
        </p:spPr>
      </p:sp>
      <p:sp>
        <p:nvSpPr>
          <p:cNvPr id="15" name="Text 13"/>
          <p:cNvSpPr/>
          <p:nvPr/>
        </p:nvSpPr>
        <p:spPr>
          <a:xfrm>
            <a:off x="6035040" y="1417320"/>
            <a:ext cx="2651760" cy="502920"/>
          </a:xfrm>
          <a:prstGeom prst="rect">
            <a:avLst/>
          </a:prstGeom>
          <a:noFill/>
          <a:ln/>
        </p:spPr>
        <p:txBody>
          <a:bodyPr wrap="square" lIns="0" tIns="0" rIns="0" bIns="0" rtlCol="0" anchor="ctr"/>
          <a:lstStyle/>
          <a:p>
            <a:pPr marL="0" indent="0" algn="ctr">
              <a:buNone/>
            </a:pPr>
            <a:r>
              <a:rPr lang="en-US" sz="1300" dirty="0">
                <a:solidFill>
                  <a:srgbClr val="1A1A1A"/>
                </a:solidFill>
                <a:latin typeface="Arial" pitchFamily="34" charset="0"/>
                <a:ea typeface="Arial" pitchFamily="34" charset="-122"/>
                <a:cs typeface="Arial" pitchFamily="34" charset="-120"/>
              </a:rPr>
              <a:t>Flowers</a:t>
            </a:r>
            <a:endParaRPr lang="en-US" sz="1300" dirty="0"/>
          </a:p>
        </p:txBody>
      </p:sp>
      <p:sp>
        <p:nvSpPr>
          <p:cNvPr id="16" name="Shape 14"/>
          <p:cNvSpPr/>
          <p:nvPr/>
        </p:nvSpPr>
        <p:spPr>
          <a:xfrm>
            <a:off x="365760" y="1920240"/>
            <a:ext cx="2743200" cy="502920"/>
          </a:xfrm>
          <a:prstGeom prst="rect">
            <a:avLst/>
          </a:prstGeom>
          <a:solidFill>
            <a:srgbClr val="D8F3DC"/>
          </a:solidFill>
          <a:ln/>
        </p:spPr>
      </p:sp>
      <p:sp>
        <p:nvSpPr>
          <p:cNvPr id="17" name="Text 15"/>
          <p:cNvSpPr/>
          <p:nvPr/>
        </p:nvSpPr>
        <p:spPr>
          <a:xfrm>
            <a:off x="457200" y="1920240"/>
            <a:ext cx="2560320" cy="502920"/>
          </a:xfrm>
          <a:prstGeom prst="rect">
            <a:avLst/>
          </a:prstGeom>
          <a:noFill/>
          <a:ln/>
        </p:spPr>
        <p:txBody>
          <a:bodyPr wrap="square" lIns="0" tIns="0" rIns="0" bIns="0" rtlCol="0" anchor="ctr"/>
          <a:lstStyle/>
          <a:p>
            <a:pPr marL="0" indent="0">
              <a:buNone/>
            </a:pPr>
            <a:r>
              <a:rPr lang="en-US" sz="1300" b="1" dirty="0">
                <a:solidFill>
                  <a:srgbClr val="1A1A1A"/>
                </a:solidFill>
                <a:latin typeface="Arial" pitchFamily="34" charset="0"/>
                <a:ea typeface="Arial" pitchFamily="34" charset="-122"/>
                <a:cs typeface="Arial" pitchFamily="34" charset="-120"/>
              </a:rPr>
              <a:t>Male structure</a:t>
            </a:r>
            <a:endParaRPr lang="en-US" sz="1300" dirty="0"/>
          </a:p>
        </p:txBody>
      </p:sp>
      <p:sp>
        <p:nvSpPr>
          <p:cNvPr id="18" name="Shape 16"/>
          <p:cNvSpPr/>
          <p:nvPr/>
        </p:nvSpPr>
        <p:spPr>
          <a:xfrm>
            <a:off x="3108960" y="1920240"/>
            <a:ext cx="2834640" cy="502920"/>
          </a:xfrm>
          <a:prstGeom prst="rect">
            <a:avLst/>
          </a:prstGeom>
          <a:solidFill>
            <a:srgbClr val="D8F3DC"/>
          </a:solidFill>
          <a:ln/>
        </p:spPr>
      </p:sp>
      <p:sp>
        <p:nvSpPr>
          <p:cNvPr id="19" name="Text 17"/>
          <p:cNvSpPr/>
          <p:nvPr/>
        </p:nvSpPr>
        <p:spPr>
          <a:xfrm>
            <a:off x="3200400" y="1920240"/>
            <a:ext cx="2651760" cy="502920"/>
          </a:xfrm>
          <a:prstGeom prst="rect">
            <a:avLst/>
          </a:prstGeom>
          <a:noFill/>
          <a:ln/>
        </p:spPr>
        <p:txBody>
          <a:bodyPr wrap="square" lIns="0" tIns="0" rIns="0" bIns="0" rtlCol="0" anchor="ctr"/>
          <a:lstStyle/>
          <a:p>
            <a:pPr marL="0" indent="0" algn="ctr">
              <a:buNone/>
            </a:pPr>
            <a:r>
              <a:rPr lang="en-US" sz="1300" dirty="0">
                <a:solidFill>
                  <a:srgbClr val="1A1A1A"/>
                </a:solidFill>
                <a:latin typeface="Arial" pitchFamily="34" charset="0"/>
                <a:ea typeface="Arial" pitchFamily="34" charset="-122"/>
                <a:cs typeface="Arial" pitchFamily="34" charset="-120"/>
              </a:rPr>
              <a:t>Male cone</a:t>
            </a:r>
            <a:endParaRPr lang="en-US" sz="1300" dirty="0"/>
          </a:p>
        </p:txBody>
      </p:sp>
      <p:sp>
        <p:nvSpPr>
          <p:cNvPr id="20" name="Shape 18"/>
          <p:cNvSpPr/>
          <p:nvPr/>
        </p:nvSpPr>
        <p:spPr>
          <a:xfrm>
            <a:off x="5943600" y="1920240"/>
            <a:ext cx="2834640" cy="502920"/>
          </a:xfrm>
          <a:prstGeom prst="rect">
            <a:avLst/>
          </a:prstGeom>
          <a:solidFill>
            <a:srgbClr val="D8F3DC"/>
          </a:solidFill>
          <a:ln/>
        </p:spPr>
      </p:sp>
      <p:sp>
        <p:nvSpPr>
          <p:cNvPr id="21" name="Text 19"/>
          <p:cNvSpPr/>
          <p:nvPr/>
        </p:nvSpPr>
        <p:spPr>
          <a:xfrm>
            <a:off x="6035040" y="1920240"/>
            <a:ext cx="2651760" cy="502920"/>
          </a:xfrm>
          <a:prstGeom prst="rect">
            <a:avLst/>
          </a:prstGeom>
          <a:noFill/>
          <a:ln/>
        </p:spPr>
        <p:txBody>
          <a:bodyPr wrap="square" lIns="0" tIns="0" rIns="0" bIns="0" rtlCol="0" anchor="ctr"/>
          <a:lstStyle/>
          <a:p>
            <a:pPr marL="0" indent="0" algn="ctr">
              <a:buNone/>
            </a:pPr>
            <a:r>
              <a:rPr lang="en-US" sz="1300" dirty="0">
                <a:solidFill>
                  <a:srgbClr val="1A1A1A"/>
                </a:solidFill>
                <a:latin typeface="Arial" pitchFamily="34" charset="0"/>
                <a:ea typeface="Arial" pitchFamily="34" charset="-122"/>
                <a:cs typeface="Arial" pitchFamily="34" charset="-120"/>
              </a:rPr>
              <a:t>Stamen</a:t>
            </a:r>
            <a:endParaRPr lang="en-US" sz="1300" dirty="0"/>
          </a:p>
        </p:txBody>
      </p:sp>
      <p:sp>
        <p:nvSpPr>
          <p:cNvPr id="22" name="Shape 20"/>
          <p:cNvSpPr/>
          <p:nvPr/>
        </p:nvSpPr>
        <p:spPr>
          <a:xfrm>
            <a:off x="365760" y="2423160"/>
            <a:ext cx="2743200" cy="502920"/>
          </a:xfrm>
          <a:prstGeom prst="rect">
            <a:avLst/>
          </a:prstGeom>
          <a:solidFill>
            <a:srgbClr val="FFFFFF"/>
          </a:solidFill>
          <a:ln/>
        </p:spPr>
      </p:sp>
      <p:sp>
        <p:nvSpPr>
          <p:cNvPr id="23" name="Text 21"/>
          <p:cNvSpPr/>
          <p:nvPr/>
        </p:nvSpPr>
        <p:spPr>
          <a:xfrm>
            <a:off x="457200" y="2423160"/>
            <a:ext cx="2560320" cy="502920"/>
          </a:xfrm>
          <a:prstGeom prst="rect">
            <a:avLst/>
          </a:prstGeom>
          <a:noFill/>
          <a:ln/>
        </p:spPr>
        <p:txBody>
          <a:bodyPr wrap="square" lIns="0" tIns="0" rIns="0" bIns="0" rtlCol="0" anchor="ctr"/>
          <a:lstStyle/>
          <a:p>
            <a:pPr marL="0" indent="0">
              <a:buNone/>
            </a:pPr>
            <a:r>
              <a:rPr lang="en-US" sz="1300" b="1" dirty="0">
                <a:solidFill>
                  <a:srgbClr val="1A1A1A"/>
                </a:solidFill>
                <a:latin typeface="Arial" pitchFamily="34" charset="0"/>
                <a:ea typeface="Arial" pitchFamily="34" charset="-122"/>
                <a:cs typeface="Arial" pitchFamily="34" charset="-120"/>
              </a:rPr>
              <a:t>Female structure</a:t>
            </a:r>
            <a:endParaRPr lang="en-US" sz="1300" dirty="0"/>
          </a:p>
        </p:txBody>
      </p:sp>
      <p:sp>
        <p:nvSpPr>
          <p:cNvPr id="24" name="Shape 22"/>
          <p:cNvSpPr/>
          <p:nvPr/>
        </p:nvSpPr>
        <p:spPr>
          <a:xfrm>
            <a:off x="3108960" y="2423160"/>
            <a:ext cx="2834640" cy="502920"/>
          </a:xfrm>
          <a:prstGeom prst="rect">
            <a:avLst/>
          </a:prstGeom>
          <a:solidFill>
            <a:srgbClr val="FFFFFF"/>
          </a:solidFill>
          <a:ln/>
        </p:spPr>
      </p:sp>
      <p:sp>
        <p:nvSpPr>
          <p:cNvPr id="25" name="Text 23"/>
          <p:cNvSpPr/>
          <p:nvPr/>
        </p:nvSpPr>
        <p:spPr>
          <a:xfrm>
            <a:off x="3200400" y="2423160"/>
            <a:ext cx="2651760" cy="502920"/>
          </a:xfrm>
          <a:prstGeom prst="rect">
            <a:avLst/>
          </a:prstGeom>
          <a:noFill/>
          <a:ln/>
        </p:spPr>
        <p:txBody>
          <a:bodyPr wrap="square" lIns="0" tIns="0" rIns="0" bIns="0" rtlCol="0" anchor="ctr"/>
          <a:lstStyle/>
          <a:p>
            <a:pPr marL="0" indent="0" algn="ctr">
              <a:buNone/>
            </a:pPr>
            <a:r>
              <a:rPr lang="en-US" sz="1300" dirty="0">
                <a:solidFill>
                  <a:srgbClr val="1A1A1A"/>
                </a:solidFill>
                <a:latin typeface="Arial" pitchFamily="34" charset="0"/>
                <a:ea typeface="Arial" pitchFamily="34" charset="-122"/>
                <a:cs typeface="Arial" pitchFamily="34" charset="-120"/>
              </a:rPr>
              <a:t>Female cone</a:t>
            </a:r>
            <a:endParaRPr lang="en-US" sz="1300" dirty="0"/>
          </a:p>
        </p:txBody>
      </p:sp>
      <p:sp>
        <p:nvSpPr>
          <p:cNvPr id="26" name="Shape 24"/>
          <p:cNvSpPr/>
          <p:nvPr/>
        </p:nvSpPr>
        <p:spPr>
          <a:xfrm>
            <a:off x="5943600" y="2423160"/>
            <a:ext cx="2834640" cy="502920"/>
          </a:xfrm>
          <a:prstGeom prst="rect">
            <a:avLst/>
          </a:prstGeom>
          <a:solidFill>
            <a:srgbClr val="FFFFFF"/>
          </a:solidFill>
          <a:ln/>
        </p:spPr>
      </p:sp>
      <p:sp>
        <p:nvSpPr>
          <p:cNvPr id="27" name="Text 25"/>
          <p:cNvSpPr/>
          <p:nvPr/>
        </p:nvSpPr>
        <p:spPr>
          <a:xfrm>
            <a:off x="6035040" y="2423160"/>
            <a:ext cx="2651760" cy="502920"/>
          </a:xfrm>
          <a:prstGeom prst="rect">
            <a:avLst/>
          </a:prstGeom>
          <a:noFill/>
          <a:ln/>
        </p:spPr>
        <p:txBody>
          <a:bodyPr wrap="square" lIns="0" tIns="0" rIns="0" bIns="0" rtlCol="0" anchor="ctr"/>
          <a:lstStyle/>
          <a:p>
            <a:pPr marL="0" indent="0" algn="ctr">
              <a:buNone/>
            </a:pPr>
            <a:r>
              <a:rPr lang="en-US" sz="1300" dirty="0">
                <a:solidFill>
                  <a:srgbClr val="1A1A1A"/>
                </a:solidFill>
                <a:latin typeface="Arial" pitchFamily="34" charset="0"/>
                <a:ea typeface="Arial" pitchFamily="34" charset="-122"/>
                <a:cs typeface="Arial" pitchFamily="34" charset="-120"/>
              </a:rPr>
              <a:t>Pistil / Carpel</a:t>
            </a:r>
            <a:endParaRPr lang="en-US" sz="1300" dirty="0"/>
          </a:p>
        </p:txBody>
      </p:sp>
      <p:sp>
        <p:nvSpPr>
          <p:cNvPr id="28" name="Shape 26"/>
          <p:cNvSpPr/>
          <p:nvPr/>
        </p:nvSpPr>
        <p:spPr>
          <a:xfrm>
            <a:off x="365760" y="2926080"/>
            <a:ext cx="2743200" cy="502920"/>
          </a:xfrm>
          <a:prstGeom prst="rect">
            <a:avLst/>
          </a:prstGeom>
          <a:solidFill>
            <a:srgbClr val="D8F3DC"/>
          </a:solidFill>
          <a:ln/>
        </p:spPr>
      </p:sp>
      <p:sp>
        <p:nvSpPr>
          <p:cNvPr id="29" name="Text 27"/>
          <p:cNvSpPr/>
          <p:nvPr/>
        </p:nvSpPr>
        <p:spPr>
          <a:xfrm>
            <a:off x="457200" y="2926080"/>
            <a:ext cx="2560320" cy="502920"/>
          </a:xfrm>
          <a:prstGeom prst="rect">
            <a:avLst/>
          </a:prstGeom>
          <a:noFill/>
          <a:ln/>
        </p:spPr>
        <p:txBody>
          <a:bodyPr wrap="square" lIns="0" tIns="0" rIns="0" bIns="0" rtlCol="0" anchor="ctr"/>
          <a:lstStyle/>
          <a:p>
            <a:pPr marL="0" indent="0">
              <a:buNone/>
            </a:pPr>
            <a:r>
              <a:rPr lang="en-US" sz="1300" b="1" dirty="0">
                <a:solidFill>
                  <a:srgbClr val="1A1A1A"/>
                </a:solidFill>
                <a:latin typeface="Arial" pitchFamily="34" charset="0"/>
                <a:ea typeface="Arial" pitchFamily="34" charset="-122"/>
                <a:cs typeface="Arial" pitchFamily="34" charset="-120"/>
              </a:rPr>
              <a:t>Seed</a:t>
            </a:r>
            <a:endParaRPr lang="en-US" sz="1300" dirty="0"/>
          </a:p>
        </p:txBody>
      </p:sp>
      <p:sp>
        <p:nvSpPr>
          <p:cNvPr id="30" name="Shape 28"/>
          <p:cNvSpPr/>
          <p:nvPr/>
        </p:nvSpPr>
        <p:spPr>
          <a:xfrm>
            <a:off x="3108960" y="2926080"/>
            <a:ext cx="2834640" cy="502920"/>
          </a:xfrm>
          <a:prstGeom prst="rect">
            <a:avLst/>
          </a:prstGeom>
          <a:solidFill>
            <a:srgbClr val="D8F3DC"/>
          </a:solidFill>
          <a:ln/>
        </p:spPr>
      </p:sp>
      <p:sp>
        <p:nvSpPr>
          <p:cNvPr id="31" name="Text 29"/>
          <p:cNvSpPr/>
          <p:nvPr/>
        </p:nvSpPr>
        <p:spPr>
          <a:xfrm>
            <a:off x="3200400" y="2926080"/>
            <a:ext cx="2651760" cy="502920"/>
          </a:xfrm>
          <a:prstGeom prst="rect">
            <a:avLst/>
          </a:prstGeom>
          <a:noFill/>
          <a:ln/>
        </p:spPr>
        <p:txBody>
          <a:bodyPr wrap="square" lIns="0" tIns="0" rIns="0" bIns="0" rtlCol="0" anchor="ctr"/>
          <a:lstStyle/>
          <a:p>
            <a:pPr marL="0" indent="0" algn="ctr">
              <a:buNone/>
            </a:pPr>
            <a:r>
              <a:rPr lang="en-US" sz="1300" dirty="0">
                <a:solidFill>
                  <a:srgbClr val="1A1A1A"/>
                </a:solidFill>
                <a:latin typeface="Arial" pitchFamily="34" charset="0"/>
                <a:ea typeface="Arial" pitchFamily="34" charset="-122"/>
                <a:cs typeface="Arial" pitchFamily="34" charset="-120"/>
              </a:rPr>
              <a:t>Naked</a:t>
            </a:r>
            <a:endParaRPr lang="en-US" sz="1300" dirty="0"/>
          </a:p>
        </p:txBody>
      </p:sp>
      <p:sp>
        <p:nvSpPr>
          <p:cNvPr id="32" name="Shape 30"/>
          <p:cNvSpPr/>
          <p:nvPr/>
        </p:nvSpPr>
        <p:spPr>
          <a:xfrm>
            <a:off x="5943600" y="2926080"/>
            <a:ext cx="2834640" cy="502920"/>
          </a:xfrm>
          <a:prstGeom prst="rect">
            <a:avLst/>
          </a:prstGeom>
          <a:solidFill>
            <a:srgbClr val="D8F3DC"/>
          </a:solidFill>
          <a:ln/>
        </p:spPr>
      </p:sp>
      <p:sp>
        <p:nvSpPr>
          <p:cNvPr id="33" name="Text 31"/>
          <p:cNvSpPr/>
          <p:nvPr/>
        </p:nvSpPr>
        <p:spPr>
          <a:xfrm>
            <a:off x="6035040" y="2926080"/>
            <a:ext cx="2651760" cy="502920"/>
          </a:xfrm>
          <a:prstGeom prst="rect">
            <a:avLst/>
          </a:prstGeom>
          <a:noFill/>
          <a:ln/>
        </p:spPr>
        <p:txBody>
          <a:bodyPr wrap="square" lIns="0" tIns="0" rIns="0" bIns="0" rtlCol="0" anchor="ctr"/>
          <a:lstStyle/>
          <a:p>
            <a:pPr marL="0" indent="0" algn="ctr">
              <a:buNone/>
            </a:pPr>
            <a:r>
              <a:rPr lang="en-US" sz="1300" dirty="0">
                <a:solidFill>
                  <a:srgbClr val="1A1A1A"/>
                </a:solidFill>
                <a:latin typeface="Arial" pitchFamily="34" charset="0"/>
                <a:ea typeface="Arial" pitchFamily="34" charset="-122"/>
                <a:cs typeface="Arial" pitchFamily="34" charset="-120"/>
              </a:rPr>
              <a:t>Enclosed in fruit</a:t>
            </a:r>
            <a:endParaRPr lang="en-US" sz="1300" dirty="0"/>
          </a:p>
        </p:txBody>
      </p:sp>
      <p:sp>
        <p:nvSpPr>
          <p:cNvPr id="34" name="Shape 32"/>
          <p:cNvSpPr/>
          <p:nvPr/>
        </p:nvSpPr>
        <p:spPr>
          <a:xfrm>
            <a:off x="365760" y="3429000"/>
            <a:ext cx="2743200" cy="502920"/>
          </a:xfrm>
          <a:prstGeom prst="rect">
            <a:avLst/>
          </a:prstGeom>
          <a:solidFill>
            <a:srgbClr val="FFFFFF"/>
          </a:solidFill>
          <a:ln/>
        </p:spPr>
      </p:sp>
      <p:sp>
        <p:nvSpPr>
          <p:cNvPr id="35" name="Text 33"/>
          <p:cNvSpPr/>
          <p:nvPr/>
        </p:nvSpPr>
        <p:spPr>
          <a:xfrm>
            <a:off x="457200" y="3429000"/>
            <a:ext cx="2560320" cy="502920"/>
          </a:xfrm>
          <a:prstGeom prst="rect">
            <a:avLst/>
          </a:prstGeom>
          <a:noFill/>
          <a:ln/>
        </p:spPr>
        <p:txBody>
          <a:bodyPr wrap="square" lIns="0" tIns="0" rIns="0" bIns="0" rtlCol="0" anchor="ctr"/>
          <a:lstStyle/>
          <a:p>
            <a:pPr marL="0" indent="0">
              <a:buNone/>
            </a:pPr>
            <a:r>
              <a:rPr lang="en-US" sz="1300" b="1" dirty="0">
                <a:solidFill>
                  <a:srgbClr val="1A1A1A"/>
                </a:solidFill>
                <a:latin typeface="Arial" pitchFamily="34" charset="0"/>
                <a:ea typeface="Arial" pitchFamily="34" charset="-122"/>
                <a:cs typeface="Arial" pitchFamily="34" charset="-120"/>
              </a:rPr>
              <a:t>Example</a:t>
            </a:r>
            <a:endParaRPr lang="en-US" sz="1300" dirty="0"/>
          </a:p>
        </p:txBody>
      </p:sp>
      <p:sp>
        <p:nvSpPr>
          <p:cNvPr id="36" name="Shape 34"/>
          <p:cNvSpPr/>
          <p:nvPr/>
        </p:nvSpPr>
        <p:spPr>
          <a:xfrm>
            <a:off x="3108960" y="3429000"/>
            <a:ext cx="2834640" cy="502920"/>
          </a:xfrm>
          <a:prstGeom prst="rect">
            <a:avLst/>
          </a:prstGeom>
          <a:solidFill>
            <a:srgbClr val="FFFFFF"/>
          </a:solidFill>
          <a:ln/>
        </p:spPr>
      </p:sp>
      <p:sp>
        <p:nvSpPr>
          <p:cNvPr id="37" name="Text 35"/>
          <p:cNvSpPr/>
          <p:nvPr/>
        </p:nvSpPr>
        <p:spPr>
          <a:xfrm>
            <a:off x="3200400" y="3429000"/>
            <a:ext cx="2651760" cy="502920"/>
          </a:xfrm>
          <a:prstGeom prst="rect">
            <a:avLst/>
          </a:prstGeom>
          <a:noFill/>
          <a:ln/>
        </p:spPr>
        <p:txBody>
          <a:bodyPr wrap="square" lIns="0" tIns="0" rIns="0" bIns="0" rtlCol="0" anchor="ctr"/>
          <a:lstStyle/>
          <a:p>
            <a:pPr marL="0" indent="0" algn="ctr">
              <a:buNone/>
            </a:pPr>
            <a:r>
              <a:rPr lang="en-US" sz="1300" dirty="0">
                <a:solidFill>
                  <a:srgbClr val="1A1A1A"/>
                </a:solidFill>
                <a:latin typeface="Arial" pitchFamily="34" charset="0"/>
                <a:ea typeface="Arial" pitchFamily="34" charset="-122"/>
                <a:cs typeface="Arial" pitchFamily="34" charset="-120"/>
              </a:rPr>
              <a:t>Pine</a:t>
            </a:r>
            <a:endParaRPr lang="en-US" sz="1300" dirty="0"/>
          </a:p>
        </p:txBody>
      </p:sp>
      <p:sp>
        <p:nvSpPr>
          <p:cNvPr id="38" name="Shape 36"/>
          <p:cNvSpPr/>
          <p:nvPr/>
        </p:nvSpPr>
        <p:spPr>
          <a:xfrm>
            <a:off x="5943600" y="3429000"/>
            <a:ext cx="2834640" cy="502920"/>
          </a:xfrm>
          <a:prstGeom prst="rect">
            <a:avLst/>
          </a:prstGeom>
          <a:solidFill>
            <a:srgbClr val="FFFFFF"/>
          </a:solidFill>
          <a:ln/>
        </p:spPr>
      </p:sp>
      <p:sp>
        <p:nvSpPr>
          <p:cNvPr id="39" name="Text 37"/>
          <p:cNvSpPr/>
          <p:nvPr/>
        </p:nvSpPr>
        <p:spPr>
          <a:xfrm>
            <a:off x="6035040" y="3429000"/>
            <a:ext cx="2651760" cy="502920"/>
          </a:xfrm>
          <a:prstGeom prst="rect">
            <a:avLst/>
          </a:prstGeom>
          <a:noFill/>
          <a:ln/>
        </p:spPr>
        <p:txBody>
          <a:bodyPr wrap="square" lIns="0" tIns="0" rIns="0" bIns="0" rtlCol="0" anchor="ctr"/>
          <a:lstStyle/>
          <a:p>
            <a:pPr marL="0" indent="0" algn="ctr">
              <a:buNone/>
            </a:pPr>
            <a:r>
              <a:rPr lang="en-US" sz="1300" dirty="0">
                <a:solidFill>
                  <a:srgbClr val="1A1A1A"/>
                </a:solidFill>
                <a:latin typeface="Arial" pitchFamily="34" charset="0"/>
                <a:ea typeface="Arial" pitchFamily="34" charset="-122"/>
                <a:cs typeface="Arial" pitchFamily="34" charset="-120"/>
              </a:rPr>
              <a:t>Mango, Rose, Pea</a:t>
            </a:r>
            <a:endParaRPr lang="en-US" sz="1300" dirty="0"/>
          </a:p>
        </p:txBody>
      </p:sp>
      <p:sp>
        <p:nvSpPr>
          <p:cNvPr id="40" name="Shape 38"/>
          <p:cNvSpPr/>
          <p:nvPr/>
        </p:nvSpPr>
        <p:spPr>
          <a:xfrm>
            <a:off x="365760" y="4069080"/>
            <a:ext cx="8412480" cy="822960"/>
          </a:xfrm>
          <a:prstGeom prst="roundRect">
            <a:avLst>
              <a:gd name="adj" fmla="val 11111"/>
            </a:avLst>
          </a:prstGeom>
          <a:solidFill>
            <a:srgbClr val="1B4332"/>
          </a:solidFill>
          <a:ln/>
        </p:spPr>
      </p:sp>
      <p:sp>
        <p:nvSpPr>
          <p:cNvPr id="41" name="Text 39"/>
          <p:cNvSpPr/>
          <p:nvPr/>
        </p:nvSpPr>
        <p:spPr>
          <a:xfrm>
            <a:off x="457200" y="4069080"/>
            <a:ext cx="8229600" cy="82296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Biggest difference:  🌲 Gymnosperm = Naked seed    🌸 Angiosperm = Seed in fruit</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F8F9F5"/>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B4332"/>
          </a:solidFill>
          <a:ln/>
        </p:spPr>
      </p:sp>
      <p:sp>
        <p:nvSpPr>
          <p:cNvPr id="3" name="Text 1"/>
          <p:cNvSpPr/>
          <p:nvPr/>
        </p:nvSpPr>
        <p:spPr>
          <a:xfrm>
            <a:off x="365760" y="137160"/>
            <a:ext cx="8229600" cy="457200"/>
          </a:xfrm>
          <a:prstGeom prst="rect">
            <a:avLst/>
          </a:prstGeom>
          <a:noFill/>
          <a:ln/>
        </p:spPr>
        <p:txBody>
          <a:bodyPr wrap="square" lIns="0" tIns="0" rIns="0" bIns="0" rtlCol="0" anchor="ctr"/>
          <a:lstStyle/>
          <a:p>
            <a:pPr marL="0" indent="0">
              <a:buNone/>
            </a:pPr>
            <a:r>
              <a:rPr lang="en-US" sz="2200" b="1" dirty="0">
                <a:solidFill>
                  <a:srgbClr val="FFFFFF"/>
                </a:solidFill>
                <a:latin typeface="Arial" pitchFamily="34" charset="0"/>
                <a:ea typeface="Arial" pitchFamily="34" charset="-122"/>
                <a:cs typeface="Arial" pitchFamily="34" charset="-120"/>
              </a:rPr>
              <a:t>Angiosperms are Divided into Two Groups</a:t>
            </a:r>
            <a:endParaRPr lang="en-US" sz="2200" dirty="0"/>
          </a:p>
        </p:txBody>
      </p:sp>
      <p:sp>
        <p:nvSpPr>
          <p:cNvPr id="4" name="Shape 2"/>
          <p:cNvSpPr/>
          <p:nvPr/>
        </p:nvSpPr>
        <p:spPr>
          <a:xfrm>
            <a:off x="2286000" y="1188720"/>
            <a:ext cx="4572000" cy="822960"/>
          </a:xfrm>
          <a:prstGeom prst="roundRect">
            <a:avLst>
              <a:gd name="adj" fmla="val 13333"/>
            </a:avLst>
          </a:prstGeom>
          <a:solidFill>
            <a:srgbClr val="2D6A4F"/>
          </a:solidFill>
          <a:ln/>
          <a:effectLst>
            <a:outerShdw blurRad="101600" dist="38100" dir="8100000" algn="bl" rotWithShape="0">
              <a:srgbClr val="000000">
                <a:alpha val="12000"/>
              </a:srgbClr>
            </a:outerShdw>
          </a:effectLst>
        </p:spPr>
      </p:sp>
      <p:sp>
        <p:nvSpPr>
          <p:cNvPr id="5" name="Text 3"/>
          <p:cNvSpPr/>
          <p:nvPr/>
        </p:nvSpPr>
        <p:spPr>
          <a:xfrm>
            <a:off x="2286000" y="1234440"/>
            <a:ext cx="4572000" cy="731520"/>
          </a:xfrm>
          <a:prstGeom prst="rect">
            <a:avLst/>
          </a:prstGeom>
          <a:noFill/>
          <a:ln/>
        </p:spPr>
        <p:txBody>
          <a:bodyPr wrap="square" lIns="0" tIns="0" rIns="0" bIns="0"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ANGIOSPERMS</a:t>
            </a:r>
            <a:endParaRPr lang="en-US" sz="1800" dirty="0"/>
          </a:p>
          <a:p>
            <a:pPr marL="0" indent="0" algn="ctr">
              <a:buNone/>
            </a:pPr>
            <a:r>
              <a:rPr lang="en-US" sz="1800" b="1" dirty="0">
                <a:solidFill>
                  <a:srgbClr val="FFFFFF"/>
                </a:solidFill>
                <a:latin typeface="Arial" pitchFamily="34" charset="0"/>
                <a:ea typeface="Arial" pitchFamily="34" charset="-122"/>
                <a:cs typeface="Arial" pitchFamily="34" charset="-120"/>
              </a:rPr>
              <a:t>(Flowering plants)</a:t>
            </a:r>
            <a:endParaRPr lang="en-US" sz="1800" dirty="0"/>
          </a:p>
        </p:txBody>
      </p:sp>
      <p:pic>
        <p:nvPicPr>
          <p:cNvPr id="6" name="Image 0" descr="preencoded.png"/>
          <p:cNvPicPr>
            <a:picLocks noChangeAspect="1"/>
          </p:cNvPicPr>
          <p:nvPr/>
        </p:nvPicPr>
        <p:blipFill>
          <a:blip r:embed="rId3"/>
          <a:stretch>
            <a:fillRect/>
          </a:stretch>
        </p:blipFill>
        <p:spPr>
          <a:xfrm>
            <a:off x="4297680" y="2148840"/>
            <a:ext cx="457200" cy="365760"/>
          </a:xfrm>
          <a:prstGeom prst="rect">
            <a:avLst/>
          </a:prstGeom>
        </p:spPr>
      </p:pic>
      <p:sp>
        <p:nvSpPr>
          <p:cNvPr id="7" name="Shape 4"/>
          <p:cNvSpPr/>
          <p:nvPr/>
        </p:nvSpPr>
        <p:spPr>
          <a:xfrm>
            <a:off x="548640" y="2697480"/>
            <a:ext cx="3840480" cy="1645920"/>
          </a:xfrm>
          <a:prstGeom prst="roundRect">
            <a:avLst>
              <a:gd name="adj" fmla="val 6667"/>
            </a:avLst>
          </a:prstGeom>
          <a:solidFill>
            <a:srgbClr val="FEF3C7"/>
          </a:solidFill>
          <a:ln/>
          <a:effectLst>
            <a:outerShdw blurRad="101600" dist="38100" dir="8100000" algn="bl" rotWithShape="0">
              <a:srgbClr val="000000">
                <a:alpha val="12000"/>
              </a:srgbClr>
            </a:outerShdw>
          </a:effectLst>
        </p:spPr>
      </p:sp>
      <p:sp>
        <p:nvSpPr>
          <p:cNvPr id="8" name="Text 5"/>
          <p:cNvSpPr/>
          <p:nvPr/>
        </p:nvSpPr>
        <p:spPr>
          <a:xfrm>
            <a:off x="548640" y="2880360"/>
            <a:ext cx="3840480" cy="731520"/>
          </a:xfrm>
          <a:prstGeom prst="rect">
            <a:avLst/>
          </a:prstGeom>
          <a:noFill/>
          <a:ln/>
        </p:spPr>
        <p:txBody>
          <a:bodyPr wrap="square" lIns="0" tIns="0" rIns="0" bIns="0" rtlCol="0" anchor="ctr"/>
          <a:lstStyle/>
          <a:p>
            <a:pPr marL="0" indent="0" algn="ctr">
              <a:buNone/>
            </a:pPr>
            <a:r>
              <a:rPr lang="en-US" sz="2000" b="1" dirty="0">
                <a:solidFill>
                  <a:srgbClr val="1A1A1A"/>
                </a:solidFill>
                <a:latin typeface="Arial" pitchFamily="34" charset="0"/>
                <a:ea typeface="Arial" pitchFamily="34" charset="-122"/>
                <a:cs typeface="Arial" pitchFamily="34" charset="-120"/>
              </a:rPr>
              <a:t>MONOCOTYLEDONS</a:t>
            </a:r>
            <a:endParaRPr lang="en-US" sz="2000" dirty="0"/>
          </a:p>
          <a:p>
            <a:pPr marL="0" indent="0" algn="ctr">
              <a:buNone/>
            </a:pPr>
            <a:r>
              <a:rPr lang="en-US" sz="2000" b="1" dirty="0">
                <a:solidFill>
                  <a:srgbClr val="1A1A1A"/>
                </a:solidFill>
                <a:latin typeface="Arial" pitchFamily="34" charset="0"/>
                <a:ea typeface="Arial" pitchFamily="34" charset="-122"/>
                <a:cs typeface="Arial" pitchFamily="34" charset="-120"/>
              </a:rPr>
              <a:t>(Monocots)</a:t>
            </a:r>
            <a:endParaRPr lang="en-US" sz="2000" dirty="0"/>
          </a:p>
        </p:txBody>
      </p:sp>
      <p:sp>
        <p:nvSpPr>
          <p:cNvPr id="9" name="Text 6"/>
          <p:cNvSpPr/>
          <p:nvPr/>
        </p:nvSpPr>
        <p:spPr>
          <a:xfrm>
            <a:off x="548640" y="3749040"/>
            <a:ext cx="3840480" cy="365760"/>
          </a:xfrm>
          <a:prstGeom prst="rect">
            <a:avLst/>
          </a:prstGeom>
          <a:noFill/>
          <a:ln/>
        </p:spPr>
        <p:txBody>
          <a:bodyPr wrap="square" lIns="0" tIns="0" rIns="0" bIns="0" rtlCol="0" anchor="ctr"/>
          <a:lstStyle/>
          <a:p>
            <a:pPr marL="0" indent="0" algn="ctr">
              <a:buNone/>
            </a:pPr>
            <a:r>
              <a:rPr lang="en-US" sz="1500" dirty="0">
                <a:solidFill>
                  <a:srgbClr val="4A4A4A"/>
                </a:solidFill>
                <a:latin typeface="Arial" pitchFamily="34" charset="0"/>
                <a:ea typeface="Arial" pitchFamily="34" charset="-122"/>
                <a:cs typeface="Arial" pitchFamily="34" charset="-120"/>
              </a:rPr>
              <a:t>One cotyledon in the seed</a:t>
            </a:r>
            <a:endParaRPr lang="en-US" sz="1500" dirty="0"/>
          </a:p>
        </p:txBody>
      </p:sp>
      <p:sp>
        <p:nvSpPr>
          <p:cNvPr id="10" name="Shape 7"/>
          <p:cNvSpPr/>
          <p:nvPr/>
        </p:nvSpPr>
        <p:spPr>
          <a:xfrm>
            <a:off x="4754880" y="2697480"/>
            <a:ext cx="3840480" cy="1645920"/>
          </a:xfrm>
          <a:prstGeom prst="roundRect">
            <a:avLst>
              <a:gd name="adj" fmla="val 6667"/>
            </a:avLst>
          </a:prstGeom>
          <a:solidFill>
            <a:srgbClr val="D1FAE5"/>
          </a:solidFill>
          <a:ln/>
          <a:effectLst>
            <a:outerShdw blurRad="101600" dist="38100" dir="8100000" algn="bl" rotWithShape="0">
              <a:srgbClr val="000000">
                <a:alpha val="12000"/>
              </a:srgbClr>
            </a:outerShdw>
          </a:effectLst>
        </p:spPr>
      </p:sp>
      <p:sp>
        <p:nvSpPr>
          <p:cNvPr id="11" name="Text 8"/>
          <p:cNvSpPr/>
          <p:nvPr/>
        </p:nvSpPr>
        <p:spPr>
          <a:xfrm>
            <a:off x="4754880" y="2880360"/>
            <a:ext cx="3840480" cy="731520"/>
          </a:xfrm>
          <a:prstGeom prst="rect">
            <a:avLst/>
          </a:prstGeom>
          <a:noFill/>
          <a:ln/>
        </p:spPr>
        <p:txBody>
          <a:bodyPr wrap="square" lIns="0" tIns="0" rIns="0" bIns="0" rtlCol="0" anchor="ctr"/>
          <a:lstStyle/>
          <a:p>
            <a:pPr marL="0" indent="0" algn="ctr">
              <a:buNone/>
            </a:pPr>
            <a:r>
              <a:rPr lang="en-US" sz="2000" b="1" dirty="0">
                <a:solidFill>
                  <a:srgbClr val="1A1A1A"/>
                </a:solidFill>
                <a:latin typeface="Arial" pitchFamily="34" charset="0"/>
                <a:ea typeface="Arial" pitchFamily="34" charset="-122"/>
                <a:cs typeface="Arial" pitchFamily="34" charset="-120"/>
              </a:rPr>
              <a:t>DICOTYLEDONS</a:t>
            </a:r>
            <a:endParaRPr lang="en-US" sz="2000" dirty="0"/>
          </a:p>
          <a:p>
            <a:pPr marL="0" indent="0" algn="ctr">
              <a:buNone/>
            </a:pPr>
            <a:r>
              <a:rPr lang="en-US" sz="2000" b="1" dirty="0">
                <a:solidFill>
                  <a:srgbClr val="1A1A1A"/>
                </a:solidFill>
                <a:latin typeface="Arial" pitchFamily="34" charset="0"/>
                <a:ea typeface="Arial" pitchFamily="34" charset="-122"/>
                <a:cs typeface="Arial" pitchFamily="34" charset="-120"/>
              </a:rPr>
              <a:t>(Dicots)</a:t>
            </a:r>
            <a:endParaRPr lang="en-US" sz="2000" dirty="0"/>
          </a:p>
        </p:txBody>
      </p:sp>
      <p:sp>
        <p:nvSpPr>
          <p:cNvPr id="12" name="Text 9"/>
          <p:cNvSpPr/>
          <p:nvPr/>
        </p:nvSpPr>
        <p:spPr>
          <a:xfrm>
            <a:off x="4754880" y="3749040"/>
            <a:ext cx="3840480" cy="365760"/>
          </a:xfrm>
          <a:prstGeom prst="rect">
            <a:avLst/>
          </a:prstGeom>
          <a:noFill/>
          <a:ln/>
        </p:spPr>
        <p:txBody>
          <a:bodyPr wrap="square" lIns="0" tIns="0" rIns="0" bIns="0" rtlCol="0" anchor="ctr"/>
          <a:lstStyle/>
          <a:p>
            <a:pPr marL="0" indent="0" algn="ctr">
              <a:buNone/>
            </a:pPr>
            <a:r>
              <a:rPr lang="en-US" sz="1500" dirty="0">
                <a:solidFill>
                  <a:srgbClr val="4A4A4A"/>
                </a:solidFill>
                <a:latin typeface="Arial" pitchFamily="34" charset="0"/>
                <a:ea typeface="Arial" pitchFamily="34" charset="-122"/>
                <a:cs typeface="Arial" pitchFamily="34" charset="-120"/>
              </a:rPr>
              <a:t>Two cotyledons in the seed</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bg>
      <p:bgPr>
        <a:solidFill>
          <a:srgbClr val="F8F9F5"/>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B4332"/>
          </a:solidFill>
          <a:ln/>
        </p:spPr>
      </p:sp>
      <p:sp>
        <p:nvSpPr>
          <p:cNvPr id="3" name="Text 1"/>
          <p:cNvSpPr/>
          <p:nvPr/>
        </p:nvSpPr>
        <p:spPr>
          <a:xfrm>
            <a:off x="365760" y="137160"/>
            <a:ext cx="8229600" cy="457200"/>
          </a:xfrm>
          <a:prstGeom prst="rect">
            <a:avLst/>
          </a:prstGeom>
          <a:noFill/>
          <a:ln/>
        </p:spPr>
        <p:txBody>
          <a:bodyPr wrap="square" lIns="0" tIns="0" rIns="0" bIns="0" rtlCol="0" anchor="ctr"/>
          <a:lstStyle/>
          <a:p>
            <a:pPr marL="0" indent="0">
              <a:buNone/>
            </a:pPr>
            <a:r>
              <a:rPr lang="en-US" sz="2400" b="1" dirty="0">
                <a:solidFill>
                  <a:srgbClr val="FFFFFF"/>
                </a:solidFill>
                <a:latin typeface="Arial" pitchFamily="34" charset="0"/>
                <a:ea typeface="Arial" pitchFamily="34" charset="-122"/>
                <a:cs typeface="Arial" pitchFamily="34" charset="-120"/>
              </a:rPr>
              <a:t>Monocotyledonous Plants (Monocots)</a:t>
            </a:r>
            <a:endParaRPr lang="en-US" sz="2400" dirty="0"/>
          </a:p>
        </p:txBody>
      </p:sp>
      <p:sp>
        <p:nvSpPr>
          <p:cNvPr id="4" name="Shape 2"/>
          <p:cNvSpPr/>
          <p:nvPr/>
        </p:nvSpPr>
        <p:spPr>
          <a:xfrm>
            <a:off x="457200" y="1005840"/>
            <a:ext cx="8229600" cy="822960"/>
          </a:xfrm>
          <a:prstGeom prst="roundRect">
            <a:avLst>
              <a:gd name="adj" fmla="val 11111"/>
            </a:avLst>
          </a:prstGeom>
          <a:solidFill>
            <a:srgbClr val="FFFFFF"/>
          </a:solidFill>
          <a:ln/>
          <a:effectLst>
            <a:outerShdw blurRad="101600" dist="38100" dir="8100000" algn="bl" rotWithShape="0">
              <a:srgbClr val="000000">
                <a:alpha val="12000"/>
              </a:srgbClr>
            </a:outerShdw>
          </a:effectLst>
        </p:spPr>
      </p:sp>
      <p:sp>
        <p:nvSpPr>
          <p:cNvPr id="5" name="Shape 3"/>
          <p:cNvSpPr/>
          <p:nvPr/>
        </p:nvSpPr>
        <p:spPr>
          <a:xfrm>
            <a:off x="457200" y="1005840"/>
            <a:ext cx="137160" cy="822960"/>
          </a:xfrm>
          <a:prstGeom prst="rect">
            <a:avLst/>
          </a:prstGeom>
          <a:solidFill>
            <a:srgbClr val="2D6A4F"/>
          </a:solidFill>
          <a:ln/>
        </p:spPr>
      </p:sp>
      <p:sp>
        <p:nvSpPr>
          <p:cNvPr id="6" name="Text 4"/>
          <p:cNvSpPr/>
          <p:nvPr/>
        </p:nvSpPr>
        <p:spPr>
          <a:xfrm>
            <a:off x="822960" y="1097280"/>
            <a:ext cx="7589520" cy="320040"/>
          </a:xfrm>
          <a:prstGeom prst="rect">
            <a:avLst/>
          </a:prstGeom>
          <a:noFill/>
          <a:ln/>
        </p:spPr>
        <p:txBody>
          <a:bodyPr wrap="square" lIns="0" tIns="0" rIns="0" bIns="0" rtlCol="0" anchor="ctr"/>
          <a:lstStyle/>
          <a:p>
            <a:pPr marL="0" indent="0">
              <a:buNone/>
            </a:pPr>
            <a:r>
              <a:rPr lang="en-US" sz="1800" b="1" dirty="0">
                <a:solidFill>
                  <a:srgbClr val="1B4332"/>
                </a:solidFill>
                <a:latin typeface="Arial" pitchFamily="34" charset="0"/>
                <a:ea typeface="Arial" pitchFamily="34" charset="-122"/>
                <a:cs typeface="Arial" pitchFamily="34" charset="-120"/>
              </a:rPr>
              <a:t>One Cotyledon</a:t>
            </a:r>
            <a:endParaRPr lang="en-US" sz="1800" dirty="0"/>
          </a:p>
        </p:txBody>
      </p:sp>
      <p:sp>
        <p:nvSpPr>
          <p:cNvPr id="7" name="Text 5"/>
          <p:cNvSpPr/>
          <p:nvPr/>
        </p:nvSpPr>
        <p:spPr>
          <a:xfrm>
            <a:off x="822960" y="1417320"/>
            <a:ext cx="7589520" cy="320040"/>
          </a:xfrm>
          <a:prstGeom prst="rect">
            <a:avLst/>
          </a:prstGeom>
          <a:noFill/>
          <a:ln/>
        </p:spPr>
        <p:txBody>
          <a:bodyPr wrap="square" lIns="0" tIns="0" rIns="0" bIns="0" rtlCol="0" anchor="ctr"/>
          <a:lstStyle/>
          <a:p>
            <a:pPr marL="0" indent="0">
              <a:buNone/>
            </a:pPr>
            <a:r>
              <a:rPr lang="en-US" sz="1500" dirty="0">
                <a:solidFill>
                  <a:srgbClr val="4A4A4A"/>
                </a:solidFill>
                <a:latin typeface="Arial" pitchFamily="34" charset="0"/>
                <a:ea typeface="Arial" pitchFamily="34" charset="-122"/>
                <a:cs typeface="Arial" pitchFamily="34" charset="-120"/>
              </a:rPr>
              <a:t>Seed has a single seed leaf</a:t>
            </a:r>
            <a:endParaRPr lang="en-US" sz="1500" dirty="0"/>
          </a:p>
        </p:txBody>
      </p:sp>
      <p:sp>
        <p:nvSpPr>
          <p:cNvPr id="8" name="Shape 6"/>
          <p:cNvSpPr/>
          <p:nvPr/>
        </p:nvSpPr>
        <p:spPr>
          <a:xfrm>
            <a:off x="457200" y="1920240"/>
            <a:ext cx="8229600" cy="822960"/>
          </a:xfrm>
          <a:prstGeom prst="roundRect">
            <a:avLst>
              <a:gd name="adj" fmla="val 11111"/>
            </a:avLst>
          </a:prstGeom>
          <a:solidFill>
            <a:srgbClr val="FFFFFF"/>
          </a:solidFill>
          <a:ln/>
          <a:effectLst>
            <a:outerShdw blurRad="101600" dist="38100" dir="8100000" algn="bl" rotWithShape="0">
              <a:srgbClr val="000000">
                <a:alpha val="12000"/>
              </a:srgbClr>
            </a:outerShdw>
          </a:effectLst>
        </p:spPr>
      </p:sp>
      <p:sp>
        <p:nvSpPr>
          <p:cNvPr id="9" name="Shape 7"/>
          <p:cNvSpPr/>
          <p:nvPr/>
        </p:nvSpPr>
        <p:spPr>
          <a:xfrm>
            <a:off x="457200" y="1920240"/>
            <a:ext cx="137160" cy="822960"/>
          </a:xfrm>
          <a:prstGeom prst="rect">
            <a:avLst/>
          </a:prstGeom>
          <a:solidFill>
            <a:srgbClr val="2D6A4F"/>
          </a:solidFill>
          <a:ln/>
        </p:spPr>
      </p:sp>
      <p:sp>
        <p:nvSpPr>
          <p:cNvPr id="10" name="Text 8"/>
          <p:cNvSpPr/>
          <p:nvPr/>
        </p:nvSpPr>
        <p:spPr>
          <a:xfrm>
            <a:off x="822960" y="2011680"/>
            <a:ext cx="7589520" cy="320040"/>
          </a:xfrm>
          <a:prstGeom prst="rect">
            <a:avLst/>
          </a:prstGeom>
          <a:noFill/>
          <a:ln/>
        </p:spPr>
        <p:txBody>
          <a:bodyPr wrap="square" lIns="0" tIns="0" rIns="0" bIns="0" rtlCol="0" anchor="ctr"/>
          <a:lstStyle/>
          <a:p>
            <a:pPr marL="0" indent="0">
              <a:buNone/>
            </a:pPr>
            <a:r>
              <a:rPr lang="en-US" sz="1800" b="1" dirty="0">
                <a:solidFill>
                  <a:srgbClr val="1B4332"/>
                </a:solidFill>
                <a:latin typeface="Arial" pitchFamily="34" charset="0"/>
                <a:ea typeface="Arial" pitchFamily="34" charset="-122"/>
                <a:cs typeface="Arial" pitchFamily="34" charset="-120"/>
              </a:rPr>
              <a:t>Fibrous Roots</a:t>
            </a:r>
            <a:endParaRPr lang="en-US" sz="1800" dirty="0"/>
          </a:p>
        </p:txBody>
      </p:sp>
      <p:sp>
        <p:nvSpPr>
          <p:cNvPr id="11" name="Text 9"/>
          <p:cNvSpPr/>
          <p:nvPr/>
        </p:nvSpPr>
        <p:spPr>
          <a:xfrm>
            <a:off x="822960" y="2331720"/>
            <a:ext cx="7589520" cy="320040"/>
          </a:xfrm>
          <a:prstGeom prst="rect">
            <a:avLst/>
          </a:prstGeom>
          <a:noFill/>
          <a:ln/>
        </p:spPr>
        <p:txBody>
          <a:bodyPr wrap="square" lIns="0" tIns="0" rIns="0" bIns="0" rtlCol="0" anchor="ctr"/>
          <a:lstStyle/>
          <a:p>
            <a:pPr marL="0" indent="0">
              <a:buNone/>
            </a:pPr>
            <a:r>
              <a:rPr lang="en-US" sz="1500" dirty="0">
                <a:solidFill>
                  <a:srgbClr val="4A4A4A"/>
                </a:solidFill>
                <a:latin typeface="Arial" pitchFamily="34" charset="0"/>
                <a:ea typeface="Arial" pitchFamily="34" charset="-122"/>
                <a:cs typeface="Arial" pitchFamily="34" charset="-120"/>
              </a:rPr>
              <a:t>Many thin roots from base</a:t>
            </a:r>
            <a:endParaRPr lang="en-US" sz="1500" dirty="0"/>
          </a:p>
        </p:txBody>
      </p:sp>
      <p:sp>
        <p:nvSpPr>
          <p:cNvPr id="12" name="Shape 10"/>
          <p:cNvSpPr/>
          <p:nvPr/>
        </p:nvSpPr>
        <p:spPr>
          <a:xfrm>
            <a:off x="457200" y="2834640"/>
            <a:ext cx="8229600" cy="822960"/>
          </a:xfrm>
          <a:prstGeom prst="roundRect">
            <a:avLst>
              <a:gd name="adj" fmla="val 11111"/>
            </a:avLst>
          </a:prstGeom>
          <a:solidFill>
            <a:srgbClr val="FFFFFF"/>
          </a:solidFill>
          <a:ln/>
          <a:effectLst>
            <a:outerShdw blurRad="101600" dist="38100" dir="8100000" algn="bl" rotWithShape="0">
              <a:srgbClr val="000000">
                <a:alpha val="12000"/>
              </a:srgbClr>
            </a:outerShdw>
          </a:effectLst>
        </p:spPr>
      </p:sp>
      <p:sp>
        <p:nvSpPr>
          <p:cNvPr id="13" name="Shape 11"/>
          <p:cNvSpPr/>
          <p:nvPr/>
        </p:nvSpPr>
        <p:spPr>
          <a:xfrm>
            <a:off x="457200" y="2834640"/>
            <a:ext cx="137160" cy="822960"/>
          </a:xfrm>
          <a:prstGeom prst="rect">
            <a:avLst/>
          </a:prstGeom>
          <a:solidFill>
            <a:srgbClr val="2D6A4F"/>
          </a:solidFill>
          <a:ln/>
        </p:spPr>
      </p:sp>
      <p:sp>
        <p:nvSpPr>
          <p:cNvPr id="14" name="Text 12"/>
          <p:cNvSpPr/>
          <p:nvPr/>
        </p:nvSpPr>
        <p:spPr>
          <a:xfrm>
            <a:off x="822960" y="2926080"/>
            <a:ext cx="7589520" cy="320040"/>
          </a:xfrm>
          <a:prstGeom prst="rect">
            <a:avLst/>
          </a:prstGeom>
          <a:noFill/>
          <a:ln/>
        </p:spPr>
        <p:txBody>
          <a:bodyPr wrap="square" lIns="0" tIns="0" rIns="0" bIns="0" rtlCol="0" anchor="ctr"/>
          <a:lstStyle/>
          <a:p>
            <a:pPr marL="0" indent="0">
              <a:buNone/>
            </a:pPr>
            <a:r>
              <a:rPr lang="en-US" sz="1800" b="1" dirty="0">
                <a:solidFill>
                  <a:srgbClr val="1B4332"/>
                </a:solidFill>
                <a:latin typeface="Arial" pitchFamily="34" charset="0"/>
                <a:ea typeface="Arial" pitchFamily="34" charset="-122"/>
                <a:cs typeface="Arial" pitchFamily="34" charset="-120"/>
              </a:rPr>
              <a:t>Narrow Leaves</a:t>
            </a:r>
            <a:endParaRPr lang="en-US" sz="1800" dirty="0"/>
          </a:p>
        </p:txBody>
      </p:sp>
      <p:sp>
        <p:nvSpPr>
          <p:cNvPr id="15" name="Text 13"/>
          <p:cNvSpPr/>
          <p:nvPr/>
        </p:nvSpPr>
        <p:spPr>
          <a:xfrm>
            <a:off x="822960" y="3246120"/>
            <a:ext cx="7589520" cy="320040"/>
          </a:xfrm>
          <a:prstGeom prst="rect">
            <a:avLst/>
          </a:prstGeom>
          <a:noFill/>
          <a:ln/>
        </p:spPr>
        <p:txBody>
          <a:bodyPr wrap="square" lIns="0" tIns="0" rIns="0" bIns="0" rtlCol="0" anchor="ctr"/>
          <a:lstStyle/>
          <a:p>
            <a:pPr marL="0" indent="0">
              <a:buNone/>
            </a:pPr>
            <a:r>
              <a:rPr lang="en-US" sz="1500" dirty="0">
                <a:solidFill>
                  <a:srgbClr val="4A4A4A"/>
                </a:solidFill>
                <a:latin typeface="Arial" pitchFamily="34" charset="0"/>
                <a:ea typeface="Arial" pitchFamily="34" charset="-122"/>
                <a:cs typeface="Arial" pitchFamily="34" charset="-120"/>
              </a:rPr>
              <a:t>Long and narrow leaves</a:t>
            </a:r>
            <a:endParaRPr lang="en-US" sz="1500" dirty="0"/>
          </a:p>
        </p:txBody>
      </p:sp>
      <p:sp>
        <p:nvSpPr>
          <p:cNvPr id="16" name="Shape 14"/>
          <p:cNvSpPr/>
          <p:nvPr/>
        </p:nvSpPr>
        <p:spPr>
          <a:xfrm>
            <a:off x="457200" y="3749040"/>
            <a:ext cx="8229600" cy="822960"/>
          </a:xfrm>
          <a:prstGeom prst="roundRect">
            <a:avLst>
              <a:gd name="adj" fmla="val 11111"/>
            </a:avLst>
          </a:prstGeom>
          <a:solidFill>
            <a:srgbClr val="FFFFFF"/>
          </a:solidFill>
          <a:ln/>
          <a:effectLst>
            <a:outerShdw blurRad="101600" dist="38100" dir="8100000" algn="bl" rotWithShape="0">
              <a:srgbClr val="000000">
                <a:alpha val="12000"/>
              </a:srgbClr>
            </a:outerShdw>
          </a:effectLst>
        </p:spPr>
      </p:sp>
      <p:sp>
        <p:nvSpPr>
          <p:cNvPr id="17" name="Shape 15"/>
          <p:cNvSpPr/>
          <p:nvPr/>
        </p:nvSpPr>
        <p:spPr>
          <a:xfrm>
            <a:off x="457200" y="3749040"/>
            <a:ext cx="137160" cy="822960"/>
          </a:xfrm>
          <a:prstGeom prst="rect">
            <a:avLst/>
          </a:prstGeom>
          <a:solidFill>
            <a:srgbClr val="2D6A4F"/>
          </a:solidFill>
          <a:ln/>
        </p:spPr>
      </p:sp>
      <p:sp>
        <p:nvSpPr>
          <p:cNvPr id="18" name="Text 16"/>
          <p:cNvSpPr/>
          <p:nvPr/>
        </p:nvSpPr>
        <p:spPr>
          <a:xfrm>
            <a:off x="822960" y="3840480"/>
            <a:ext cx="7589520" cy="320040"/>
          </a:xfrm>
          <a:prstGeom prst="rect">
            <a:avLst/>
          </a:prstGeom>
          <a:noFill/>
          <a:ln/>
        </p:spPr>
        <p:txBody>
          <a:bodyPr wrap="square" lIns="0" tIns="0" rIns="0" bIns="0" rtlCol="0" anchor="ctr"/>
          <a:lstStyle/>
          <a:p>
            <a:pPr marL="0" indent="0">
              <a:buNone/>
            </a:pPr>
            <a:r>
              <a:rPr lang="en-US" sz="1800" b="1" dirty="0">
                <a:solidFill>
                  <a:srgbClr val="1B4332"/>
                </a:solidFill>
                <a:latin typeface="Arial" pitchFamily="34" charset="0"/>
                <a:ea typeface="Arial" pitchFamily="34" charset="-122"/>
                <a:cs typeface="Arial" pitchFamily="34" charset="-120"/>
              </a:rPr>
              <a:t>Examples</a:t>
            </a:r>
            <a:endParaRPr lang="en-US" sz="1800" dirty="0"/>
          </a:p>
        </p:txBody>
      </p:sp>
      <p:sp>
        <p:nvSpPr>
          <p:cNvPr id="19" name="Text 17"/>
          <p:cNvSpPr/>
          <p:nvPr/>
        </p:nvSpPr>
        <p:spPr>
          <a:xfrm>
            <a:off x="822960" y="4160520"/>
            <a:ext cx="7589520" cy="320040"/>
          </a:xfrm>
          <a:prstGeom prst="rect">
            <a:avLst/>
          </a:prstGeom>
          <a:noFill/>
          <a:ln/>
        </p:spPr>
        <p:txBody>
          <a:bodyPr wrap="square" lIns="0" tIns="0" rIns="0" bIns="0" rtlCol="0" anchor="ctr"/>
          <a:lstStyle/>
          <a:p>
            <a:pPr marL="0" indent="0">
              <a:buNone/>
            </a:pPr>
            <a:r>
              <a:rPr lang="en-US" sz="1500" dirty="0">
                <a:solidFill>
                  <a:srgbClr val="4A4A4A"/>
                </a:solidFill>
                <a:latin typeface="Arial" pitchFamily="34" charset="0"/>
                <a:ea typeface="Arial" pitchFamily="34" charset="-122"/>
                <a:cs typeface="Arial" pitchFamily="34" charset="-120"/>
              </a:rPr>
              <a:t>Rice, maize, wheat, bamboo, banana</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3">
    <p:bg>
      <p:bgPr>
        <a:solidFill>
          <a:srgbClr val="F8F9F5"/>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B4332"/>
          </a:solidFill>
          <a:ln/>
        </p:spPr>
      </p:sp>
      <p:sp>
        <p:nvSpPr>
          <p:cNvPr id="3" name="Text 1"/>
          <p:cNvSpPr/>
          <p:nvPr/>
        </p:nvSpPr>
        <p:spPr>
          <a:xfrm>
            <a:off x="365760" y="137160"/>
            <a:ext cx="8229600" cy="457200"/>
          </a:xfrm>
          <a:prstGeom prst="rect">
            <a:avLst/>
          </a:prstGeom>
          <a:noFill/>
          <a:ln/>
        </p:spPr>
        <p:txBody>
          <a:bodyPr wrap="square" lIns="0" tIns="0" rIns="0" bIns="0" rtlCol="0" anchor="ctr"/>
          <a:lstStyle/>
          <a:p>
            <a:pPr marL="0" indent="0">
              <a:buNone/>
            </a:pPr>
            <a:r>
              <a:rPr lang="en-US" sz="2400" b="1" dirty="0">
                <a:solidFill>
                  <a:srgbClr val="FFFFFF"/>
                </a:solidFill>
                <a:latin typeface="Arial" pitchFamily="34" charset="0"/>
                <a:ea typeface="Arial" pitchFamily="34" charset="-122"/>
                <a:cs typeface="Arial" pitchFamily="34" charset="-120"/>
              </a:rPr>
              <a:t>Dicotyledonous Plants (Dicots)</a:t>
            </a:r>
            <a:endParaRPr lang="en-US" sz="2400" dirty="0"/>
          </a:p>
        </p:txBody>
      </p:sp>
      <p:sp>
        <p:nvSpPr>
          <p:cNvPr id="4" name="Shape 2"/>
          <p:cNvSpPr/>
          <p:nvPr/>
        </p:nvSpPr>
        <p:spPr>
          <a:xfrm>
            <a:off x="457200" y="1005840"/>
            <a:ext cx="8229600" cy="822960"/>
          </a:xfrm>
          <a:prstGeom prst="roundRect">
            <a:avLst>
              <a:gd name="adj" fmla="val 11111"/>
            </a:avLst>
          </a:prstGeom>
          <a:solidFill>
            <a:srgbClr val="FFFFFF"/>
          </a:solidFill>
          <a:ln/>
          <a:effectLst>
            <a:outerShdw blurRad="101600" dist="38100" dir="8100000" algn="bl" rotWithShape="0">
              <a:srgbClr val="000000">
                <a:alpha val="12000"/>
              </a:srgbClr>
            </a:outerShdw>
          </a:effectLst>
        </p:spPr>
      </p:sp>
      <p:sp>
        <p:nvSpPr>
          <p:cNvPr id="5" name="Shape 3"/>
          <p:cNvSpPr/>
          <p:nvPr/>
        </p:nvSpPr>
        <p:spPr>
          <a:xfrm>
            <a:off x="457200" y="1005840"/>
            <a:ext cx="137160" cy="822960"/>
          </a:xfrm>
          <a:prstGeom prst="rect">
            <a:avLst/>
          </a:prstGeom>
          <a:solidFill>
            <a:srgbClr val="E76F51"/>
          </a:solidFill>
          <a:ln/>
        </p:spPr>
      </p:sp>
      <p:sp>
        <p:nvSpPr>
          <p:cNvPr id="6" name="Text 4"/>
          <p:cNvSpPr/>
          <p:nvPr/>
        </p:nvSpPr>
        <p:spPr>
          <a:xfrm>
            <a:off x="822960" y="1097280"/>
            <a:ext cx="7589520" cy="320040"/>
          </a:xfrm>
          <a:prstGeom prst="rect">
            <a:avLst/>
          </a:prstGeom>
          <a:noFill/>
          <a:ln/>
        </p:spPr>
        <p:txBody>
          <a:bodyPr wrap="square" lIns="0" tIns="0" rIns="0" bIns="0" rtlCol="0" anchor="ctr"/>
          <a:lstStyle/>
          <a:p>
            <a:pPr marL="0" indent="0">
              <a:buNone/>
            </a:pPr>
            <a:r>
              <a:rPr lang="en-US" sz="1800" b="1" dirty="0">
                <a:solidFill>
                  <a:srgbClr val="1B4332"/>
                </a:solidFill>
                <a:latin typeface="Arial" pitchFamily="34" charset="0"/>
                <a:ea typeface="Arial" pitchFamily="34" charset="-122"/>
                <a:cs typeface="Arial" pitchFamily="34" charset="-120"/>
              </a:rPr>
              <a:t>Two Cotyledons</a:t>
            </a:r>
            <a:endParaRPr lang="en-US" sz="1800" dirty="0"/>
          </a:p>
        </p:txBody>
      </p:sp>
      <p:sp>
        <p:nvSpPr>
          <p:cNvPr id="7" name="Text 5"/>
          <p:cNvSpPr/>
          <p:nvPr/>
        </p:nvSpPr>
        <p:spPr>
          <a:xfrm>
            <a:off x="822960" y="1417320"/>
            <a:ext cx="7589520" cy="320040"/>
          </a:xfrm>
          <a:prstGeom prst="rect">
            <a:avLst/>
          </a:prstGeom>
          <a:noFill/>
          <a:ln/>
        </p:spPr>
        <p:txBody>
          <a:bodyPr wrap="square" lIns="0" tIns="0" rIns="0" bIns="0" rtlCol="0" anchor="ctr"/>
          <a:lstStyle/>
          <a:p>
            <a:pPr marL="0" indent="0">
              <a:buNone/>
            </a:pPr>
            <a:r>
              <a:rPr lang="en-US" sz="1500" dirty="0">
                <a:solidFill>
                  <a:srgbClr val="4A4A4A"/>
                </a:solidFill>
                <a:latin typeface="Arial" pitchFamily="34" charset="0"/>
                <a:ea typeface="Arial" pitchFamily="34" charset="-122"/>
                <a:cs typeface="Arial" pitchFamily="34" charset="-120"/>
              </a:rPr>
              <a:t>Seed has two seed leaves</a:t>
            </a:r>
            <a:endParaRPr lang="en-US" sz="1500" dirty="0"/>
          </a:p>
        </p:txBody>
      </p:sp>
      <p:sp>
        <p:nvSpPr>
          <p:cNvPr id="8" name="Shape 6"/>
          <p:cNvSpPr/>
          <p:nvPr/>
        </p:nvSpPr>
        <p:spPr>
          <a:xfrm>
            <a:off x="457200" y="1920240"/>
            <a:ext cx="8229600" cy="822960"/>
          </a:xfrm>
          <a:prstGeom prst="roundRect">
            <a:avLst>
              <a:gd name="adj" fmla="val 11111"/>
            </a:avLst>
          </a:prstGeom>
          <a:solidFill>
            <a:srgbClr val="FFFFFF"/>
          </a:solidFill>
          <a:ln/>
          <a:effectLst>
            <a:outerShdw blurRad="101600" dist="38100" dir="8100000" algn="bl" rotWithShape="0">
              <a:srgbClr val="000000">
                <a:alpha val="12000"/>
              </a:srgbClr>
            </a:outerShdw>
          </a:effectLst>
        </p:spPr>
      </p:sp>
      <p:sp>
        <p:nvSpPr>
          <p:cNvPr id="9" name="Shape 7"/>
          <p:cNvSpPr/>
          <p:nvPr/>
        </p:nvSpPr>
        <p:spPr>
          <a:xfrm>
            <a:off x="457200" y="1920240"/>
            <a:ext cx="137160" cy="822960"/>
          </a:xfrm>
          <a:prstGeom prst="rect">
            <a:avLst/>
          </a:prstGeom>
          <a:solidFill>
            <a:srgbClr val="E76F51"/>
          </a:solidFill>
          <a:ln/>
        </p:spPr>
      </p:sp>
      <p:sp>
        <p:nvSpPr>
          <p:cNvPr id="10" name="Text 8"/>
          <p:cNvSpPr/>
          <p:nvPr/>
        </p:nvSpPr>
        <p:spPr>
          <a:xfrm>
            <a:off x="822960" y="2011680"/>
            <a:ext cx="7589520" cy="320040"/>
          </a:xfrm>
          <a:prstGeom prst="rect">
            <a:avLst/>
          </a:prstGeom>
          <a:noFill/>
          <a:ln/>
        </p:spPr>
        <p:txBody>
          <a:bodyPr wrap="square" lIns="0" tIns="0" rIns="0" bIns="0" rtlCol="0" anchor="ctr"/>
          <a:lstStyle/>
          <a:p>
            <a:pPr marL="0" indent="0">
              <a:buNone/>
            </a:pPr>
            <a:r>
              <a:rPr lang="en-US" sz="1800" b="1" dirty="0">
                <a:solidFill>
                  <a:srgbClr val="1B4332"/>
                </a:solidFill>
                <a:latin typeface="Arial" pitchFamily="34" charset="0"/>
                <a:ea typeface="Arial" pitchFamily="34" charset="-122"/>
                <a:cs typeface="Arial" pitchFamily="34" charset="-120"/>
              </a:rPr>
              <a:t>Tap Root</a:t>
            </a:r>
            <a:endParaRPr lang="en-US" sz="1800" dirty="0"/>
          </a:p>
        </p:txBody>
      </p:sp>
      <p:sp>
        <p:nvSpPr>
          <p:cNvPr id="11" name="Text 9"/>
          <p:cNvSpPr/>
          <p:nvPr/>
        </p:nvSpPr>
        <p:spPr>
          <a:xfrm>
            <a:off x="822960" y="2331720"/>
            <a:ext cx="7589520" cy="320040"/>
          </a:xfrm>
          <a:prstGeom prst="rect">
            <a:avLst/>
          </a:prstGeom>
          <a:noFill/>
          <a:ln/>
        </p:spPr>
        <p:txBody>
          <a:bodyPr wrap="square" lIns="0" tIns="0" rIns="0" bIns="0" rtlCol="0" anchor="ctr"/>
          <a:lstStyle/>
          <a:p>
            <a:pPr marL="0" indent="0">
              <a:buNone/>
            </a:pPr>
            <a:r>
              <a:rPr lang="en-US" sz="1500" dirty="0">
                <a:solidFill>
                  <a:srgbClr val="4A4A4A"/>
                </a:solidFill>
                <a:latin typeface="Arial" pitchFamily="34" charset="0"/>
                <a:ea typeface="Arial" pitchFamily="34" charset="-122"/>
                <a:cs typeface="Arial" pitchFamily="34" charset="-120"/>
              </a:rPr>
              <a:t>One main thick root with side branches</a:t>
            </a:r>
            <a:endParaRPr lang="en-US" sz="1500" dirty="0"/>
          </a:p>
        </p:txBody>
      </p:sp>
      <p:sp>
        <p:nvSpPr>
          <p:cNvPr id="12" name="Shape 10"/>
          <p:cNvSpPr/>
          <p:nvPr/>
        </p:nvSpPr>
        <p:spPr>
          <a:xfrm>
            <a:off x="457200" y="2834640"/>
            <a:ext cx="8229600" cy="822960"/>
          </a:xfrm>
          <a:prstGeom prst="roundRect">
            <a:avLst>
              <a:gd name="adj" fmla="val 11111"/>
            </a:avLst>
          </a:prstGeom>
          <a:solidFill>
            <a:srgbClr val="FFFFFF"/>
          </a:solidFill>
          <a:ln/>
          <a:effectLst>
            <a:outerShdw blurRad="101600" dist="38100" dir="8100000" algn="bl" rotWithShape="0">
              <a:srgbClr val="000000">
                <a:alpha val="12000"/>
              </a:srgbClr>
            </a:outerShdw>
          </a:effectLst>
        </p:spPr>
      </p:sp>
      <p:sp>
        <p:nvSpPr>
          <p:cNvPr id="13" name="Shape 11"/>
          <p:cNvSpPr/>
          <p:nvPr/>
        </p:nvSpPr>
        <p:spPr>
          <a:xfrm>
            <a:off x="457200" y="2834640"/>
            <a:ext cx="137160" cy="822960"/>
          </a:xfrm>
          <a:prstGeom prst="rect">
            <a:avLst/>
          </a:prstGeom>
          <a:solidFill>
            <a:srgbClr val="E76F51"/>
          </a:solidFill>
          <a:ln/>
        </p:spPr>
      </p:sp>
      <p:sp>
        <p:nvSpPr>
          <p:cNvPr id="14" name="Text 12"/>
          <p:cNvSpPr/>
          <p:nvPr/>
        </p:nvSpPr>
        <p:spPr>
          <a:xfrm>
            <a:off x="822960" y="2926080"/>
            <a:ext cx="7589520" cy="320040"/>
          </a:xfrm>
          <a:prstGeom prst="rect">
            <a:avLst/>
          </a:prstGeom>
          <a:noFill/>
          <a:ln/>
        </p:spPr>
        <p:txBody>
          <a:bodyPr wrap="square" lIns="0" tIns="0" rIns="0" bIns="0" rtlCol="0" anchor="ctr"/>
          <a:lstStyle/>
          <a:p>
            <a:pPr marL="0" indent="0">
              <a:buNone/>
            </a:pPr>
            <a:r>
              <a:rPr lang="en-US" sz="1800" b="1" dirty="0">
                <a:solidFill>
                  <a:srgbClr val="1B4332"/>
                </a:solidFill>
                <a:latin typeface="Arial" pitchFamily="34" charset="0"/>
                <a:ea typeface="Arial" pitchFamily="34" charset="-122"/>
                <a:cs typeface="Arial" pitchFamily="34" charset="-120"/>
              </a:rPr>
              <a:t>Broad Leaves</a:t>
            </a:r>
            <a:endParaRPr lang="en-US" sz="1800" dirty="0"/>
          </a:p>
        </p:txBody>
      </p:sp>
      <p:sp>
        <p:nvSpPr>
          <p:cNvPr id="15" name="Text 13"/>
          <p:cNvSpPr/>
          <p:nvPr/>
        </p:nvSpPr>
        <p:spPr>
          <a:xfrm>
            <a:off x="822960" y="3246120"/>
            <a:ext cx="7589520" cy="320040"/>
          </a:xfrm>
          <a:prstGeom prst="rect">
            <a:avLst/>
          </a:prstGeom>
          <a:noFill/>
          <a:ln/>
        </p:spPr>
        <p:txBody>
          <a:bodyPr wrap="square" lIns="0" tIns="0" rIns="0" bIns="0" rtlCol="0" anchor="ctr"/>
          <a:lstStyle/>
          <a:p>
            <a:pPr marL="0" indent="0">
              <a:buNone/>
            </a:pPr>
            <a:r>
              <a:rPr lang="en-US" sz="1500" dirty="0">
                <a:solidFill>
                  <a:srgbClr val="4A4A4A"/>
                </a:solidFill>
                <a:latin typeface="Arial" pitchFamily="34" charset="0"/>
                <a:ea typeface="Arial" pitchFamily="34" charset="-122"/>
                <a:cs typeface="Arial" pitchFamily="34" charset="-120"/>
              </a:rPr>
              <a:t>Wide leaves with net-like veins</a:t>
            </a:r>
            <a:endParaRPr lang="en-US" sz="1500" dirty="0"/>
          </a:p>
        </p:txBody>
      </p:sp>
      <p:sp>
        <p:nvSpPr>
          <p:cNvPr id="16" name="Shape 14"/>
          <p:cNvSpPr/>
          <p:nvPr/>
        </p:nvSpPr>
        <p:spPr>
          <a:xfrm>
            <a:off x="457200" y="3749040"/>
            <a:ext cx="8229600" cy="822960"/>
          </a:xfrm>
          <a:prstGeom prst="roundRect">
            <a:avLst>
              <a:gd name="adj" fmla="val 11111"/>
            </a:avLst>
          </a:prstGeom>
          <a:solidFill>
            <a:srgbClr val="FFFFFF"/>
          </a:solidFill>
          <a:ln/>
          <a:effectLst>
            <a:outerShdw blurRad="101600" dist="38100" dir="8100000" algn="bl" rotWithShape="0">
              <a:srgbClr val="000000">
                <a:alpha val="12000"/>
              </a:srgbClr>
            </a:outerShdw>
          </a:effectLst>
        </p:spPr>
      </p:sp>
      <p:sp>
        <p:nvSpPr>
          <p:cNvPr id="17" name="Shape 15"/>
          <p:cNvSpPr/>
          <p:nvPr/>
        </p:nvSpPr>
        <p:spPr>
          <a:xfrm>
            <a:off x="457200" y="3749040"/>
            <a:ext cx="137160" cy="822960"/>
          </a:xfrm>
          <a:prstGeom prst="rect">
            <a:avLst/>
          </a:prstGeom>
          <a:solidFill>
            <a:srgbClr val="E76F51"/>
          </a:solidFill>
          <a:ln/>
        </p:spPr>
      </p:sp>
      <p:sp>
        <p:nvSpPr>
          <p:cNvPr id="18" name="Text 16"/>
          <p:cNvSpPr/>
          <p:nvPr/>
        </p:nvSpPr>
        <p:spPr>
          <a:xfrm>
            <a:off x="822960" y="3840480"/>
            <a:ext cx="7589520" cy="320040"/>
          </a:xfrm>
          <a:prstGeom prst="rect">
            <a:avLst/>
          </a:prstGeom>
          <a:noFill/>
          <a:ln/>
        </p:spPr>
        <p:txBody>
          <a:bodyPr wrap="square" lIns="0" tIns="0" rIns="0" bIns="0" rtlCol="0" anchor="ctr"/>
          <a:lstStyle/>
          <a:p>
            <a:pPr marL="0" indent="0">
              <a:buNone/>
            </a:pPr>
            <a:r>
              <a:rPr lang="en-US" sz="1800" b="1" dirty="0">
                <a:solidFill>
                  <a:srgbClr val="1B4332"/>
                </a:solidFill>
                <a:latin typeface="Arial" pitchFamily="34" charset="0"/>
                <a:ea typeface="Arial" pitchFamily="34" charset="-122"/>
                <a:cs typeface="Arial" pitchFamily="34" charset="-120"/>
              </a:rPr>
              <a:t>Examples</a:t>
            </a:r>
            <a:endParaRPr lang="en-US" sz="1800" dirty="0"/>
          </a:p>
        </p:txBody>
      </p:sp>
      <p:sp>
        <p:nvSpPr>
          <p:cNvPr id="19" name="Text 17"/>
          <p:cNvSpPr/>
          <p:nvPr/>
        </p:nvSpPr>
        <p:spPr>
          <a:xfrm>
            <a:off x="822960" y="4160520"/>
            <a:ext cx="7589520" cy="320040"/>
          </a:xfrm>
          <a:prstGeom prst="rect">
            <a:avLst/>
          </a:prstGeom>
          <a:noFill/>
          <a:ln/>
        </p:spPr>
        <p:txBody>
          <a:bodyPr wrap="square" lIns="0" tIns="0" rIns="0" bIns="0" rtlCol="0" anchor="ctr"/>
          <a:lstStyle/>
          <a:p>
            <a:pPr marL="0" indent="0">
              <a:buNone/>
            </a:pPr>
            <a:r>
              <a:rPr lang="en-US" sz="1500" dirty="0">
                <a:solidFill>
                  <a:srgbClr val="4A4A4A"/>
                </a:solidFill>
                <a:latin typeface="Arial" pitchFamily="34" charset="0"/>
                <a:ea typeface="Arial" pitchFamily="34" charset="-122"/>
                <a:cs typeface="Arial" pitchFamily="34" charset="-120"/>
              </a:rPr>
              <a:t>Pea, beans, mustard, mango, rose</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4">
    <p:bg>
      <p:bgPr>
        <a:solidFill>
          <a:srgbClr val="F8F9F5"/>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B4332"/>
          </a:solidFill>
          <a:ln/>
        </p:spPr>
      </p:sp>
      <p:sp>
        <p:nvSpPr>
          <p:cNvPr id="3" name="Text 1"/>
          <p:cNvSpPr/>
          <p:nvPr/>
        </p:nvSpPr>
        <p:spPr>
          <a:xfrm>
            <a:off x="365760" y="137160"/>
            <a:ext cx="8229600" cy="457200"/>
          </a:xfrm>
          <a:prstGeom prst="rect">
            <a:avLst/>
          </a:prstGeom>
          <a:noFill/>
          <a:ln/>
        </p:spPr>
        <p:txBody>
          <a:bodyPr wrap="square" lIns="0" tIns="0" rIns="0" bIns="0" rtlCol="0" anchor="ctr"/>
          <a:lstStyle/>
          <a:p>
            <a:pPr marL="0" indent="0">
              <a:buNone/>
            </a:pPr>
            <a:r>
              <a:rPr lang="en-US" sz="2400" b="1" dirty="0">
                <a:solidFill>
                  <a:srgbClr val="FFFFFF"/>
                </a:solidFill>
                <a:latin typeface="Arial" pitchFamily="34" charset="0"/>
                <a:ea typeface="Arial" pitchFamily="34" charset="-122"/>
                <a:cs typeface="Arial" pitchFamily="34" charset="-120"/>
              </a:rPr>
              <a:t>Interactive: Find the Dicot</a:t>
            </a:r>
            <a:endParaRPr lang="en-US" sz="2400" dirty="0"/>
          </a:p>
        </p:txBody>
      </p:sp>
      <p:sp>
        <p:nvSpPr>
          <p:cNvPr id="4" name="Text 2"/>
          <p:cNvSpPr/>
          <p:nvPr/>
        </p:nvSpPr>
        <p:spPr>
          <a:xfrm>
            <a:off x="457200" y="914400"/>
            <a:ext cx="8229600" cy="365760"/>
          </a:xfrm>
          <a:prstGeom prst="rect">
            <a:avLst/>
          </a:prstGeom>
          <a:noFill/>
          <a:ln/>
        </p:spPr>
        <p:txBody>
          <a:bodyPr wrap="square" lIns="0" tIns="0" rIns="0" bIns="0" rtlCol="0" anchor="ctr"/>
          <a:lstStyle/>
          <a:p>
            <a:pPr marL="0" indent="0" algn="ctr">
              <a:buNone/>
            </a:pPr>
            <a:r>
              <a:rPr lang="en-US" sz="1800" b="1" dirty="0">
                <a:solidFill>
                  <a:srgbClr val="1A1A1A"/>
                </a:solidFill>
                <a:latin typeface="Arial" pitchFamily="34" charset="0"/>
                <a:ea typeface="Arial" pitchFamily="34" charset="-122"/>
                <a:cs typeface="Arial" pitchFamily="34" charset="-120"/>
              </a:rPr>
              <a:t>Which of these are dicotyledonous plants?</a:t>
            </a:r>
            <a:endParaRPr lang="en-US" sz="1800" dirty="0"/>
          </a:p>
        </p:txBody>
      </p:sp>
      <p:sp>
        <p:nvSpPr>
          <p:cNvPr id="5" name="Shape 3"/>
          <p:cNvSpPr/>
          <p:nvPr/>
        </p:nvSpPr>
        <p:spPr>
          <a:xfrm>
            <a:off x="914400" y="1463040"/>
            <a:ext cx="2286000" cy="914400"/>
          </a:xfrm>
          <a:prstGeom prst="roundRect">
            <a:avLst>
              <a:gd name="adj" fmla="val 10000"/>
            </a:avLst>
          </a:prstGeom>
          <a:solidFill>
            <a:srgbClr val="FFFFFF"/>
          </a:solidFill>
          <a:ln/>
          <a:effectLst>
            <a:outerShdw blurRad="101600" dist="38100" dir="8100000" algn="bl" rotWithShape="0">
              <a:srgbClr val="000000">
                <a:alpha val="12000"/>
              </a:srgbClr>
            </a:outerShdw>
          </a:effectLst>
        </p:spPr>
      </p:sp>
      <p:sp>
        <p:nvSpPr>
          <p:cNvPr id="6" name="Text 4"/>
          <p:cNvSpPr/>
          <p:nvPr/>
        </p:nvSpPr>
        <p:spPr>
          <a:xfrm>
            <a:off x="914400" y="1463040"/>
            <a:ext cx="2286000" cy="914400"/>
          </a:xfrm>
          <a:prstGeom prst="rect">
            <a:avLst/>
          </a:prstGeom>
          <a:noFill/>
          <a:ln/>
        </p:spPr>
        <p:txBody>
          <a:bodyPr wrap="square" lIns="0" tIns="0" rIns="0" bIns="0" rtlCol="0" anchor="ctr"/>
          <a:lstStyle/>
          <a:p>
            <a:pPr marL="0" indent="0" algn="ctr">
              <a:buNone/>
            </a:pPr>
            <a:r>
              <a:rPr lang="en-US" sz="1800" b="1" dirty="0">
                <a:solidFill>
                  <a:srgbClr val="1A1A1A"/>
                </a:solidFill>
                <a:latin typeface="Arial" pitchFamily="34" charset="0"/>
                <a:ea typeface="Arial" pitchFamily="34" charset="-122"/>
                <a:cs typeface="Arial" pitchFamily="34" charset="-120"/>
              </a:rPr>
              <a:t>Rice</a:t>
            </a:r>
            <a:endParaRPr lang="en-US" sz="1800" dirty="0"/>
          </a:p>
        </p:txBody>
      </p:sp>
      <p:sp>
        <p:nvSpPr>
          <p:cNvPr id="7" name="Shape 5"/>
          <p:cNvSpPr/>
          <p:nvPr/>
        </p:nvSpPr>
        <p:spPr>
          <a:xfrm>
            <a:off x="3474720" y="1463040"/>
            <a:ext cx="2286000" cy="914400"/>
          </a:xfrm>
          <a:prstGeom prst="roundRect">
            <a:avLst>
              <a:gd name="adj" fmla="val 10000"/>
            </a:avLst>
          </a:prstGeom>
          <a:solidFill>
            <a:srgbClr val="FFFFFF"/>
          </a:solidFill>
          <a:ln/>
          <a:effectLst>
            <a:outerShdw blurRad="101600" dist="38100" dir="8100000" algn="bl" rotWithShape="0">
              <a:srgbClr val="000000">
                <a:alpha val="12000"/>
              </a:srgbClr>
            </a:outerShdw>
          </a:effectLst>
        </p:spPr>
      </p:sp>
      <p:sp>
        <p:nvSpPr>
          <p:cNvPr id="8" name="Text 6"/>
          <p:cNvSpPr/>
          <p:nvPr/>
        </p:nvSpPr>
        <p:spPr>
          <a:xfrm>
            <a:off x="3474720" y="1463040"/>
            <a:ext cx="2286000" cy="914400"/>
          </a:xfrm>
          <a:prstGeom prst="rect">
            <a:avLst/>
          </a:prstGeom>
          <a:noFill/>
          <a:ln/>
        </p:spPr>
        <p:txBody>
          <a:bodyPr wrap="square" lIns="0" tIns="0" rIns="0" bIns="0" rtlCol="0" anchor="ctr"/>
          <a:lstStyle/>
          <a:p>
            <a:pPr marL="0" indent="0" algn="ctr">
              <a:buNone/>
            </a:pPr>
            <a:r>
              <a:rPr lang="en-US" sz="1800" b="1" dirty="0">
                <a:solidFill>
                  <a:srgbClr val="1A1A1A"/>
                </a:solidFill>
                <a:latin typeface="Arial" pitchFamily="34" charset="0"/>
                <a:ea typeface="Arial" pitchFamily="34" charset="-122"/>
                <a:cs typeface="Arial" pitchFamily="34" charset="-120"/>
              </a:rPr>
              <a:t>Mango</a:t>
            </a:r>
            <a:endParaRPr lang="en-US" sz="1800" dirty="0"/>
          </a:p>
        </p:txBody>
      </p:sp>
      <p:sp>
        <p:nvSpPr>
          <p:cNvPr id="9" name="Shape 7"/>
          <p:cNvSpPr/>
          <p:nvPr/>
        </p:nvSpPr>
        <p:spPr>
          <a:xfrm>
            <a:off x="6035040" y="1463040"/>
            <a:ext cx="2286000" cy="914400"/>
          </a:xfrm>
          <a:prstGeom prst="roundRect">
            <a:avLst>
              <a:gd name="adj" fmla="val 10000"/>
            </a:avLst>
          </a:prstGeom>
          <a:solidFill>
            <a:srgbClr val="FFFFFF"/>
          </a:solidFill>
          <a:ln/>
          <a:effectLst>
            <a:outerShdw blurRad="101600" dist="38100" dir="8100000" algn="bl" rotWithShape="0">
              <a:srgbClr val="000000">
                <a:alpha val="12000"/>
              </a:srgbClr>
            </a:outerShdw>
          </a:effectLst>
        </p:spPr>
      </p:sp>
      <p:sp>
        <p:nvSpPr>
          <p:cNvPr id="10" name="Text 8"/>
          <p:cNvSpPr/>
          <p:nvPr/>
        </p:nvSpPr>
        <p:spPr>
          <a:xfrm>
            <a:off x="6035040" y="1463040"/>
            <a:ext cx="2286000" cy="914400"/>
          </a:xfrm>
          <a:prstGeom prst="rect">
            <a:avLst/>
          </a:prstGeom>
          <a:noFill/>
          <a:ln/>
        </p:spPr>
        <p:txBody>
          <a:bodyPr wrap="square" lIns="0" tIns="0" rIns="0" bIns="0" rtlCol="0" anchor="ctr"/>
          <a:lstStyle/>
          <a:p>
            <a:pPr marL="0" indent="0" algn="ctr">
              <a:buNone/>
            </a:pPr>
            <a:r>
              <a:rPr lang="en-US" sz="1800" b="1" dirty="0">
                <a:solidFill>
                  <a:srgbClr val="1A1A1A"/>
                </a:solidFill>
                <a:latin typeface="Arial" pitchFamily="34" charset="0"/>
                <a:ea typeface="Arial" pitchFamily="34" charset="-122"/>
                <a:cs typeface="Arial" pitchFamily="34" charset="-120"/>
              </a:rPr>
              <a:t>Maize</a:t>
            </a:r>
            <a:endParaRPr lang="en-US" sz="1800" dirty="0"/>
          </a:p>
        </p:txBody>
      </p:sp>
      <p:sp>
        <p:nvSpPr>
          <p:cNvPr id="11" name="Shape 9"/>
          <p:cNvSpPr/>
          <p:nvPr/>
        </p:nvSpPr>
        <p:spPr>
          <a:xfrm>
            <a:off x="914400" y="2560320"/>
            <a:ext cx="2286000" cy="914400"/>
          </a:xfrm>
          <a:prstGeom prst="roundRect">
            <a:avLst>
              <a:gd name="adj" fmla="val 10000"/>
            </a:avLst>
          </a:prstGeom>
          <a:solidFill>
            <a:srgbClr val="FFFFFF"/>
          </a:solidFill>
          <a:ln/>
          <a:effectLst>
            <a:outerShdw blurRad="101600" dist="38100" dir="8100000" algn="bl" rotWithShape="0">
              <a:srgbClr val="000000">
                <a:alpha val="12000"/>
              </a:srgbClr>
            </a:outerShdw>
          </a:effectLst>
        </p:spPr>
      </p:sp>
      <p:sp>
        <p:nvSpPr>
          <p:cNvPr id="12" name="Text 10"/>
          <p:cNvSpPr/>
          <p:nvPr/>
        </p:nvSpPr>
        <p:spPr>
          <a:xfrm>
            <a:off x="914400" y="2560320"/>
            <a:ext cx="2286000" cy="914400"/>
          </a:xfrm>
          <a:prstGeom prst="rect">
            <a:avLst/>
          </a:prstGeom>
          <a:noFill/>
          <a:ln/>
        </p:spPr>
        <p:txBody>
          <a:bodyPr wrap="square" lIns="0" tIns="0" rIns="0" bIns="0" rtlCol="0" anchor="ctr"/>
          <a:lstStyle/>
          <a:p>
            <a:pPr marL="0" indent="0" algn="ctr">
              <a:buNone/>
            </a:pPr>
            <a:r>
              <a:rPr lang="en-US" sz="1800" b="1" dirty="0">
                <a:solidFill>
                  <a:srgbClr val="1A1A1A"/>
                </a:solidFill>
                <a:latin typeface="Arial" pitchFamily="34" charset="0"/>
                <a:ea typeface="Arial" pitchFamily="34" charset="-122"/>
                <a:cs typeface="Arial" pitchFamily="34" charset="-120"/>
              </a:rPr>
              <a:t>Pea</a:t>
            </a:r>
            <a:endParaRPr lang="en-US" sz="1800" dirty="0"/>
          </a:p>
        </p:txBody>
      </p:sp>
      <p:sp>
        <p:nvSpPr>
          <p:cNvPr id="13" name="Shape 11"/>
          <p:cNvSpPr/>
          <p:nvPr/>
        </p:nvSpPr>
        <p:spPr>
          <a:xfrm>
            <a:off x="3474720" y="2560320"/>
            <a:ext cx="2286000" cy="914400"/>
          </a:xfrm>
          <a:prstGeom prst="roundRect">
            <a:avLst>
              <a:gd name="adj" fmla="val 10000"/>
            </a:avLst>
          </a:prstGeom>
          <a:solidFill>
            <a:srgbClr val="FFFFFF"/>
          </a:solidFill>
          <a:ln/>
          <a:effectLst>
            <a:outerShdw blurRad="101600" dist="38100" dir="8100000" algn="bl" rotWithShape="0">
              <a:srgbClr val="000000">
                <a:alpha val="12000"/>
              </a:srgbClr>
            </a:outerShdw>
          </a:effectLst>
        </p:spPr>
      </p:sp>
      <p:sp>
        <p:nvSpPr>
          <p:cNvPr id="14" name="Text 12"/>
          <p:cNvSpPr/>
          <p:nvPr/>
        </p:nvSpPr>
        <p:spPr>
          <a:xfrm>
            <a:off x="3474720" y="2560320"/>
            <a:ext cx="2286000" cy="914400"/>
          </a:xfrm>
          <a:prstGeom prst="rect">
            <a:avLst/>
          </a:prstGeom>
          <a:noFill/>
          <a:ln/>
        </p:spPr>
        <p:txBody>
          <a:bodyPr wrap="square" lIns="0" tIns="0" rIns="0" bIns="0" rtlCol="0" anchor="ctr"/>
          <a:lstStyle/>
          <a:p>
            <a:pPr marL="0" indent="0" algn="ctr">
              <a:buNone/>
            </a:pPr>
            <a:r>
              <a:rPr lang="en-US" sz="1800" b="1" dirty="0">
                <a:solidFill>
                  <a:srgbClr val="1A1A1A"/>
                </a:solidFill>
                <a:latin typeface="Arial" pitchFamily="34" charset="0"/>
                <a:ea typeface="Arial" pitchFamily="34" charset="-122"/>
                <a:cs typeface="Arial" pitchFamily="34" charset="-120"/>
              </a:rPr>
              <a:t>Wheat</a:t>
            </a:r>
            <a:endParaRPr lang="en-US" sz="1800" dirty="0"/>
          </a:p>
        </p:txBody>
      </p:sp>
      <p:sp>
        <p:nvSpPr>
          <p:cNvPr id="15" name="Shape 13"/>
          <p:cNvSpPr/>
          <p:nvPr/>
        </p:nvSpPr>
        <p:spPr>
          <a:xfrm>
            <a:off x="6035040" y="2560320"/>
            <a:ext cx="2286000" cy="914400"/>
          </a:xfrm>
          <a:prstGeom prst="roundRect">
            <a:avLst>
              <a:gd name="adj" fmla="val 10000"/>
            </a:avLst>
          </a:prstGeom>
          <a:solidFill>
            <a:srgbClr val="FFFFFF"/>
          </a:solidFill>
          <a:ln/>
          <a:effectLst>
            <a:outerShdw blurRad="101600" dist="38100" dir="8100000" algn="bl" rotWithShape="0">
              <a:srgbClr val="000000">
                <a:alpha val="12000"/>
              </a:srgbClr>
            </a:outerShdw>
          </a:effectLst>
        </p:spPr>
      </p:sp>
      <p:sp>
        <p:nvSpPr>
          <p:cNvPr id="16" name="Text 14"/>
          <p:cNvSpPr/>
          <p:nvPr/>
        </p:nvSpPr>
        <p:spPr>
          <a:xfrm>
            <a:off x="6035040" y="2560320"/>
            <a:ext cx="2286000" cy="914400"/>
          </a:xfrm>
          <a:prstGeom prst="rect">
            <a:avLst/>
          </a:prstGeom>
          <a:noFill/>
          <a:ln/>
        </p:spPr>
        <p:txBody>
          <a:bodyPr wrap="square" lIns="0" tIns="0" rIns="0" bIns="0" rtlCol="0" anchor="ctr"/>
          <a:lstStyle/>
          <a:p>
            <a:pPr marL="0" indent="0" algn="ctr">
              <a:buNone/>
            </a:pPr>
            <a:r>
              <a:rPr lang="en-US" sz="1800" b="1" dirty="0">
                <a:solidFill>
                  <a:srgbClr val="1A1A1A"/>
                </a:solidFill>
                <a:latin typeface="Arial" pitchFamily="34" charset="0"/>
                <a:ea typeface="Arial" pitchFamily="34" charset="-122"/>
                <a:cs typeface="Arial" pitchFamily="34" charset="-120"/>
              </a:rPr>
              <a:t>Mustard</a:t>
            </a:r>
            <a:endParaRPr lang="en-US" sz="1800" dirty="0"/>
          </a:p>
        </p:txBody>
      </p:sp>
      <p:sp>
        <p:nvSpPr>
          <p:cNvPr id="17" name="Shape 15"/>
          <p:cNvSpPr/>
          <p:nvPr/>
        </p:nvSpPr>
        <p:spPr>
          <a:xfrm>
            <a:off x="1371600" y="3840480"/>
            <a:ext cx="6400800" cy="914400"/>
          </a:xfrm>
          <a:prstGeom prst="roundRect">
            <a:avLst>
              <a:gd name="adj" fmla="val 10000"/>
            </a:avLst>
          </a:prstGeom>
          <a:solidFill>
            <a:srgbClr val="FEF3C7"/>
          </a:solidFill>
          <a:ln/>
          <a:effectLst>
            <a:outerShdw blurRad="101600" dist="38100" dir="8100000" algn="bl" rotWithShape="0">
              <a:srgbClr val="000000">
                <a:alpha val="12000"/>
              </a:srgbClr>
            </a:outerShdw>
          </a:effectLst>
        </p:spPr>
      </p:sp>
      <p:sp>
        <p:nvSpPr>
          <p:cNvPr id="18" name="Text 16"/>
          <p:cNvSpPr/>
          <p:nvPr/>
        </p:nvSpPr>
        <p:spPr>
          <a:xfrm>
            <a:off x="1371600" y="3840480"/>
            <a:ext cx="6400800" cy="914400"/>
          </a:xfrm>
          <a:prstGeom prst="rect">
            <a:avLst/>
          </a:prstGeom>
          <a:noFill/>
          <a:ln/>
        </p:spPr>
        <p:txBody>
          <a:bodyPr wrap="square" lIns="0" tIns="0" rIns="0" bIns="0" rtlCol="0" anchor="ctr"/>
          <a:lstStyle/>
          <a:p>
            <a:pPr marL="0" indent="0" algn="ctr">
              <a:buNone/>
            </a:pPr>
            <a:r>
              <a:rPr lang="en-US" sz="1800" b="1" dirty="0">
                <a:solidFill>
                  <a:srgbClr val="1A1A1A"/>
                </a:solidFill>
                <a:latin typeface="Arial" pitchFamily="34" charset="0"/>
                <a:ea typeface="Arial" pitchFamily="34" charset="-122"/>
                <a:cs typeface="Arial" pitchFamily="34" charset="-120"/>
              </a:rPr>
              <a:t>✅ Dicots: Mango  •  Pea  •  Mustard</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5">
    <p:bg>
      <p:bgPr>
        <a:solidFill>
          <a:srgbClr val="F8F9F5"/>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B4332"/>
          </a:solidFill>
          <a:ln/>
        </p:spPr>
      </p:sp>
      <p:sp>
        <p:nvSpPr>
          <p:cNvPr id="3" name="Text 1"/>
          <p:cNvSpPr/>
          <p:nvPr/>
        </p:nvSpPr>
        <p:spPr>
          <a:xfrm>
            <a:off x="365760" y="137160"/>
            <a:ext cx="8229600" cy="457200"/>
          </a:xfrm>
          <a:prstGeom prst="rect">
            <a:avLst/>
          </a:prstGeom>
          <a:noFill/>
          <a:ln/>
        </p:spPr>
        <p:txBody>
          <a:bodyPr wrap="square" lIns="0" tIns="0" rIns="0" bIns="0" rtlCol="0" anchor="ctr"/>
          <a:lstStyle/>
          <a:p>
            <a:pPr marL="0" indent="0">
              <a:buNone/>
            </a:pPr>
            <a:r>
              <a:rPr lang="en-US" sz="2400" b="1" dirty="0">
                <a:solidFill>
                  <a:srgbClr val="FFFFFF"/>
                </a:solidFill>
                <a:latin typeface="Arial" pitchFamily="34" charset="0"/>
                <a:ea typeface="Arial" pitchFamily="34" charset="-122"/>
                <a:cs typeface="Arial" pitchFamily="34" charset="-120"/>
              </a:rPr>
              <a:t>Let's Investigate Seeds 🔍</a:t>
            </a:r>
            <a:endParaRPr lang="en-US" sz="2400" dirty="0"/>
          </a:p>
        </p:txBody>
      </p:sp>
      <p:sp>
        <p:nvSpPr>
          <p:cNvPr id="4" name="Text 2"/>
          <p:cNvSpPr/>
          <p:nvPr/>
        </p:nvSpPr>
        <p:spPr>
          <a:xfrm>
            <a:off x="365760" y="871220"/>
            <a:ext cx="8229600" cy="365760"/>
          </a:xfrm>
          <a:prstGeom prst="rect">
            <a:avLst/>
          </a:prstGeom>
          <a:noFill/>
          <a:ln/>
        </p:spPr>
        <p:txBody>
          <a:bodyPr wrap="square" lIns="0" tIns="0" rIns="0" bIns="0" rtlCol="0" anchor="ctr"/>
          <a:lstStyle/>
          <a:p>
            <a:pPr marL="0" indent="0" algn="ctr">
              <a:buNone/>
            </a:pPr>
            <a:r>
              <a:rPr lang="en-US" sz="1800" b="1" dirty="0">
                <a:solidFill>
                  <a:srgbClr val="1A1A1A"/>
                </a:solidFill>
                <a:latin typeface="Arial" pitchFamily="34" charset="0"/>
                <a:ea typeface="Arial" pitchFamily="34" charset="-122"/>
                <a:cs typeface="Arial" pitchFamily="34" charset="-120"/>
              </a:rPr>
              <a:t>What happens when we open these seeds?</a:t>
            </a:r>
            <a:endParaRPr lang="en-US" sz="1800" dirty="0"/>
          </a:p>
        </p:txBody>
      </p:sp>
      <p:sp>
        <p:nvSpPr>
          <p:cNvPr id="6" name="Text 4"/>
          <p:cNvSpPr/>
          <p:nvPr/>
        </p:nvSpPr>
        <p:spPr>
          <a:xfrm>
            <a:off x="548641" y="1219835"/>
            <a:ext cx="3840480" cy="457200"/>
          </a:xfrm>
          <a:prstGeom prst="rect">
            <a:avLst/>
          </a:prstGeom>
          <a:noFill/>
          <a:ln/>
        </p:spPr>
        <p:txBody>
          <a:bodyPr wrap="square" lIns="0" tIns="0" rIns="0" bIns="0" rtlCol="0" anchor="ctr"/>
          <a:lstStyle/>
          <a:p>
            <a:pPr marL="0" indent="0" algn="ctr">
              <a:buNone/>
            </a:pPr>
            <a:r>
              <a:rPr lang="en-US" sz="2000" b="1" dirty="0">
                <a:solidFill>
                  <a:srgbClr val="1B4332"/>
                </a:solidFill>
                <a:latin typeface="Arial" pitchFamily="34" charset="0"/>
                <a:ea typeface="Arial" pitchFamily="34" charset="-122"/>
                <a:cs typeface="Arial" pitchFamily="34" charset="-120"/>
              </a:rPr>
              <a:t>🌽 Maize Seed</a:t>
            </a:r>
            <a:endParaRPr lang="en-US" sz="2000" dirty="0"/>
          </a:p>
        </p:txBody>
      </p:sp>
      <p:sp>
        <p:nvSpPr>
          <p:cNvPr id="8" name="Shape 6"/>
          <p:cNvSpPr/>
          <p:nvPr/>
        </p:nvSpPr>
        <p:spPr>
          <a:xfrm>
            <a:off x="1188720" y="4065905"/>
            <a:ext cx="2560320" cy="457200"/>
          </a:xfrm>
          <a:prstGeom prst="roundRect">
            <a:avLst>
              <a:gd name="adj" fmla="val 16000"/>
            </a:avLst>
          </a:prstGeom>
          <a:solidFill>
            <a:srgbClr val="D1FAE5"/>
          </a:solidFill>
          <a:ln/>
        </p:spPr>
      </p:sp>
      <p:sp>
        <p:nvSpPr>
          <p:cNvPr id="9" name="Text 7"/>
          <p:cNvSpPr/>
          <p:nvPr/>
        </p:nvSpPr>
        <p:spPr>
          <a:xfrm>
            <a:off x="1188720" y="4078605"/>
            <a:ext cx="2560320" cy="457200"/>
          </a:xfrm>
          <a:prstGeom prst="rect">
            <a:avLst/>
          </a:prstGeom>
          <a:noFill/>
          <a:ln/>
        </p:spPr>
        <p:txBody>
          <a:bodyPr wrap="square" lIns="0" tIns="0" rIns="0" bIns="0" rtlCol="0" anchor="ctr"/>
          <a:lstStyle/>
          <a:p>
            <a:pPr marL="0" indent="0" algn="ctr">
              <a:buNone/>
            </a:pPr>
            <a:r>
              <a:rPr lang="en-US" sz="1500" b="1" dirty="0">
                <a:solidFill>
                  <a:srgbClr val="1B4332"/>
                </a:solidFill>
                <a:latin typeface="Arial" pitchFamily="34" charset="0"/>
                <a:ea typeface="Arial" pitchFamily="34" charset="-122"/>
                <a:cs typeface="Arial" pitchFamily="34" charset="-120"/>
              </a:rPr>
              <a:t>✅ One cotyledon</a:t>
            </a:r>
            <a:endParaRPr lang="en-US" sz="1500" dirty="0"/>
          </a:p>
        </p:txBody>
      </p:sp>
      <p:sp>
        <p:nvSpPr>
          <p:cNvPr id="11" name="Text 9"/>
          <p:cNvSpPr/>
          <p:nvPr/>
        </p:nvSpPr>
        <p:spPr>
          <a:xfrm>
            <a:off x="4754881" y="1219835"/>
            <a:ext cx="3840480" cy="457200"/>
          </a:xfrm>
          <a:prstGeom prst="rect">
            <a:avLst/>
          </a:prstGeom>
          <a:noFill/>
          <a:ln/>
        </p:spPr>
        <p:txBody>
          <a:bodyPr wrap="square" lIns="0" tIns="0" rIns="0" bIns="0" rtlCol="0" anchor="ctr"/>
          <a:lstStyle/>
          <a:p>
            <a:pPr marL="0" indent="0" algn="ctr">
              <a:buNone/>
            </a:pPr>
            <a:r>
              <a:rPr lang="en-US" sz="2000" b="1" dirty="0">
                <a:solidFill>
                  <a:srgbClr val="1B4332"/>
                </a:solidFill>
                <a:latin typeface="Arial" pitchFamily="34" charset="0"/>
                <a:ea typeface="Arial" pitchFamily="34" charset="-122"/>
                <a:cs typeface="Arial" pitchFamily="34" charset="-120"/>
              </a:rPr>
              <a:t> Bean / Pea Seed</a:t>
            </a:r>
            <a:endParaRPr lang="en-US" sz="2000" dirty="0"/>
          </a:p>
        </p:txBody>
      </p:sp>
      <p:sp>
        <p:nvSpPr>
          <p:cNvPr id="13" name="Shape 11"/>
          <p:cNvSpPr/>
          <p:nvPr/>
        </p:nvSpPr>
        <p:spPr>
          <a:xfrm>
            <a:off x="5394960" y="4078605"/>
            <a:ext cx="2560320" cy="457200"/>
          </a:xfrm>
          <a:prstGeom prst="roundRect">
            <a:avLst>
              <a:gd name="adj" fmla="val 16000"/>
            </a:avLst>
          </a:prstGeom>
          <a:solidFill>
            <a:srgbClr val="FEF3C7"/>
          </a:solidFill>
          <a:ln/>
        </p:spPr>
      </p:sp>
      <p:sp>
        <p:nvSpPr>
          <p:cNvPr id="14" name="Text 12"/>
          <p:cNvSpPr/>
          <p:nvPr/>
        </p:nvSpPr>
        <p:spPr>
          <a:xfrm>
            <a:off x="5394960" y="4128770"/>
            <a:ext cx="2560320" cy="457200"/>
          </a:xfrm>
          <a:prstGeom prst="rect">
            <a:avLst/>
          </a:prstGeom>
          <a:noFill/>
          <a:ln/>
        </p:spPr>
        <p:txBody>
          <a:bodyPr wrap="square" lIns="0" tIns="0" rIns="0" bIns="0" rtlCol="0" anchor="ctr"/>
          <a:lstStyle/>
          <a:p>
            <a:pPr marL="0" indent="0" algn="ctr">
              <a:buNone/>
            </a:pPr>
            <a:r>
              <a:rPr lang="en-US" sz="1500" b="1" dirty="0">
                <a:solidFill>
                  <a:srgbClr val="1A1A1A"/>
                </a:solidFill>
                <a:latin typeface="Arial" pitchFamily="34" charset="0"/>
                <a:ea typeface="Arial" pitchFamily="34" charset="-122"/>
                <a:cs typeface="Arial" pitchFamily="34" charset="-120"/>
              </a:rPr>
              <a:t>✅ Two cotyledons</a:t>
            </a:r>
            <a:endParaRPr lang="en-US" sz="1500" dirty="0"/>
          </a:p>
        </p:txBody>
      </p:sp>
      <p:sp>
        <p:nvSpPr>
          <p:cNvPr id="15" name="Shape 13"/>
          <p:cNvSpPr/>
          <p:nvPr/>
        </p:nvSpPr>
        <p:spPr>
          <a:xfrm>
            <a:off x="1371600" y="4686300"/>
            <a:ext cx="6400800" cy="457200"/>
          </a:xfrm>
          <a:prstGeom prst="roundRect">
            <a:avLst>
              <a:gd name="adj" fmla="val 12500"/>
            </a:avLst>
          </a:prstGeom>
          <a:solidFill>
            <a:srgbClr val="1B4332"/>
          </a:solidFill>
          <a:ln/>
        </p:spPr>
      </p:sp>
      <p:sp>
        <p:nvSpPr>
          <p:cNvPr id="16" name="Text 14"/>
          <p:cNvSpPr/>
          <p:nvPr/>
        </p:nvSpPr>
        <p:spPr>
          <a:xfrm>
            <a:off x="1371600" y="4585970"/>
            <a:ext cx="6400800" cy="731520"/>
          </a:xfrm>
          <a:prstGeom prst="rect">
            <a:avLst/>
          </a:prstGeom>
          <a:noFill/>
          <a:ln/>
        </p:spPr>
        <p:txBody>
          <a:bodyPr wrap="square" lIns="0" tIns="0" rIns="0" bIns="0"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 Monocot = One cotyledon     Dicot = Two cotyledons</a:t>
            </a:r>
            <a:endParaRPr lang="en-US" sz="1600" dirty="0"/>
          </a:p>
        </p:txBody>
      </p:sp>
      <p:pic>
        <p:nvPicPr>
          <p:cNvPr id="18" name="Picture 17">
            <a:extLst>
              <a:ext uri="{FF2B5EF4-FFF2-40B4-BE49-F238E27FC236}">
                <a16:creationId xmlns:a16="http://schemas.microsoft.com/office/drawing/2014/main" id="{55C4038A-7732-8FDC-AF81-7A711993B40B}"/>
              </a:ext>
            </a:extLst>
          </p:cNvPr>
          <p:cNvPicPr>
            <a:picLocks noChangeAspect="1"/>
          </p:cNvPicPr>
          <p:nvPr/>
        </p:nvPicPr>
        <p:blipFill>
          <a:blip r:embed="rId3"/>
          <a:srcRect t="24521" r="70770" b="7567"/>
          <a:stretch>
            <a:fillRect/>
          </a:stretch>
        </p:blipFill>
        <p:spPr>
          <a:xfrm>
            <a:off x="1747201" y="1677035"/>
            <a:ext cx="2001839" cy="2251075"/>
          </a:xfrm>
          <a:prstGeom prst="rect">
            <a:avLst/>
          </a:prstGeom>
        </p:spPr>
      </p:pic>
      <p:pic>
        <p:nvPicPr>
          <p:cNvPr id="20" name="Picture 19">
            <a:extLst>
              <a:ext uri="{FF2B5EF4-FFF2-40B4-BE49-F238E27FC236}">
                <a16:creationId xmlns:a16="http://schemas.microsoft.com/office/drawing/2014/main" id="{BF178824-2612-146F-A369-DE3824C7B2DB}"/>
              </a:ext>
            </a:extLst>
          </p:cNvPr>
          <p:cNvPicPr>
            <a:picLocks noChangeAspect="1"/>
          </p:cNvPicPr>
          <p:nvPr/>
        </p:nvPicPr>
        <p:blipFill>
          <a:blip r:embed="rId3"/>
          <a:srcRect l="60756" t="24521" b="7567"/>
          <a:stretch>
            <a:fillRect/>
          </a:stretch>
        </p:blipFill>
        <p:spPr>
          <a:xfrm>
            <a:off x="5394960" y="1575118"/>
            <a:ext cx="2687637" cy="225107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6">
    <p:bg>
      <p:bgPr>
        <a:solidFill>
          <a:srgbClr val="F8F9F5"/>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B4332"/>
          </a:solidFill>
          <a:ln/>
        </p:spPr>
      </p:sp>
      <p:sp>
        <p:nvSpPr>
          <p:cNvPr id="3" name="Text 1"/>
          <p:cNvSpPr/>
          <p:nvPr/>
        </p:nvSpPr>
        <p:spPr>
          <a:xfrm>
            <a:off x="365760" y="137160"/>
            <a:ext cx="8229600" cy="457200"/>
          </a:xfrm>
          <a:prstGeom prst="rect">
            <a:avLst/>
          </a:prstGeom>
          <a:noFill/>
          <a:ln/>
        </p:spPr>
        <p:txBody>
          <a:bodyPr wrap="square" lIns="0" tIns="0" rIns="0" bIns="0" rtlCol="0" anchor="ctr"/>
          <a:lstStyle/>
          <a:p>
            <a:pPr marL="0" indent="0">
              <a:buNone/>
            </a:pPr>
            <a:r>
              <a:rPr lang="en-US" sz="2400" b="1" dirty="0">
                <a:solidFill>
                  <a:srgbClr val="FFFFFF"/>
                </a:solidFill>
                <a:latin typeface="Arial" pitchFamily="34" charset="0"/>
                <a:ea typeface="Arial" pitchFamily="34" charset="-122"/>
                <a:cs typeface="Arial" pitchFamily="34" charset="-120"/>
              </a:rPr>
              <a:t>Monocot vs Dicot — Comparison</a:t>
            </a:r>
            <a:endParaRPr lang="en-US" sz="2400" dirty="0"/>
          </a:p>
        </p:txBody>
      </p:sp>
      <p:sp>
        <p:nvSpPr>
          <p:cNvPr id="4" name="Shape 2"/>
          <p:cNvSpPr/>
          <p:nvPr/>
        </p:nvSpPr>
        <p:spPr>
          <a:xfrm>
            <a:off x="365760" y="960120"/>
            <a:ext cx="2743200" cy="548640"/>
          </a:xfrm>
          <a:prstGeom prst="rect">
            <a:avLst/>
          </a:prstGeom>
          <a:solidFill>
            <a:srgbClr val="2D6A4F"/>
          </a:solidFill>
          <a:ln/>
        </p:spPr>
      </p:sp>
      <p:sp>
        <p:nvSpPr>
          <p:cNvPr id="5" name="Text 3"/>
          <p:cNvSpPr/>
          <p:nvPr/>
        </p:nvSpPr>
        <p:spPr>
          <a:xfrm>
            <a:off x="365760" y="960120"/>
            <a:ext cx="2743200" cy="54864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Feature</a:t>
            </a:r>
            <a:endParaRPr lang="en-US" sz="1500" dirty="0"/>
          </a:p>
        </p:txBody>
      </p:sp>
      <p:sp>
        <p:nvSpPr>
          <p:cNvPr id="6" name="Shape 4"/>
          <p:cNvSpPr/>
          <p:nvPr/>
        </p:nvSpPr>
        <p:spPr>
          <a:xfrm>
            <a:off x="3108960" y="960120"/>
            <a:ext cx="2834640" cy="548640"/>
          </a:xfrm>
          <a:prstGeom prst="rect">
            <a:avLst/>
          </a:prstGeom>
          <a:solidFill>
            <a:srgbClr val="F4A261"/>
          </a:solidFill>
          <a:ln/>
        </p:spPr>
      </p:sp>
      <p:sp>
        <p:nvSpPr>
          <p:cNvPr id="7" name="Text 5"/>
          <p:cNvSpPr/>
          <p:nvPr/>
        </p:nvSpPr>
        <p:spPr>
          <a:xfrm>
            <a:off x="3108960" y="960120"/>
            <a:ext cx="2834640" cy="548640"/>
          </a:xfrm>
          <a:prstGeom prst="rect">
            <a:avLst/>
          </a:prstGeom>
          <a:noFill/>
          <a:ln/>
        </p:spPr>
        <p:txBody>
          <a:bodyPr wrap="square" lIns="0" tIns="0" rIns="0" bIns="0" rtlCol="0" anchor="ctr"/>
          <a:lstStyle/>
          <a:p>
            <a:pPr marL="0" indent="0" algn="ctr">
              <a:buNone/>
            </a:pPr>
            <a:r>
              <a:rPr lang="en-US" sz="1500" b="1" dirty="0">
                <a:solidFill>
                  <a:srgbClr val="1A1A1A"/>
                </a:solidFill>
                <a:latin typeface="Arial" pitchFamily="34" charset="0"/>
                <a:ea typeface="Arial" pitchFamily="34" charset="-122"/>
                <a:cs typeface="Arial" pitchFamily="34" charset="-120"/>
              </a:rPr>
              <a:t>🌾 Monocot</a:t>
            </a:r>
            <a:endParaRPr lang="en-US" sz="1500" dirty="0"/>
          </a:p>
        </p:txBody>
      </p:sp>
      <p:sp>
        <p:nvSpPr>
          <p:cNvPr id="8" name="Shape 6"/>
          <p:cNvSpPr/>
          <p:nvPr/>
        </p:nvSpPr>
        <p:spPr>
          <a:xfrm>
            <a:off x="5943600" y="960120"/>
            <a:ext cx="2834640" cy="548640"/>
          </a:xfrm>
          <a:prstGeom prst="rect">
            <a:avLst/>
          </a:prstGeom>
          <a:solidFill>
            <a:srgbClr val="74C69D"/>
          </a:solidFill>
          <a:ln/>
        </p:spPr>
      </p:sp>
      <p:sp>
        <p:nvSpPr>
          <p:cNvPr id="9" name="Text 7"/>
          <p:cNvSpPr/>
          <p:nvPr/>
        </p:nvSpPr>
        <p:spPr>
          <a:xfrm>
            <a:off x="5943600" y="960120"/>
            <a:ext cx="2834640" cy="548640"/>
          </a:xfrm>
          <a:prstGeom prst="rect">
            <a:avLst/>
          </a:prstGeom>
          <a:noFill/>
          <a:ln/>
        </p:spPr>
        <p:txBody>
          <a:bodyPr wrap="square" lIns="0" tIns="0" rIns="0" bIns="0" rtlCol="0" anchor="ctr"/>
          <a:lstStyle/>
          <a:p>
            <a:pPr marL="0" indent="0" algn="ctr">
              <a:buNone/>
            </a:pPr>
            <a:r>
              <a:rPr lang="en-US" sz="1500" b="1" dirty="0">
                <a:solidFill>
                  <a:srgbClr val="1A1A1A"/>
                </a:solidFill>
                <a:latin typeface="Arial" pitchFamily="34" charset="0"/>
                <a:ea typeface="Arial" pitchFamily="34" charset="-122"/>
                <a:cs typeface="Arial" pitchFamily="34" charset="-120"/>
              </a:rPr>
              <a:t>🌱 Dicot</a:t>
            </a:r>
            <a:endParaRPr lang="en-US" sz="1500" dirty="0"/>
          </a:p>
        </p:txBody>
      </p:sp>
      <p:sp>
        <p:nvSpPr>
          <p:cNvPr id="10" name="Shape 8"/>
          <p:cNvSpPr/>
          <p:nvPr/>
        </p:nvSpPr>
        <p:spPr>
          <a:xfrm>
            <a:off x="365760" y="1508760"/>
            <a:ext cx="2743200" cy="777240"/>
          </a:xfrm>
          <a:prstGeom prst="rect">
            <a:avLst/>
          </a:prstGeom>
          <a:solidFill>
            <a:srgbClr val="FFFFFF"/>
          </a:solidFill>
          <a:ln/>
        </p:spPr>
      </p:sp>
      <p:sp>
        <p:nvSpPr>
          <p:cNvPr id="11" name="Text 9"/>
          <p:cNvSpPr/>
          <p:nvPr/>
        </p:nvSpPr>
        <p:spPr>
          <a:xfrm>
            <a:off x="457200" y="1508760"/>
            <a:ext cx="2560320" cy="777240"/>
          </a:xfrm>
          <a:prstGeom prst="rect">
            <a:avLst/>
          </a:prstGeom>
          <a:noFill/>
          <a:ln/>
        </p:spPr>
        <p:txBody>
          <a:bodyPr wrap="square" lIns="0" tIns="0" rIns="0" bIns="0" rtlCol="0" anchor="ctr"/>
          <a:lstStyle/>
          <a:p>
            <a:pPr marL="0" indent="0">
              <a:buNone/>
            </a:pPr>
            <a:r>
              <a:rPr lang="en-US" sz="1500" b="1" dirty="0">
                <a:solidFill>
                  <a:srgbClr val="1A1A1A"/>
                </a:solidFill>
                <a:latin typeface="Arial" pitchFamily="34" charset="0"/>
                <a:ea typeface="Arial" pitchFamily="34" charset="-122"/>
                <a:cs typeface="Arial" pitchFamily="34" charset="-120"/>
              </a:rPr>
              <a:t>Cotyledons</a:t>
            </a:r>
            <a:endParaRPr lang="en-US" sz="1500" dirty="0"/>
          </a:p>
        </p:txBody>
      </p:sp>
      <p:sp>
        <p:nvSpPr>
          <p:cNvPr id="12" name="Shape 10"/>
          <p:cNvSpPr/>
          <p:nvPr/>
        </p:nvSpPr>
        <p:spPr>
          <a:xfrm>
            <a:off x="3108960" y="1508760"/>
            <a:ext cx="2834640" cy="777240"/>
          </a:xfrm>
          <a:prstGeom prst="rect">
            <a:avLst/>
          </a:prstGeom>
          <a:solidFill>
            <a:srgbClr val="FFFFFF"/>
          </a:solidFill>
          <a:ln/>
        </p:spPr>
      </p:sp>
      <p:sp>
        <p:nvSpPr>
          <p:cNvPr id="13" name="Text 11"/>
          <p:cNvSpPr/>
          <p:nvPr/>
        </p:nvSpPr>
        <p:spPr>
          <a:xfrm>
            <a:off x="3200400" y="1508760"/>
            <a:ext cx="2651760" cy="777240"/>
          </a:xfrm>
          <a:prstGeom prst="rect">
            <a:avLst/>
          </a:prstGeom>
          <a:noFill/>
          <a:ln/>
        </p:spPr>
        <p:txBody>
          <a:bodyPr wrap="square" lIns="0" tIns="0" rIns="0" bIns="0" rtlCol="0" anchor="ctr"/>
          <a:lstStyle/>
          <a:p>
            <a:pPr marL="0" indent="0" algn="ctr">
              <a:buNone/>
            </a:pPr>
            <a:r>
              <a:rPr lang="en-US" sz="1500" dirty="0">
                <a:solidFill>
                  <a:srgbClr val="1A1A1A"/>
                </a:solidFill>
                <a:latin typeface="Arial" pitchFamily="34" charset="0"/>
                <a:ea typeface="Arial" pitchFamily="34" charset="-122"/>
                <a:cs typeface="Arial" pitchFamily="34" charset="-120"/>
              </a:rPr>
              <a:t>One</a:t>
            </a:r>
            <a:endParaRPr lang="en-US" sz="1500" dirty="0"/>
          </a:p>
        </p:txBody>
      </p:sp>
      <p:sp>
        <p:nvSpPr>
          <p:cNvPr id="14" name="Shape 12"/>
          <p:cNvSpPr/>
          <p:nvPr/>
        </p:nvSpPr>
        <p:spPr>
          <a:xfrm>
            <a:off x="5943600" y="1508760"/>
            <a:ext cx="2834640" cy="777240"/>
          </a:xfrm>
          <a:prstGeom prst="rect">
            <a:avLst/>
          </a:prstGeom>
          <a:solidFill>
            <a:srgbClr val="FFFFFF"/>
          </a:solidFill>
          <a:ln/>
        </p:spPr>
      </p:sp>
      <p:sp>
        <p:nvSpPr>
          <p:cNvPr id="15" name="Text 13"/>
          <p:cNvSpPr/>
          <p:nvPr/>
        </p:nvSpPr>
        <p:spPr>
          <a:xfrm>
            <a:off x="6035040" y="1508760"/>
            <a:ext cx="2651760" cy="777240"/>
          </a:xfrm>
          <a:prstGeom prst="rect">
            <a:avLst/>
          </a:prstGeom>
          <a:noFill/>
          <a:ln/>
        </p:spPr>
        <p:txBody>
          <a:bodyPr wrap="square" lIns="0" tIns="0" rIns="0" bIns="0" rtlCol="0" anchor="ctr"/>
          <a:lstStyle/>
          <a:p>
            <a:pPr marL="0" indent="0" algn="ctr">
              <a:buNone/>
            </a:pPr>
            <a:r>
              <a:rPr lang="en-US" sz="1500" dirty="0">
                <a:solidFill>
                  <a:srgbClr val="1A1A1A"/>
                </a:solidFill>
                <a:latin typeface="Arial" pitchFamily="34" charset="0"/>
                <a:ea typeface="Arial" pitchFamily="34" charset="-122"/>
                <a:cs typeface="Arial" pitchFamily="34" charset="-120"/>
              </a:rPr>
              <a:t>Two</a:t>
            </a:r>
            <a:endParaRPr lang="en-US" sz="1500" dirty="0"/>
          </a:p>
        </p:txBody>
      </p:sp>
      <p:sp>
        <p:nvSpPr>
          <p:cNvPr id="16" name="Shape 14"/>
          <p:cNvSpPr/>
          <p:nvPr/>
        </p:nvSpPr>
        <p:spPr>
          <a:xfrm>
            <a:off x="365760" y="2286000"/>
            <a:ext cx="2743200" cy="777240"/>
          </a:xfrm>
          <a:prstGeom prst="rect">
            <a:avLst/>
          </a:prstGeom>
          <a:solidFill>
            <a:srgbClr val="D8F3DC"/>
          </a:solidFill>
          <a:ln/>
        </p:spPr>
      </p:sp>
      <p:sp>
        <p:nvSpPr>
          <p:cNvPr id="17" name="Text 15"/>
          <p:cNvSpPr/>
          <p:nvPr/>
        </p:nvSpPr>
        <p:spPr>
          <a:xfrm>
            <a:off x="457200" y="2286000"/>
            <a:ext cx="2560320" cy="777240"/>
          </a:xfrm>
          <a:prstGeom prst="rect">
            <a:avLst/>
          </a:prstGeom>
          <a:noFill/>
          <a:ln/>
        </p:spPr>
        <p:txBody>
          <a:bodyPr wrap="square" lIns="0" tIns="0" rIns="0" bIns="0" rtlCol="0" anchor="ctr"/>
          <a:lstStyle/>
          <a:p>
            <a:pPr marL="0" indent="0">
              <a:buNone/>
            </a:pPr>
            <a:r>
              <a:rPr lang="en-US" sz="1500" b="1" dirty="0">
                <a:solidFill>
                  <a:srgbClr val="1A1A1A"/>
                </a:solidFill>
                <a:latin typeface="Arial" pitchFamily="34" charset="0"/>
                <a:ea typeface="Arial" pitchFamily="34" charset="-122"/>
                <a:cs typeface="Arial" pitchFamily="34" charset="-120"/>
              </a:rPr>
              <a:t>Roots</a:t>
            </a:r>
            <a:endParaRPr lang="en-US" sz="1500" dirty="0"/>
          </a:p>
        </p:txBody>
      </p:sp>
      <p:sp>
        <p:nvSpPr>
          <p:cNvPr id="18" name="Shape 16"/>
          <p:cNvSpPr/>
          <p:nvPr/>
        </p:nvSpPr>
        <p:spPr>
          <a:xfrm>
            <a:off x="3108960" y="2286000"/>
            <a:ext cx="2834640" cy="777240"/>
          </a:xfrm>
          <a:prstGeom prst="rect">
            <a:avLst/>
          </a:prstGeom>
          <a:solidFill>
            <a:srgbClr val="D8F3DC"/>
          </a:solidFill>
          <a:ln/>
        </p:spPr>
      </p:sp>
      <p:sp>
        <p:nvSpPr>
          <p:cNvPr id="19" name="Text 17"/>
          <p:cNvSpPr/>
          <p:nvPr/>
        </p:nvSpPr>
        <p:spPr>
          <a:xfrm>
            <a:off x="3200400" y="2286000"/>
            <a:ext cx="2651760" cy="777240"/>
          </a:xfrm>
          <a:prstGeom prst="rect">
            <a:avLst/>
          </a:prstGeom>
          <a:noFill/>
          <a:ln/>
        </p:spPr>
        <p:txBody>
          <a:bodyPr wrap="square" lIns="0" tIns="0" rIns="0" bIns="0" rtlCol="0" anchor="ctr"/>
          <a:lstStyle/>
          <a:p>
            <a:pPr marL="0" indent="0" algn="ctr">
              <a:buNone/>
            </a:pPr>
            <a:r>
              <a:rPr lang="en-US" sz="1500" dirty="0">
                <a:solidFill>
                  <a:srgbClr val="1A1A1A"/>
                </a:solidFill>
                <a:latin typeface="Arial" pitchFamily="34" charset="0"/>
                <a:ea typeface="Arial" pitchFamily="34" charset="-122"/>
                <a:cs typeface="Arial" pitchFamily="34" charset="-120"/>
              </a:rPr>
              <a:t>Fibrous</a:t>
            </a:r>
            <a:endParaRPr lang="en-US" sz="1500" dirty="0"/>
          </a:p>
        </p:txBody>
      </p:sp>
      <p:sp>
        <p:nvSpPr>
          <p:cNvPr id="20" name="Shape 18"/>
          <p:cNvSpPr/>
          <p:nvPr/>
        </p:nvSpPr>
        <p:spPr>
          <a:xfrm>
            <a:off x="5943600" y="2286000"/>
            <a:ext cx="2834640" cy="777240"/>
          </a:xfrm>
          <a:prstGeom prst="rect">
            <a:avLst/>
          </a:prstGeom>
          <a:solidFill>
            <a:srgbClr val="D8F3DC"/>
          </a:solidFill>
          <a:ln/>
        </p:spPr>
      </p:sp>
      <p:sp>
        <p:nvSpPr>
          <p:cNvPr id="21" name="Text 19"/>
          <p:cNvSpPr/>
          <p:nvPr/>
        </p:nvSpPr>
        <p:spPr>
          <a:xfrm>
            <a:off x="6035040" y="2286000"/>
            <a:ext cx="2651760" cy="777240"/>
          </a:xfrm>
          <a:prstGeom prst="rect">
            <a:avLst/>
          </a:prstGeom>
          <a:noFill/>
          <a:ln/>
        </p:spPr>
        <p:txBody>
          <a:bodyPr wrap="square" lIns="0" tIns="0" rIns="0" bIns="0" rtlCol="0" anchor="ctr"/>
          <a:lstStyle/>
          <a:p>
            <a:pPr marL="0" indent="0" algn="ctr">
              <a:buNone/>
            </a:pPr>
            <a:r>
              <a:rPr lang="en-US" sz="1500" dirty="0">
                <a:solidFill>
                  <a:srgbClr val="1A1A1A"/>
                </a:solidFill>
                <a:latin typeface="Arial" pitchFamily="34" charset="0"/>
                <a:ea typeface="Arial" pitchFamily="34" charset="-122"/>
                <a:cs typeface="Arial" pitchFamily="34" charset="-120"/>
              </a:rPr>
              <a:t>Tap root</a:t>
            </a:r>
            <a:endParaRPr lang="en-US" sz="1500" dirty="0"/>
          </a:p>
        </p:txBody>
      </p:sp>
      <p:sp>
        <p:nvSpPr>
          <p:cNvPr id="22" name="Shape 20"/>
          <p:cNvSpPr/>
          <p:nvPr/>
        </p:nvSpPr>
        <p:spPr>
          <a:xfrm>
            <a:off x="365760" y="3063240"/>
            <a:ext cx="2743200" cy="777240"/>
          </a:xfrm>
          <a:prstGeom prst="rect">
            <a:avLst/>
          </a:prstGeom>
          <a:solidFill>
            <a:srgbClr val="FFFFFF"/>
          </a:solidFill>
          <a:ln/>
        </p:spPr>
      </p:sp>
      <p:sp>
        <p:nvSpPr>
          <p:cNvPr id="23" name="Text 21"/>
          <p:cNvSpPr/>
          <p:nvPr/>
        </p:nvSpPr>
        <p:spPr>
          <a:xfrm>
            <a:off x="457200" y="3063240"/>
            <a:ext cx="2560320" cy="777240"/>
          </a:xfrm>
          <a:prstGeom prst="rect">
            <a:avLst/>
          </a:prstGeom>
          <a:noFill/>
          <a:ln/>
        </p:spPr>
        <p:txBody>
          <a:bodyPr wrap="square" lIns="0" tIns="0" rIns="0" bIns="0" rtlCol="0" anchor="ctr"/>
          <a:lstStyle/>
          <a:p>
            <a:pPr marL="0" indent="0">
              <a:buNone/>
            </a:pPr>
            <a:r>
              <a:rPr lang="en-US" sz="1500" b="1" dirty="0">
                <a:solidFill>
                  <a:srgbClr val="1A1A1A"/>
                </a:solidFill>
                <a:latin typeface="Arial" pitchFamily="34" charset="0"/>
                <a:ea typeface="Arial" pitchFamily="34" charset="-122"/>
                <a:cs typeface="Arial" pitchFamily="34" charset="-120"/>
              </a:rPr>
              <a:t>Leaves</a:t>
            </a:r>
            <a:endParaRPr lang="en-US" sz="1500" dirty="0"/>
          </a:p>
        </p:txBody>
      </p:sp>
      <p:sp>
        <p:nvSpPr>
          <p:cNvPr id="24" name="Shape 22"/>
          <p:cNvSpPr/>
          <p:nvPr/>
        </p:nvSpPr>
        <p:spPr>
          <a:xfrm>
            <a:off x="3108960" y="3063240"/>
            <a:ext cx="2834640" cy="777240"/>
          </a:xfrm>
          <a:prstGeom prst="rect">
            <a:avLst/>
          </a:prstGeom>
          <a:solidFill>
            <a:srgbClr val="FFFFFF"/>
          </a:solidFill>
          <a:ln/>
        </p:spPr>
      </p:sp>
      <p:sp>
        <p:nvSpPr>
          <p:cNvPr id="25" name="Text 23"/>
          <p:cNvSpPr/>
          <p:nvPr/>
        </p:nvSpPr>
        <p:spPr>
          <a:xfrm>
            <a:off x="3200400" y="3063240"/>
            <a:ext cx="2651760" cy="777240"/>
          </a:xfrm>
          <a:prstGeom prst="rect">
            <a:avLst/>
          </a:prstGeom>
          <a:noFill/>
          <a:ln/>
        </p:spPr>
        <p:txBody>
          <a:bodyPr wrap="square" lIns="0" tIns="0" rIns="0" bIns="0" rtlCol="0" anchor="ctr"/>
          <a:lstStyle/>
          <a:p>
            <a:pPr marL="0" indent="0" algn="ctr">
              <a:buNone/>
            </a:pPr>
            <a:r>
              <a:rPr lang="en-US" sz="1500" dirty="0">
                <a:solidFill>
                  <a:srgbClr val="1A1A1A"/>
                </a:solidFill>
                <a:latin typeface="Arial" pitchFamily="34" charset="0"/>
                <a:ea typeface="Arial" pitchFamily="34" charset="-122"/>
                <a:cs typeface="Arial" pitchFamily="34" charset="-120"/>
              </a:rPr>
              <a:t>Narrow &amp; long</a:t>
            </a:r>
            <a:endParaRPr lang="en-US" sz="1500" dirty="0"/>
          </a:p>
        </p:txBody>
      </p:sp>
      <p:sp>
        <p:nvSpPr>
          <p:cNvPr id="26" name="Shape 24"/>
          <p:cNvSpPr/>
          <p:nvPr/>
        </p:nvSpPr>
        <p:spPr>
          <a:xfrm>
            <a:off x="5943600" y="3063240"/>
            <a:ext cx="2834640" cy="777240"/>
          </a:xfrm>
          <a:prstGeom prst="rect">
            <a:avLst/>
          </a:prstGeom>
          <a:solidFill>
            <a:srgbClr val="FFFFFF"/>
          </a:solidFill>
          <a:ln/>
        </p:spPr>
      </p:sp>
      <p:sp>
        <p:nvSpPr>
          <p:cNvPr id="27" name="Text 25"/>
          <p:cNvSpPr/>
          <p:nvPr/>
        </p:nvSpPr>
        <p:spPr>
          <a:xfrm>
            <a:off x="6035040" y="3063240"/>
            <a:ext cx="2651760" cy="777240"/>
          </a:xfrm>
          <a:prstGeom prst="rect">
            <a:avLst/>
          </a:prstGeom>
          <a:noFill/>
          <a:ln/>
        </p:spPr>
        <p:txBody>
          <a:bodyPr wrap="square" lIns="0" tIns="0" rIns="0" bIns="0" rtlCol="0" anchor="ctr"/>
          <a:lstStyle/>
          <a:p>
            <a:pPr marL="0" indent="0" algn="ctr">
              <a:buNone/>
            </a:pPr>
            <a:r>
              <a:rPr lang="en-US" sz="1500" dirty="0">
                <a:solidFill>
                  <a:srgbClr val="1A1A1A"/>
                </a:solidFill>
                <a:latin typeface="Arial" pitchFamily="34" charset="0"/>
                <a:ea typeface="Arial" pitchFamily="34" charset="-122"/>
                <a:cs typeface="Arial" pitchFamily="34" charset="-120"/>
              </a:rPr>
              <a:t>Broad</a:t>
            </a:r>
            <a:endParaRPr lang="en-US" sz="1500" dirty="0"/>
          </a:p>
        </p:txBody>
      </p:sp>
      <p:sp>
        <p:nvSpPr>
          <p:cNvPr id="28" name="Shape 26"/>
          <p:cNvSpPr/>
          <p:nvPr/>
        </p:nvSpPr>
        <p:spPr>
          <a:xfrm>
            <a:off x="365760" y="3840480"/>
            <a:ext cx="2743200" cy="777240"/>
          </a:xfrm>
          <a:prstGeom prst="rect">
            <a:avLst/>
          </a:prstGeom>
          <a:solidFill>
            <a:srgbClr val="D8F3DC"/>
          </a:solidFill>
          <a:ln/>
        </p:spPr>
      </p:sp>
      <p:sp>
        <p:nvSpPr>
          <p:cNvPr id="29" name="Text 27"/>
          <p:cNvSpPr/>
          <p:nvPr/>
        </p:nvSpPr>
        <p:spPr>
          <a:xfrm>
            <a:off x="457200" y="3840480"/>
            <a:ext cx="2560320" cy="777240"/>
          </a:xfrm>
          <a:prstGeom prst="rect">
            <a:avLst/>
          </a:prstGeom>
          <a:noFill/>
          <a:ln/>
        </p:spPr>
        <p:txBody>
          <a:bodyPr wrap="square" lIns="0" tIns="0" rIns="0" bIns="0" rtlCol="0" anchor="ctr"/>
          <a:lstStyle/>
          <a:p>
            <a:pPr marL="0" indent="0">
              <a:buNone/>
            </a:pPr>
            <a:r>
              <a:rPr lang="en-US" sz="1500" b="1" dirty="0">
                <a:solidFill>
                  <a:srgbClr val="1A1A1A"/>
                </a:solidFill>
                <a:latin typeface="Arial" pitchFamily="34" charset="0"/>
                <a:ea typeface="Arial" pitchFamily="34" charset="-122"/>
                <a:cs typeface="Arial" pitchFamily="34" charset="-120"/>
              </a:rPr>
              <a:t>Examples</a:t>
            </a:r>
            <a:endParaRPr lang="en-US" sz="1500" dirty="0"/>
          </a:p>
        </p:txBody>
      </p:sp>
      <p:sp>
        <p:nvSpPr>
          <p:cNvPr id="30" name="Shape 28"/>
          <p:cNvSpPr/>
          <p:nvPr/>
        </p:nvSpPr>
        <p:spPr>
          <a:xfrm>
            <a:off x="3108960" y="3840480"/>
            <a:ext cx="2834640" cy="777240"/>
          </a:xfrm>
          <a:prstGeom prst="rect">
            <a:avLst/>
          </a:prstGeom>
          <a:solidFill>
            <a:srgbClr val="D8F3DC"/>
          </a:solidFill>
          <a:ln/>
        </p:spPr>
      </p:sp>
      <p:sp>
        <p:nvSpPr>
          <p:cNvPr id="31" name="Text 29"/>
          <p:cNvSpPr/>
          <p:nvPr/>
        </p:nvSpPr>
        <p:spPr>
          <a:xfrm>
            <a:off x="3200400" y="3840480"/>
            <a:ext cx="2651760" cy="777240"/>
          </a:xfrm>
          <a:prstGeom prst="rect">
            <a:avLst/>
          </a:prstGeom>
          <a:noFill/>
          <a:ln/>
        </p:spPr>
        <p:txBody>
          <a:bodyPr wrap="square" lIns="0" tIns="0" rIns="0" bIns="0" rtlCol="0" anchor="ctr"/>
          <a:lstStyle/>
          <a:p>
            <a:pPr marL="0" indent="0" algn="ctr">
              <a:buNone/>
            </a:pPr>
            <a:r>
              <a:rPr lang="en-US" sz="1500" dirty="0">
                <a:solidFill>
                  <a:srgbClr val="1A1A1A"/>
                </a:solidFill>
                <a:latin typeface="Arial" pitchFamily="34" charset="0"/>
                <a:ea typeface="Arial" pitchFamily="34" charset="-122"/>
                <a:cs typeface="Arial" pitchFamily="34" charset="-120"/>
              </a:rPr>
              <a:t>Rice, maize, wheat</a:t>
            </a:r>
            <a:endParaRPr lang="en-US" sz="1500" dirty="0"/>
          </a:p>
        </p:txBody>
      </p:sp>
      <p:sp>
        <p:nvSpPr>
          <p:cNvPr id="32" name="Shape 30"/>
          <p:cNvSpPr/>
          <p:nvPr/>
        </p:nvSpPr>
        <p:spPr>
          <a:xfrm>
            <a:off x="5943600" y="3840480"/>
            <a:ext cx="2834640" cy="777240"/>
          </a:xfrm>
          <a:prstGeom prst="rect">
            <a:avLst/>
          </a:prstGeom>
          <a:solidFill>
            <a:srgbClr val="D8F3DC"/>
          </a:solidFill>
          <a:ln/>
        </p:spPr>
      </p:sp>
      <p:sp>
        <p:nvSpPr>
          <p:cNvPr id="33" name="Text 31"/>
          <p:cNvSpPr/>
          <p:nvPr/>
        </p:nvSpPr>
        <p:spPr>
          <a:xfrm>
            <a:off x="6035040" y="3840480"/>
            <a:ext cx="2651760" cy="777240"/>
          </a:xfrm>
          <a:prstGeom prst="rect">
            <a:avLst/>
          </a:prstGeom>
          <a:noFill/>
          <a:ln/>
        </p:spPr>
        <p:txBody>
          <a:bodyPr wrap="square" lIns="0" tIns="0" rIns="0" bIns="0" rtlCol="0" anchor="ctr"/>
          <a:lstStyle/>
          <a:p>
            <a:pPr marL="0" indent="0" algn="ctr">
              <a:buNone/>
            </a:pPr>
            <a:r>
              <a:rPr lang="en-US" sz="1500" dirty="0">
                <a:solidFill>
                  <a:srgbClr val="1A1A1A"/>
                </a:solidFill>
                <a:latin typeface="Arial" pitchFamily="34" charset="0"/>
                <a:ea typeface="Arial" pitchFamily="34" charset="-122"/>
                <a:cs typeface="Arial" pitchFamily="34" charset="-120"/>
              </a:rPr>
              <a:t>Pea, beans, mango</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8">
    <p:bg>
      <p:bgPr>
        <a:solidFill>
          <a:srgbClr val="F8F9F5"/>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B4332"/>
          </a:solidFill>
          <a:ln/>
        </p:spPr>
      </p:sp>
      <p:sp>
        <p:nvSpPr>
          <p:cNvPr id="3" name="Text 1"/>
          <p:cNvSpPr/>
          <p:nvPr/>
        </p:nvSpPr>
        <p:spPr>
          <a:xfrm>
            <a:off x="365760" y="137160"/>
            <a:ext cx="8229600" cy="457200"/>
          </a:xfrm>
          <a:prstGeom prst="rect">
            <a:avLst/>
          </a:prstGeom>
          <a:noFill/>
          <a:ln/>
        </p:spPr>
        <p:txBody>
          <a:bodyPr wrap="square" lIns="0" tIns="0" rIns="0" bIns="0" rtlCol="0" anchor="ctr"/>
          <a:lstStyle/>
          <a:p>
            <a:pPr marL="0" indent="0">
              <a:buNone/>
            </a:pPr>
            <a:r>
              <a:rPr lang="en-US" sz="2400" b="1" dirty="0">
                <a:solidFill>
                  <a:srgbClr val="FFFFFF"/>
                </a:solidFill>
                <a:latin typeface="Arial" pitchFamily="34" charset="0"/>
                <a:ea typeface="Arial" pitchFamily="34" charset="-122"/>
                <a:cs typeface="Arial" pitchFamily="34" charset="-120"/>
              </a:rPr>
              <a:t>Quick Quiz — Question 1</a:t>
            </a:r>
            <a:endParaRPr lang="en-US" sz="2400" dirty="0"/>
          </a:p>
        </p:txBody>
      </p:sp>
      <p:sp>
        <p:nvSpPr>
          <p:cNvPr id="4" name="Shape 2"/>
          <p:cNvSpPr/>
          <p:nvPr/>
        </p:nvSpPr>
        <p:spPr>
          <a:xfrm>
            <a:off x="457200" y="1005840"/>
            <a:ext cx="8229600" cy="1097280"/>
          </a:xfrm>
          <a:prstGeom prst="roundRect">
            <a:avLst>
              <a:gd name="adj" fmla="val 8333"/>
            </a:avLst>
          </a:prstGeom>
          <a:solidFill>
            <a:srgbClr val="FFFFFF"/>
          </a:solidFill>
          <a:ln/>
          <a:effectLst>
            <a:outerShdw blurRad="101600" dist="38100" dir="8100000" algn="bl" rotWithShape="0">
              <a:srgbClr val="000000">
                <a:alpha val="12000"/>
              </a:srgbClr>
            </a:outerShdw>
          </a:effectLst>
        </p:spPr>
      </p:sp>
      <p:sp>
        <p:nvSpPr>
          <p:cNvPr id="5" name="Text 3"/>
          <p:cNvSpPr/>
          <p:nvPr/>
        </p:nvSpPr>
        <p:spPr>
          <a:xfrm>
            <a:off x="640080" y="1188720"/>
            <a:ext cx="7863840" cy="731520"/>
          </a:xfrm>
          <a:prstGeom prst="rect">
            <a:avLst/>
          </a:prstGeom>
          <a:noFill/>
          <a:ln/>
        </p:spPr>
        <p:txBody>
          <a:bodyPr wrap="square" lIns="0" tIns="0" rIns="0" bIns="0" rtlCol="0" anchor="ctr"/>
          <a:lstStyle/>
          <a:p>
            <a:pPr marL="0" indent="0" algn="ctr">
              <a:buNone/>
            </a:pPr>
            <a:r>
              <a:rPr lang="en-US" sz="2200" b="1" dirty="0">
                <a:solidFill>
                  <a:srgbClr val="1A1A1A"/>
                </a:solidFill>
                <a:latin typeface="Arial" pitchFamily="34" charset="0"/>
                <a:ea typeface="Arial" pitchFamily="34" charset="-122"/>
                <a:cs typeface="Arial" pitchFamily="34" charset="-120"/>
              </a:rPr>
              <a:t>Which plant is a gymnosperm?</a:t>
            </a:r>
            <a:endParaRPr lang="en-US" sz="2200" dirty="0"/>
          </a:p>
        </p:txBody>
      </p:sp>
      <p:sp>
        <p:nvSpPr>
          <p:cNvPr id="6" name="Shape 4"/>
          <p:cNvSpPr/>
          <p:nvPr/>
        </p:nvSpPr>
        <p:spPr>
          <a:xfrm>
            <a:off x="731520" y="2377440"/>
            <a:ext cx="3749040" cy="822960"/>
          </a:xfrm>
          <a:prstGeom prst="roundRect">
            <a:avLst>
              <a:gd name="adj" fmla="val 11111"/>
            </a:avLst>
          </a:prstGeom>
          <a:solidFill>
            <a:srgbClr val="FFFFFF"/>
          </a:solidFill>
          <a:ln/>
          <a:effectLst>
            <a:outerShdw blurRad="101600" dist="38100" dir="8100000" algn="bl" rotWithShape="0">
              <a:srgbClr val="000000">
                <a:alpha val="12000"/>
              </a:srgbClr>
            </a:outerShdw>
          </a:effectLst>
        </p:spPr>
      </p:sp>
      <p:sp>
        <p:nvSpPr>
          <p:cNvPr id="7" name="Text 5"/>
          <p:cNvSpPr/>
          <p:nvPr/>
        </p:nvSpPr>
        <p:spPr>
          <a:xfrm>
            <a:off x="914400" y="2377440"/>
            <a:ext cx="3383280" cy="822960"/>
          </a:xfrm>
          <a:prstGeom prst="rect">
            <a:avLst/>
          </a:prstGeom>
          <a:noFill/>
          <a:ln/>
        </p:spPr>
        <p:txBody>
          <a:bodyPr wrap="square" lIns="0" tIns="0" rIns="0" bIns="0" rtlCol="0" anchor="ctr"/>
          <a:lstStyle/>
          <a:p>
            <a:pPr marL="0" indent="0">
              <a:buNone/>
            </a:pPr>
            <a:r>
              <a:rPr lang="en-US" sz="1800" dirty="0">
                <a:solidFill>
                  <a:srgbClr val="1A1A1A"/>
                </a:solidFill>
                <a:latin typeface="Arial" pitchFamily="34" charset="0"/>
                <a:ea typeface="Arial" pitchFamily="34" charset="-122"/>
                <a:cs typeface="Arial" pitchFamily="34" charset="-120"/>
              </a:rPr>
              <a:t>A.  Mango</a:t>
            </a:r>
            <a:endParaRPr lang="en-US" sz="1800" dirty="0"/>
          </a:p>
        </p:txBody>
      </p:sp>
      <p:sp>
        <p:nvSpPr>
          <p:cNvPr id="8" name="Shape 6"/>
          <p:cNvSpPr/>
          <p:nvPr/>
        </p:nvSpPr>
        <p:spPr>
          <a:xfrm>
            <a:off x="4846320" y="2377440"/>
            <a:ext cx="3749040" cy="822960"/>
          </a:xfrm>
          <a:prstGeom prst="roundRect">
            <a:avLst>
              <a:gd name="adj" fmla="val 11111"/>
            </a:avLst>
          </a:prstGeom>
          <a:solidFill>
            <a:srgbClr val="FFFFFF"/>
          </a:solidFill>
          <a:ln/>
          <a:effectLst>
            <a:outerShdw blurRad="101600" dist="38100" dir="8100000" algn="bl" rotWithShape="0">
              <a:srgbClr val="000000">
                <a:alpha val="12000"/>
              </a:srgbClr>
            </a:outerShdw>
          </a:effectLst>
        </p:spPr>
      </p:sp>
      <p:sp>
        <p:nvSpPr>
          <p:cNvPr id="9" name="Text 7"/>
          <p:cNvSpPr/>
          <p:nvPr/>
        </p:nvSpPr>
        <p:spPr>
          <a:xfrm>
            <a:off x="5029200" y="2377440"/>
            <a:ext cx="3383280" cy="822960"/>
          </a:xfrm>
          <a:prstGeom prst="rect">
            <a:avLst/>
          </a:prstGeom>
          <a:noFill/>
          <a:ln/>
        </p:spPr>
        <p:txBody>
          <a:bodyPr wrap="square" lIns="0" tIns="0" rIns="0" bIns="0" rtlCol="0" anchor="ctr"/>
          <a:lstStyle/>
          <a:p>
            <a:pPr marL="0" indent="0">
              <a:buNone/>
            </a:pPr>
            <a:r>
              <a:rPr lang="en-US" sz="1800" dirty="0">
                <a:solidFill>
                  <a:srgbClr val="1A1A1A"/>
                </a:solidFill>
                <a:latin typeface="Arial" pitchFamily="34" charset="0"/>
                <a:ea typeface="Arial" pitchFamily="34" charset="-122"/>
                <a:cs typeface="Arial" pitchFamily="34" charset="-120"/>
              </a:rPr>
              <a:t>B.  Rice</a:t>
            </a:r>
            <a:endParaRPr lang="en-US" sz="1800" dirty="0"/>
          </a:p>
        </p:txBody>
      </p:sp>
      <p:sp>
        <p:nvSpPr>
          <p:cNvPr id="10" name="Shape 8"/>
          <p:cNvSpPr/>
          <p:nvPr/>
        </p:nvSpPr>
        <p:spPr>
          <a:xfrm>
            <a:off x="731520" y="3383280"/>
            <a:ext cx="3749040" cy="822960"/>
          </a:xfrm>
          <a:prstGeom prst="roundRect">
            <a:avLst>
              <a:gd name="adj" fmla="val 11111"/>
            </a:avLst>
          </a:prstGeom>
          <a:solidFill>
            <a:srgbClr val="FFFFFF"/>
          </a:solidFill>
          <a:ln/>
          <a:effectLst>
            <a:outerShdw blurRad="101600" dist="38100" dir="8100000" algn="bl" rotWithShape="0">
              <a:srgbClr val="000000">
                <a:alpha val="12000"/>
              </a:srgbClr>
            </a:outerShdw>
          </a:effectLst>
        </p:spPr>
      </p:sp>
      <p:sp>
        <p:nvSpPr>
          <p:cNvPr id="11" name="Text 9"/>
          <p:cNvSpPr/>
          <p:nvPr/>
        </p:nvSpPr>
        <p:spPr>
          <a:xfrm>
            <a:off x="914400" y="3383280"/>
            <a:ext cx="3383280" cy="822960"/>
          </a:xfrm>
          <a:prstGeom prst="rect">
            <a:avLst/>
          </a:prstGeom>
          <a:noFill/>
          <a:ln/>
        </p:spPr>
        <p:txBody>
          <a:bodyPr wrap="square" lIns="0" tIns="0" rIns="0" bIns="0" rtlCol="0" anchor="ctr"/>
          <a:lstStyle/>
          <a:p>
            <a:pPr marL="0" indent="0">
              <a:buNone/>
            </a:pPr>
            <a:r>
              <a:rPr lang="en-US" sz="1800" dirty="0">
                <a:solidFill>
                  <a:srgbClr val="1A1A1A"/>
                </a:solidFill>
                <a:latin typeface="Arial" pitchFamily="34" charset="0"/>
                <a:ea typeface="Arial" pitchFamily="34" charset="-122"/>
                <a:cs typeface="Arial" pitchFamily="34" charset="-120"/>
              </a:rPr>
              <a:t>C.  Pine</a:t>
            </a:r>
            <a:endParaRPr lang="en-US" sz="1800" dirty="0"/>
          </a:p>
        </p:txBody>
      </p:sp>
      <p:sp>
        <p:nvSpPr>
          <p:cNvPr id="12" name="Shape 10"/>
          <p:cNvSpPr/>
          <p:nvPr/>
        </p:nvSpPr>
        <p:spPr>
          <a:xfrm>
            <a:off x="4846320" y="3383280"/>
            <a:ext cx="3749040" cy="822960"/>
          </a:xfrm>
          <a:prstGeom prst="roundRect">
            <a:avLst>
              <a:gd name="adj" fmla="val 11111"/>
            </a:avLst>
          </a:prstGeom>
          <a:solidFill>
            <a:srgbClr val="FFFFFF"/>
          </a:solidFill>
          <a:ln/>
          <a:effectLst>
            <a:outerShdw blurRad="101600" dist="38100" dir="8100000" algn="bl" rotWithShape="0">
              <a:srgbClr val="000000">
                <a:alpha val="12000"/>
              </a:srgbClr>
            </a:outerShdw>
          </a:effectLst>
        </p:spPr>
      </p:sp>
      <p:sp>
        <p:nvSpPr>
          <p:cNvPr id="13" name="Text 11"/>
          <p:cNvSpPr/>
          <p:nvPr/>
        </p:nvSpPr>
        <p:spPr>
          <a:xfrm>
            <a:off x="5029200" y="3383280"/>
            <a:ext cx="3383280" cy="822960"/>
          </a:xfrm>
          <a:prstGeom prst="rect">
            <a:avLst/>
          </a:prstGeom>
          <a:noFill/>
          <a:ln/>
        </p:spPr>
        <p:txBody>
          <a:bodyPr wrap="square" lIns="0" tIns="0" rIns="0" bIns="0" rtlCol="0" anchor="ctr"/>
          <a:lstStyle/>
          <a:p>
            <a:pPr marL="0" indent="0">
              <a:buNone/>
            </a:pPr>
            <a:r>
              <a:rPr lang="en-US" sz="1800" dirty="0">
                <a:solidFill>
                  <a:srgbClr val="1A1A1A"/>
                </a:solidFill>
                <a:latin typeface="Arial" pitchFamily="34" charset="0"/>
                <a:ea typeface="Arial" pitchFamily="34" charset="-122"/>
                <a:cs typeface="Arial" pitchFamily="34" charset="-120"/>
              </a:rPr>
              <a:t>D.  Pea</a:t>
            </a:r>
            <a:endParaRPr lang="en-US" sz="1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9">
    <p:bg>
      <p:bgPr>
        <a:solidFill>
          <a:srgbClr val="F8F9F5"/>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B4332"/>
          </a:solidFill>
          <a:ln/>
        </p:spPr>
      </p:sp>
      <p:sp>
        <p:nvSpPr>
          <p:cNvPr id="3" name="Text 1"/>
          <p:cNvSpPr/>
          <p:nvPr/>
        </p:nvSpPr>
        <p:spPr>
          <a:xfrm>
            <a:off x="365760" y="137160"/>
            <a:ext cx="8229600" cy="457200"/>
          </a:xfrm>
          <a:prstGeom prst="rect">
            <a:avLst/>
          </a:prstGeom>
          <a:noFill/>
          <a:ln/>
        </p:spPr>
        <p:txBody>
          <a:bodyPr wrap="square" lIns="0" tIns="0" rIns="0" bIns="0" rtlCol="0" anchor="ctr"/>
          <a:lstStyle/>
          <a:p>
            <a:pPr marL="0" indent="0">
              <a:buNone/>
            </a:pPr>
            <a:r>
              <a:rPr lang="en-US" sz="2400" b="1" dirty="0">
                <a:solidFill>
                  <a:srgbClr val="FFFFFF"/>
                </a:solidFill>
                <a:latin typeface="Arial" pitchFamily="34" charset="0"/>
                <a:ea typeface="Arial" pitchFamily="34" charset="-122"/>
                <a:cs typeface="Arial" pitchFamily="34" charset="-120"/>
              </a:rPr>
              <a:t>Quick Quiz — Question 2</a:t>
            </a:r>
            <a:endParaRPr lang="en-US" sz="2400" dirty="0"/>
          </a:p>
        </p:txBody>
      </p:sp>
      <p:sp>
        <p:nvSpPr>
          <p:cNvPr id="4" name="Shape 2"/>
          <p:cNvSpPr/>
          <p:nvPr/>
        </p:nvSpPr>
        <p:spPr>
          <a:xfrm>
            <a:off x="457200" y="1005840"/>
            <a:ext cx="8229600" cy="1097280"/>
          </a:xfrm>
          <a:prstGeom prst="roundRect">
            <a:avLst>
              <a:gd name="adj" fmla="val 8333"/>
            </a:avLst>
          </a:prstGeom>
          <a:solidFill>
            <a:srgbClr val="FFFFFF"/>
          </a:solidFill>
          <a:ln/>
          <a:effectLst>
            <a:outerShdw blurRad="101600" dist="38100" dir="8100000" algn="bl" rotWithShape="0">
              <a:srgbClr val="000000">
                <a:alpha val="12000"/>
              </a:srgbClr>
            </a:outerShdw>
          </a:effectLst>
        </p:spPr>
      </p:sp>
      <p:sp>
        <p:nvSpPr>
          <p:cNvPr id="5" name="Text 3"/>
          <p:cNvSpPr/>
          <p:nvPr/>
        </p:nvSpPr>
        <p:spPr>
          <a:xfrm>
            <a:off x="640080" y="1188720"/>
            <a:ext cx="7863840" cy="731520"/>
          </a:xfrm>
          <a:prstGeom prst="rect">
            <a:avLst/>
          </a:prstGeom>
          <a:noFill/>
          <a:ln/>
        </p:spPr>
        <p:txBody>
          <a:bodyPr wrap="square" lIns="0" tIns="0" rIns="0" bIns="0" rtlCol="0" anchor="ctr"/>
          <a:lstStyle/>
          <a:p>
            <a:pPr marL="0" indent="0" algn="ctr">
              <a:buNone/>
            </a:pPr>
            <a:r>
              <a:rPr lang="en-US" sz="2200" b="1" dirty="0">
                <a:solidFill>
                  <a:srgbClr val="1A1A1A"/>
                </a:solidFill>
                <a:latin typeface="Arial" pitchFamily="34" charset="0"/>
                <a:ea typeface="Arial" pitchFamily="34" charset="-122"/>
                <a:cs typeface="Arial" pitchFamily="34" charset="-120"/>
              </a:rPr>
              <a:t>Which part of a flower produces pollen?</a:t>
            </a:r>
            <a:endParaRPr lang="en-US" sz="2200" dirty="0"/>
          </a:p>
        </p:txBody>
      </p:sp>
      <p:sp>
        <p:nvSpPr>
          <p:cNvPr id="6" name="Shape 4"/>
          <p:cNvSpPr/>
          <p:nvPr/>
        </p:nvSpPr>
        <p:spPr>
          <a:xfrm>
            <a:off x="731520" y="2377440"/>
            <a:ext cx="3749040" cy="822960"/>
          </a:xfrm>
          <a:prstGeom prst="roundRect">
            <a:avLst>
              <a:gd name="adj" fmla="val 11111"/>
            </a:avLst>
          </a:prstGeom>
          <a:solidFill>
            <a:srgbClr val="FFFFFF"/>
          </a:solidFill>
          <a:ln/>
          <a:effectLst>
            <a:outerShdw blurRad="101600" dist="38100" dir="8100000" algn="bl" rotWithShape="0">
              <a:srgbClr val="000000">
                <a:alpha val="12000"/>
              </a:srgbClr>
            </a:outerShdw>
          </a:effectLst>
        </p:spPr>
      </p:sp>
      <p:sp>
        <p:nvSpPr>
          <p:cNvPr id="7" name="Text 5"/>
          <p:cNvSpPr/>
          <p:nvPr/>
        </p:nvSpPr>
        <p:spPr>
          <a:xfrm>
            <a:off x="914400" y="2377440"/>
            <a:ext cx="3383280" cy="822960"/>
          </a:xfrm>
          <a:prstGeom prst="rect">
            <a:avLst/>
          </a:prstGeom>
          <a:noFill/>
          <a:ln/>
        </p:spPr>
        <p:txBody>
          <a:bodyPr wrap="square" lIns="0" tIns="0" rIns="0" bIns="0" rtlCol="0" anchor="ctr"/>
          <a:lstStyle/>
          <a:p>
            <a:pPr marL="0" indent="0">
              <a:buNone/>
            </a:pPr>
            <a:r>
              <a:rPr lang="en-US" sz="1800" dirty="0">
                <a:solidFill>
                  <a:srgbClr val="1A1A1A"/>
                </a:solidFill>
                <a:latin typeface="Arial" pitchFamily="34" charset="0"/>
                <a:ea typeface="Arial" pitchFamily="34" charset="-122"/>
                <a:cs typeface="Arial" pitchFamily="34" charset="-120"/>
              </a:rPr>
              <a:t>A.  Stigma</a:t>
            </a:r>
            <a:endParaRPr lang="en-US" sz="1800" dirty="0"/>
          </a:p>
        </p:txBody>
      </p:sp>
      <p:sp>
        <p:nvSpPr>
          <p:cNvPr id="8" name="Shape 6"/>
          <p:cNvSpPr/>
          <p:nvPr/>
        </p:nvSpPr>
        <p:spPr>
          <a:xfrm>
            <a:off x="4846320" y="2377440"/>
            <a:ext cx="3749040" cy="822960"/>
          </a:xfrm>
          <a:prstGeom prst="roundRect">
            <a:avLst>
              <a:gd name="adj" fmla="val 11111"/>
            </a:avLst>
          </a:prstGeom>
          <a:solidFill>
            <a:srgbClr val="FFFFFF"/>
          </a:solidFill>
          <a:ln/>
          <a:effectLst>
            <a:outerShdw blurRad="101600" dist="38100" dir="8100000" algn="bl" rotWithShape="0">
              <a:srgbClr val="000000">
                <a:alpha val="12000"/>
              </a:srgbClr>
            </a:outerShdw>
          </a:effectLst>
        </p:spPr>
      </p:sp>
      <p:sp>
        <p:nvSpPr>
          <p:cNvPr id="9" name="Text 7"/>
          <p:cNvSpPr/>
          <p:nvPr/>
        </p:nvSpPr>
        <p:spPr>
          <a:xfrm>
            <a:off x="5029200" y="2377440"/>
            <a:ext cx="3383280" cy="822960"/>
          </a:xfrm>
          <a:prstGeom prst="rect">
            <a:avLst/>
          </a:prstGeom>
          <a:noFill/>
          <a:ln/>
        </p:spPr>
        <p:txBody>
          <a:bodyPr wrap="square" lIns="0" tIns="0" rIns="0" bIns="0" rtlCol="0" anchor="ctr"/>
          <a:lstStyle/>
          <a:p>
            <a:pPr marL="0" indent="0">
              <a:buNone/>
            </a:pPr>
            <a:r>
              <a:rPr lang="en-US" sz="1800" dirty="0">
                <a:solidFill>
                  <a:srgbClr val="1A1A1A"/>
                </a:solidFill>
                <a:latin typeface="Arial" pitchFamily="34" charset="0"/>
                <a:ea typeface="Arial" pitchFamily="34" charset="-122"/>
                <a:cs typeface="Arial" pitchFamily="34" charset="-120"/>
              </a:rPr>
              <a:t>B.  Anther</a:t>
            </a:r>
            <a:endParaRPr lang="en-US" sz="1800" dirty="0"/>
          </a:p>
        </p:txBody>
      </p:sp>
      <p:sp>
        <p:nvSpPr>
          <p:cNvPr id="10" name="Shape 8"/>
          <p:cNvSpPr/>
          <p:nvPr/>
        </p:nvSpPr>
        <p:spPr>
          <a:xfrm>
            <a:off x="731520" y="3383280"/>
            <a:ext cx="3749040" cy="822960"/>
          </a:xfrm>
          <a:prstGeom prst="roundRect">
            <a:avLst>
              <a:gd name="adj" fmla="val 11111"/>
            </a:avLst>
          </a:prstGeom>
          <a:solidFill>
            <a:srgbClr val="FFFFFF"/>
          </a:solidFill>
          <a:ln/>
          <a:effectLst>
            <a:outerShdw blurRad="101600" dist="38100" dir="8100000" algn="bl" rotWithShape="0">
              <a:srgbClr val="000000">
                <a:alpha val="12000"/>
              </a:srgbClr>
            </a:outerShdw>
          </a:effectLst>
        </p:spPr>
      </p:sp>
      <p:sp>
        <p:nvSpPr>
          <p:cNvPr id="11" name="Text 9"/>
          <p:cNvSpPr/>
          <p:nvPr/>
        </p:nvSpPr>
        <p:spPr>
          <a:xfrm>
            <a:off x="914400" y="3383280"/>
            <a:ext cx="3383280" cy="822960"/>
          </a:xfrm>
          <a:prstGeom prst="rect">
            <a:avLst/>
          </a:prstGeom>
          <a:noFill/>
          <a:ln/>
        </p:spPr>
        <p:txBody>
          <a:bodyPr wrap="square" lIns="0" tIns="0" rIns="0" bIns="0" rtlCol="0" anchor="ctr"/>
          <a:lstStyle/>
          <a:p>
            <a:pPr marL="0" indent="0">
              <a:buNone/>
            </a:pPr>
            <a:r>
              <a:rPr lang="en-US" sz="1800" dirty="0">
                <a:solidFill>
                  <a:srgbClr val="1A1A1A"/>
                </a:solidFill>
                <a:latin typeface="Arial" pitchFamily="34" charset="0"/>
                <a:ea typeface="Arial" pitchFamily="34" charset="-122"/>
                <a:cs typeface="Arial" pitchFamily="34" charset="-120"/>
              </a:rPr>
              <a:t>C.  Ovary</a:t>
            </a:r>
            <a:endParaRPr lang="en-US" sz="1800" dirty="0"/>
          </a:p>
        </p:txBody>
      </p:sp>
      <p:sp>
        <p:nvSpPr>
          <p:cNvPr id="12" name="Shape 10"/>
          <p:cNvSpPr/>
          <p:nvPr/>
        </p:nvSpPr>
        <p:spPr>
          <a:xfrm>
            <a:off x="4846320" y="3383280"/>
            <a:ext cx="3749040" cy="822960"/>
          </a:xfrm>
          <a:prstGeom prst="roundRect">
            <a:avLst>
              <a:gd name="adj" fmla="val 11111"/>
            </a:avLst>
          </a:prstGeom>
          <a:solidFill>
            <a:srgbClr val="FFFFFF"/>
          </a:solidFill>
          <a:ln/>
          <a:effectLst>
            <a:outerShdw blurRad="101600" dist="38100" dir="8100000" algn="bl" rotWithShape="0">
              <a:srgbClr val="000000">
                <a:alpha val="12000"/>
              </a:srgbClr>
            </a:outerShdw>
          </a:effectLst>
        </p:spPr>
      </p:sp>
      <p:sp>
        <p:nvSpPr>
          <p:cNvPr id="13" name="Text 11"/>
          <p:cNvSpPr/>
          <p:nvPr/>
        </p:nvSpPr>
        <p:spPr>
          <a:xfrm>
            <a:off x="5029200" y="3383280"/>
            <a:ext cx="3383280" cy="822960"/>
          </a:xfrm>
          <a:prstGeom prst="rect">
            <a:avLst/>
          </a:prstGeom>
          <a:noFill/>
          <a:ln/>
        </p:spPr>
        <p:txBody>
          <a:bodyPr wrap="square" lIns="0" tIns="0" rIns="0" bIns="0" rtlCol="0" anchor="ctr"/>
          <a:lstStyle/>
          <a:p>
            <a:pPr marL="0" indent="0">
              <a:buNone/>
            </a:pPr>
            <a:r>
              <a:rPr lang="en-US" sz="1800" dirty="0">
                <a:solidFill>
                  <a:srgbClr val="1A1A1A"/>
                </a:solidFill>
                <a:latin typeface="Arial" pitchFamily="34" charset="0"/>
                <a:ea typeface="Arial" pitchFamily="34" charset="-122"/>
                <a:cs typeface="Arial" pitchFamily="34" charset="-120"/>
              </a:rPr>
              <a:t>D.  Style</a:t>
            </a:r>
            <a:endParaRPr lang="en-US" sz="1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20">
    <p:bg>
      <p:bgPr>
        <a:solidFill>
          <a:srgbClr val="F8F9F5"/>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B4332"/>
          </a:solidFill>
          <a:ln/>
        </p:spPr>
      </p:sp>
      <p:sp>
        <p:nvSpPr>
          <p:cNvPr id="3" name="Text 1"/>
          <p:cNvSpPr/>
          <p:nvPr/>
        </p:nvSpPr>
        <p:spPr>
          <a:xfrm>
            <a:off x="365760" y="137160"/>
            <a:ext cx="8229600" cy="457200"/>
          </a:xfrm>
          <a:prstGeom prst="rect">
            <a:avLst/>
          </a:prstGeom>
          <a:noFill/>
          <a:ln/>
        </p:spPr>
        <p:txBody>
          <a:bodyPr wrap="square" lIns="0" tIns="0" rIns="0" bIns="0" rtlCol="0" anchor="ctr"/>
          <a:lstStyle/>
          <a:p>
            <a:pPr marL="0" indent="0">
              <a:buNone/>
            </a:pPr>
            <a:r>
              <a:rPr lang="en-US" sz="2400" b="1" dirty="0">
                <a:solidFill>
                  <a:srgbClr val="FFFFFF"/>
                </a:solidFill>
                <a:latin typeface="Arial" pitchFamily="34" charset="0"/>
                <a:ea typeface="Arial" pitchFamily="34" charset="-122"/>
                <a:cs typeface="Arial" pitchFamily="34" charset="-120"/>
              </a:rPr>
              <a:t>Quick Quiz — Question 3</a:t>
            </a:r>
            <a:endParaRPr lang="en-US" sz="2400" dirty="0"/>
          </a:p>
        </p:txBody>
      </p:sp>
      <p:sp>
        <p:nvSpPr>
          <p:cNvPr id="4" name="Shape 2"/>
          <p:cNvSpPr/>
          <p:nvPr/>
        </p:nvSpPr>
        <p:spPr>
          <a:xfrm>
            <a:off x="457200" y="1005840"/>
            <a:ext cx="8229600" cy="1097280"/>
          </a:xfrm>
          <a:prstGeom prst="roundRect">
            <a:avLst>
              <a:gd name="adj" fmla="val 8333"/>
            </a:avLst>
          </a:prstGeom>
          <a:solidFill>
            <a:srgbClr val="FFFFFF"/>
          </a:solidFill>
          <a:ln/>
          <a:effectLst>
            <a:outerShdw blurRad="101600" dist="38100" dir="8100000" algn="bl" rotWithShape="0">
              <a:srgbClr val="000000">
                <a:alpha val="12000"/>
              </a:srgbClr>
            </a:outerShdw>
          </a:effectLst>
        </p:spPr>
      </p:sp>
      <p:sp>
        <p:nvSpPr>
          <p:cNvPr id="5" name="Text 3"/>
          <p:cNvSpPr/>
          <p:nvPr/>
        </p:nvSpPr>
        <p:spPr>
          <a:xfrm>
            <a:off x="640080" y="1188720"/>
            <a:ext cx="7863840" cy="731520"/>
          </a:xfrm>
          <a:prstGeom prst="rect">
            <a:avLst/>
          </a:prstGeom>
          <a:noFill/>
          <a:ln/>
        </p:spPr>
        <p:txBody>
          <a:bodyPr wrap="square" lIns="0" tIns="0" rIns="0" bIns="0" rtlCol="0" anchor="ctr"/>
          <a:lstStyle/>
          <a:p>
            <a:pPr marL="0" indent="0" algn="ctr">
              <a:buNone/>
            </a:pPr>
            <a:r>
              <a:rPr lang="en-US" sz="2200" b="1" dirty="0">
                <a:solidFill>
                  <a:srgbClr val="1A1A1A"/>
                </a:solidFill>
                <a:latin typeface="Arial" pitchFamily="34" charset="0"/>
                <a:ea typeface="Arial" pitchFamily="34" charset="-122"/>
                <a:cs typeface="Arial" pitchFamily="34" charset="-120"/>
              </a:rPr>
              <a:t>How many cotyledons does a monocot have?</a:t>
            </a:r>
            <a:endParaRPr lang="en-US" sz="2200" dirty="0"/>
          </a:p>
        </p:txBody>
      </p:sp>
      <p:sp>
        <p:nvSpPr>
          <p:cNvPr id="6" name="Shape 4"/>
          <p:cNvSpPr/>
          <p:nvPr/>
        </p:nvSpPr>
        <p:spPr>
          <a:xfrm>
            <a:off x="731520" y="2377440"/>
            <a:ext cx="3749040" cy="822960"/>
          </a:xfrm>
          <a:prstGeom prst="roundRect">
            <a:avLst>
              <a:gd name="adj" fmla="val 11111"/>
            </a:avLst>
          </a:prstGeom>
          <a:solidFill>
            <a:srgbClr val="FFFFFF"/>
          </a:solidFill>
          <a:ln/>
          <a:effectLst>
            <a:outerShdw blurRad="101600" dist="38100" dir="8100000" algn="bl" rotWithShape="0">
              <a:srgbClr val="000000">
                <a:alpha val="12000"/>
              </a:srgbClr>
            </a:outerShdw>
          </a:effectLst>
        </p:spPr>
      </p:sp>
      <p:sp>
        <p:nvSpPr>
          <p:cNvPr id="7" name="Text 5"/>
          <p:cNvSpPr/>
          <p:nvPr/>
        </p:nvSpPr>
        <p:spPr>
          <a:xfrm>
            <a:off x="914400" y="2377440"/>
            <a:ext cx="3383280" cy="822960"/>
          </a:xfrm>
          <a:prstGeom prst="rect">
            <a:avLst/>
          </a:prstGeom>
          <a:noFill/>
          <a:ln/>
        </p:spPr>
        <p:txBody>
          <a:bodyPr wrap="square" lIns="0" tIns="0" rIns="0" bIns="0" rtlCol="0" anchor="ctr"/>
          <a:lstStyle/>
          <a:p>
            <a:pPr marL="0" indent="0">
              <a:buNone/>
            </a:pPr>
            <a:r>
              <a:rPr lang="en-US" sz="1800" dirty="0">
                <a:solidFill>
                  <a:srgbClr val="1A1A1A"/>
                </a:solidFill>
                <a:latin typeface="Arial" pitchFamily="34" charset="0"/>
                <a:ea typeface="Arial" pitchFamily="34" charset="-122"/>
                <a:cs typeface="Arial" pitchFamily="34" charset="-120"/>
              </a:rPr>
              <a:t>A.  One</a:t>
            </a:r>
            <a:endParaRPr lang="en-US" sz="1800" dirty="0"/>
          </a:p>
        </p:txBody>
      </p:sp>
      <p:sp>
        <p:nvSpPr>
          <p:cNvPr id="8" name="Shape 6"/>
          <p:cNvSpPr/>
          <p:nvPr/>
        </p:nvSpPr>
        <p:spPr>
          <a:xfrm>
            <a:off x="4846320" y="2377440"/>
            <a:ext cx="3749040" cy="822960"/>
          </a:xfrm>
          <a:prstGeom prst="roundRect">
            <a:avLst>
              <a:gd name="adj" fmla="val 11111"/>
            </a:avLst>
          </a:prstGeom>
          <a:solidFill>
            <a:srgbClr val="FFFFFF"/>
          </a:solidFill>
          <a:ln/>
          <a:effectLst>
            <a:outerShdw blurRad="101600" dist="38100" dir="8100000" algn="bl" rotWithShape="0">
              <a:srgbClr val="000000">
                <a:alpha val="12000"/>
              </a:srgbClr>
            </a:outerShdw>
          </a:effectLst>
        </p:spPr>
      </p:sp>
      <p:sp>
        <p:nvSpPr>
          <p:cNvPr id="9" name="Text 7"/>
          <p:cNvSpPr/>
          <p:nvPr/>
        </p:nvSpPr>
        <p:spPr>
          <a:xfrm>
            <a:off x="5029200" y="2377440"/>
            <a:ext cx="3383280" cy="822960"/>
          </a:xfrm>
          <a:prstGeom prst="rect">
            <a:avLst/>
          </a:prstGeom>
          <a:noFill/>
          <a:ln/>
        </p:spPr>
        <p:txBody>
          <a:bodyPr wrap="square" lIns="0" tIns="0" rIns="0" bIns="0" rtlCol="0" anchor="ctr"/>
          <a:lstStyle/>
          <a:p>
            <a:pPr marL="0" indent="0">
              <a:buNone/>
            </a:pPr>
            <a:r>
              <a:rPr lang="en-US" sz="1800" dirty="0">
                <a:solidFill>
                  <a:srgbClr val="1A1A1A"/>
                </a:solidFill>
                <a:latin typeface="Arial" pitchFamily="34" charset="0"/>
                <a:ea typeface="Arial" pitchFamily="34" charset="-122"/>
                <a:cs typeface="Arial" pitchFamily="34" charset="-120"/>
              </a:rPr>
              <a:t>B.  Two</a:t>
            </a:r>
            <a:endParaRPr lang="en-US" sz="1800" dirty="0"/>
          </a:p>
        </p:txBody>
      </p:sp>
      <p:sp>
        <p:nvSpPr>
          <p:cNvPr id="10" name="Shape 8"/>
          <p:cNvSpPr/>
          <p:nvPr/>
        </p:nvSpPr>
        <p:spPr>
          <a:xfrm>
            <a:off x="731520" y="3383280"/>
            <a:ext cx="3749040" cy="822960"/>
          </a:xfrm>
          <a:prstGeom prst="roundRect">
            <a:avLst>
              <a:gd name="adj" fmla="val 11111"/>
            </a:avLst>
          </a:prstGeom>
          <a:solidFill>
            <a:srgbClr val="FFFFFF"/>
          </a:solidFill>
          <a:ln/>
          <a:effectLst>
            <a:outerShdw blurRad="101600" dist="38100" dir="8100000" algn="bl" rotWithShape="0">
              <a:srgbClr val="000000">
                <a:alpha val="12000"/>
              </a:srgbClr>
            </a:outerShdw>
          </a:effectLst>
        </p:spPr>
      </p:sp>
      <p:sp>
        <p:nvSpPr>
          <p:cNvPr id="11" name="Text 9"/>
          <p:cNvSpPr/>
          <p:nvPr/>
        </p:nvSpPr>
        <p:spPr>
          <a:xfrm>
            <a:off x="914400" y="3383280"/>
            <a:ext cx="3383280" cy="822960"/>
          </a:xfrm>
          <a:prstGeom prst="rect">
            <a:avLst/>
          </a:prstGeom>
          <a:noFill/>
          <a:ln/>
        </p:spPr>
        <p:txBody>
          <a:bodyPr wrap="square" lIns="0" tIns="0" rIns="0" bIns="0" rtlCol="0" anchor="ctr"/>
          <a:lstStyle/>
          <a:p>
            <a:pPr marL="0" indent="0">
              <a:buNone/>
            </a:pPr>
            <a:r>
              <a:rPr lang="en-US" sz="1800" dirty="0">
                <a:solidFill>
                  <a:srgbClr val="1A1A1A"/>
                </a:solidFill>
                <a:latin typeface="Arial" pitchFamily="34" charset="0"/>
                <a:ea typeface="Arial" pitchFamily="34" charset="-122"/>
                <a:cs typeface="Arial" pitchFamily="34" charset="-120"/>
              </a:rPr>
              <a:t>C.  Three</a:t>
            </a:r>
            <a:endParaRPr lang="en-US" sz="1800" dirty="0"/>
          </a:p>
        </p:txBody>
      </p:sp>
      <p:sp>
        <p:nvSpPr>
          <p:cNvPr id="12" name="Shape 10"/>
          <p:cNvSpPr/>
          <p:nvPr/>
        </p:nvSpPr>
        <p:spPr>
          <a:xfrm>
            <a:off x="4846320" y="3383280"/>
            <a:ext cx="3749040" cy="822960"/>
          </a:xfrm>
          <a:prstGeom prst="roundRect">
            <a:avLst>
              <a:gd name="adj" fmla="val 11111"/>
            </a:avLst>
          </a:prstGeom>
          <a:solidFill>
            <a:srgbClr val="FFFFFF"/>
          </a:solidFill>
          <a:ln/>
          <a:effectLst>
            <a:outerShdw blurRad="101600" dist="38100" dir="8100000" algn="bl" rotWithShape="0">
              <a:srgbClr val="000000">
                <a:alpha val="12000"/>
              </a:srgbClr>
            </a:outerShdw>
          </a:effectLst>
        </p:spPr>
      </p:sp>
      <p:sp>
        <p:nvSpPr>
          <p:cNvPr id="13" name="Text 11"/>
          <p:cNvSpPr/>
          <p:nvPr/>
        </p:nvSpPr>
        <p:spPr>
          <a:xfrm>
            <a:off x="5029200" y="3383280"/>
            <a:ext cx="3383280" cy="822960"/>
          </a:xfrm>
          <a:prstGeom prst="rect">
            <a:avLst/>
          </a:prstGeom>
          <a:noFill/>
          <a:ln/>
        </p:spPr>
        <p:txBody>
          <a:bodyPr wrap="square" lIns="0" tIns="0" rIns="0" bIns="0" rtlCol="0" anchor="ctr"/>
          <a:lstStyle/>
          <a:p>
            <a:pPr marL="0" indent="0">
              <a:buNone/>
            </a:pPr>
            <a:r>
              <a:rPr lang="en-US" sz="1800" dirty="0">
                <a:solidFill>
                  <a:srgbClr val="1A1A1A"/>
                </a:solidFill>
                <a:latin typeface="Arial" pitchFamily="34" charset="0"/>
                <a:ea typeface="Arial" pitchFamily="34" charset="-122"/>
                <a:cs typeface="Arial" pitchFamily="34" charset="-120"/>
              </a:rPr>
              <a:t>D.  Four</a:t>
            </a:r>
            <a:endParaRPr lang="en-US" sz="1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21">
    <p:bg>
      <p:bgPr>
        <a:solidFill>
          <a:srgbClr val="F8F9F5"/>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B4332"/>
          </a:solidFill>
          <a:ln/>
        </p:spPr>
      </p:sp>
      <p:sp>
        <p:nvSpPr>
          <p:cNvPr id="3" name="Text 1"/>
          <p:cNvSpPr/>
          <p:nvPr/>
        </p:nvSpPr>
        <p:spPr>
          <a:xfrm>
            <a:off x="365760" y="137160"/>
            <a:ext cx="8229600" cy="457200"/>
          </a:xfrm>
          <a:prstGeom prst="rect">
            <a:avLst/>
          </a:prstGeom>
          <a:noFill/>
          <a:ln/>
        </p:spPr>
        <p:txBody>
          <a:bodyPr wrap="square" lIns="0" tIns="0" rIns="0" bIns="0" rtlCol="0" anchor="ctr"/>
          <a:lstStyle/>
          <a:p>
            <a:pPr marL="0" indent="0">
              <a:buNone/>
            </a:pPr>
            <a:r>
              <a:rPr lang="en-US" sz="2400" b="1" dirty="0">
                <a:solidFill>
                  <a:srgbClr val="FFFFFF"/>
                </a:solidFill>
                <a:latin typeface="Arial" pitchFamily="34" charset="0"/>
                <a:ea typeface="Arial" pitchFamily="34" charset="-122"/>
                <a:cs typeface="Arial" pitchFamily="34" charset="-120"/>
              </a:rPr>
              <a:t>Quick Quiz — Question 4</a:t>
            </a:r>
            <a:endParaRPr lang="en-US" sz="2400" dirty="0"/>
          </a:p>
        </p:txBody>
      </p:sp>
      <p:sp>
        <p:nvSpPr>
          <p:cNvPr id="4" name="Shape 2"/>
          <p:cNvSpPr/>
          <p:nvPr/>
        </p:nvSpPr>
        <p:spPr>
          <a:xfrm>
            <a:off x="457200" y="1005840"/>
            <a:ext cx="8229600" cy="1097280"/>
          </a:xfrm>
          <a:prstGeom prst="roundRect">
            <a:avLst>
              <a:gd name="adj" fmla="val 8333"/>
            </a:avLst>
          </a:prstGeom>
          <a:solidFill>
            <a:srgbClr val="FFFFFF"/>
          </a:solidFill>
          <a:ln/>
          <a:effectLst>
            <a:outerShdw blurRad="101600" dist="38100" dir="8100000" algn="bl" rotWithShape="0">
              <a:srgbClr val="000000">
                <a:alpha val="12000"/>
              </a:srgbClr>
            </a:outerShdw>
          </a:effectLst>
        </p:spPr>
      </p:sp>
      <p:sp>
        <p:nvSpPr>
          <p:cNvPr id="5" name="Text 3"/>
          <p:cNvSpPr/>
          <p:nvPr/>
        </p:nvSpPr>
        <p:spPr>
          <a:xfrm>
            <a:off x="640080" y="1188720"/>
            <a:ext cx="7863840" cy="731520"/>
          </a:xfrm>
          <a:prstGeom prst="rect">
            <a:avLst/>
          </a:prstGeom>
          <a:noFill/>
          <a:ln/>
        </p:spPr>
        <p:txBody>
          <a:bodyPr wrap="square" lIns="0" tIns="0" rIns="0" bIns="0" rtlCol="0" anchor="ctr"/>
          <a:lstStyle/>
          <a:p>
            <a:pPr marL="0" indent="0" algn="ctr">
              <a:buNone/>
            </a:pPr>
            <a:r>
              <a:rPr lang="en-US" sz="2200" b="1" dirty="0">
                <a:solidFill>
                  <a:srgbClr val="1A1A1A"/>
                </a:solidFill>
                <a:latin typeface="Arial" pitchFamily="34" charset="0"/>
                <a:ea typeface="Arial" pitchFamily="34" charset="-122"/>
                <a:cs typeface="Arial" pitchFamily="34" charset="-120"/>
              </a:rPr>
              <a:t>Which plant is a dicot?</a:t>
            </a:r>
            <a:endParaRPr lang="en-US" sz="2200" dirty="0"/>
          </a:p>
        </p:txBody>
      </p:sp>
      <p:sp>
        <p:nvSpPr>
          <p:cNvPr id="6" name="Shape 4"/>
          <p:cNvSpPr/>
          <p:nvPr/>
        </p:nvSpPr>
        <p:spPr>
          <a:xfrm>
            <a:off x="731520" y="2377440"/>
            <a:ext cx="3749040" cy="822960"/>
          </a:xfrm>
          <a:prstGeom prst="roundRect">
            <a:avLst>
              <a:gd name="adj" fmla="val 11111"/>
            </a:avLst>
          </a:prstGeom>
          <a:solidFill>
            <a:srgbClr val="FFFFFF"/>
          </a:solidFill>
          <a:ln/>
          <a:effectLst>
            <a:outerShdw blurRad="101600" dist="38100" dir="8100000" algn="bl" rotWithShape="0">
              <a:srgbClr val="000000">
                <a:alpha val="12000"/>
              </a:srgbClr>
            </a:outerShdw>
          </a:effectLst>
        </p:spPr>
      </p:sp>
      <p:sp>
        <p:nvSpPr>
          <p:cNvPr id="7" name="Text 5"/>
          <p:cNvSpPr/>
          <p:nvPr/>
        </p:nvSpPr>
        <p:spPr>
          <a:xfrm>
            <a:off x="914400" y="2377440"/>
            <a:ext cx="3383280" cy="822960"/>
          </a:xfrm>
          <a:prstGeom prst="rect">
            <a:avLst/>
          </a:prstGeom>
          <a:noFill/>
          <a:ln/>
        </p:spPr>
        <p:txBody>
          <a:bodyPr wrap="square" lIns="0" tIns="0" rIns="0" bIns="0" rtlCol="0" anchor="ctr"/>
          <a:lstStyle/>
          <a:p>
            <a:pPr marL="0" indent="0">
              <a:buNone/>
            </a:pPr>
            <a:r>
              <a:rPr lang="en-US" sz="1800" dirty="0">
                <a:solidFill>
                  <a:srgbClr val="1A1A1A"/>
                </a:solidFill>
                <a:latin typeface="Arial" pitchFamily="34" charset="0"/>
                <a:ea typeface="Arial" pitchFamily="34" charset="-122"/>
                <a:cs typeface="Arial" pitchFamily="34" charset="-120"/>
              </a:rPr>
              <a:t>A.  Rice</a:t>
            </a:r>
            <a:endParaRPr lang="en-US" sz="1800" dirty="0"/>
          </a:p>
        </p:txBody>
      </p:sp>
      <p:sp>
        <p:nvSpPr>
          <p:cNvPr id="8" name="Shape 6"/>
          <p:cNvSpPr/>
          <p:nvPr/>
        </p:nvSpPr>
        <p:spPr>
          <a:xfrm>
            <a:off x="4846320" y="2377440"/>
            <a:ext cx="3749040" cy="822960"/>
          </a:xfrm>
          <a:prstGeom prst="roundRect">
            <a:avLst>
              <a:gd name="adj" fmla="val 11111"/>
            </a:avLst>
          </a:prstGeom>
          <a:solidFill>
            <a:srgbClr val="FFFFFF"/>
          </a:solidFill>
          <a:ln/>
          <a:effectLst>
            <a:outerShdw blurRad="101600" dist="38100" dir="8100000" algn="bl" rotWithShape="0">
              <a:srgbClr val="000000">
                <a:alpha val="12000"/>
              </a:srgbClr>
            </a:outerShdw>
          </a:effectLst>
        </p:spPr>
      </p:sp>
      <p:sp>
        <p:nvSpPr>
          <p:cNvPr id="9" name="Text 7"/>
          <p:cNvSpPr/>
          <p:nvPr/>
        </p:nvSpPr>
        <p:spPr>
          <a:xfrm>
            <a:off x="5029200" y="2377440"/>
            <a:ext cx="3383280" cy="822960"/>
          </a:xfrm>
          <a:prstGeom prst="rect">
            <a:avLst/>
          </a:prstGeom>
          <a:noFill/>
          <a:ln/>
        </p:spPr>
        <p:txBody>
          <a:bodyPr wrap="square" lIns="0" tIns="0" rIns="0" bIns="0" rtlCol="0" anchor="ctr"/>
          <a:lstStyle/>
          <a:p>
            <a:pPr marL="0" indent="0">
              <a:buNone/>
            </a:pPr>
            <a:r>
              <a:rPr lang="en-US" sz="1800" dirty="0">
                <a:solidFill>
                  <a:srgbClr val="1A1A1A"/>
                </a:solidFill>
                <a:latin typeface="Arial" pitchFamily="34" charset="0"/>
                <a:ea typeface="Arial" pitchFamily="34" charset="-122"/>
                <a:cs typeface="Arial" pitchFamily="34" charset="-120"/>
              </a:rPr>
              <a:t>B.  Maize</a:t>
            </a:r>
            <a:endParaRPr lang="en-US" sz="1800" dirty="0"/>
          </a:p>
        </p:txBody>
      </p:sp>
      <p:sp>
        <p:nvSpPr>
          <p:cNvPr id="10" name="Shape 8"/>
          <p:cNvSpPr/>
          <p:nvPr/>
        </p:nvSpPr>
        <p:spPr>
          <a:xfrm>
            <a:off x="731520" y="3383280"/>
            <a:ext cx="3749040" cy="822960"/>
          </a:xfrm>
          <a:prstGeom prst="roundRect">
            <a:avLst>
              <a:gd name="adj" fmla="val 11111"/>
            </a:avLst>
          </a:prstGeom>
          <a:solidFill>
            <a:srgbClr val="FFFFFF"/>
          </a:solidFill>
          <a:ln/>
          <a:effectLst>
            <a:outerShdw blurRad="101600" dist="38100" dir="8100000" algn="bl" rotWithShape="0">
              <a:srgbClr val="000000">
                <a:alpha val="12000"/>
              </a:srgbClr>
            </a:outerShdw>
          </a:effectLst>
        </p:spPr>
      </p:sp>
      <p:sp>
        <p:nvSpPr>
          <p:cNvPr id="11" name="Text 9"/>
          <p:cNvSpPr/>
          <p:nvPr/>
        </p:nvSpPr>
        <p:spPr>
          <a:xfrm>
            <a:off x="914400" y="3383280"/>
            <a:ext cx="3383280" cy="822960"/>
          </a:xfrm>
          <a:prstGeom prst="rect">
            <a:avLst/>
          </a:prstGeom>
          <a:noFill/>
          <a:ln/>
        </p:spPr>
        <p:txBody>
          <a:bodyPr wrap="square" lIns="0" tIns="0" rIns="0" bIns="0" rtlCol="0" anchor="ctr"/>
          <a:lstStyle/>
          <a:p>
            <a:pPr marL="0" indent="0">
              <a:buNone/>
            </a:pPr>
            <a:r>
              <a:rPr lang="en-US" sz="1800" dirty="0">
                <a:solidFill>
                  <a:srgbClr val="1A1A1A"/>
                </a:solidFill>
                <a:latin typeface="Arial" pitchFamily="34" charset="0"/>
                <a:ea typeface="Arial" pitchFamily="34" charset="-122"/>
                <a:cs typeface="Arial" pitchFamily="34" charset="-120"/>
              </a:rPr>
              <a:t>C.  Wheat</a:t>
            </a:r>
            <a:endParaRPr lang="en-US" sz="1800" dirty="0"/>
          </a:p>
        </p:txBody>
      </p:sp>
      <p:sp>
        <p:nvSpPr>
          <p:cNvPr id="12" name="Shape 10"/>
          <p:cNvSpPr/>
          <p:nvPr/>
        </p:nvSpPr>
        <p:spPr>
          <a:xfrm>
            <a:off x="4846320" y="3383280"/>
            <a:ext cx="3749040" cy="822960"/>
          </a:xfrm>
          <a:prstGeom prst="roundRect">
            <a:avLst>
              <a:gd name="adj" fmla="val 11111"/>
            </a:avLst>
          </a:prstGeom>
          <a:solidFill>
            <a:srgbClr val="FFFFFF"/>
          </a:solidFill>
          <a:ln/>
          <a:effectLst>
            <a:outerShdw blurRad="101600" dist="38100" dir="8100000" algn="bl" rotWithShape="0">
              <a:srgbClr val="000000">
                <a:alpha val="12000"/>
              </a:srgbClr>
            </a:outerShdw>
          </a:effectLst>
        </p:spPr>
      </p:sp>
      <p:sp>
        <p:nvSpPr>
          <p:cNvPr id="13" name="Text 11"/>
          <p:cNvSpPr/>
          <p:nvPr/>
        </p:nvSpPr>
        <p:spPr>
          <a:xfrm>
            <a:off x="5029200" y="3383280"/>
            <a:ext cx="3383280" cy="822960"/>
          </a:xfrm>
          <a:prstGeom prst="rect">
            <a:avLst/>
          </a:prstGeom>
          <a:noFill/>
          <a:ln/>
        </p:spPr>
        <p:txBody>
          <a:bodyPr wrap="square" lIns="0" tIns="0" rIns="0" bIns="0" rtlCol="0" anchor="ctr"/>
          <a:lstStyle/>
          <a:p>
            <a:pPr marL="0" indent="0">
              <a:buNone/>
            </a:pPr>
            <a:r>
              <a:rPr lang="en-US" sz="1800" dirty="0">
                <a:solidFill>
                  <a:srgbClr val="1A1A1A"/>
                </a:solidFill>
                <a:latin typeface="Arial" pitchFamily="34" charset="0"/>
                <a:ea typeface="Arial" pitchFamily="34" charset="-122"/>
                <a:cs typeface="Arial" pitchFamily="34" charset="-120"/>
              </a:rPr>
              <a:t>D.  Mango</a:t>
            </a:r>
            <a:endParaRPr lang="en-US" sz="1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2">
    <p:bg>
      <p:bgPr>
        <a:solidFill>
          <a:srgbClr val="F8F9F5"/>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B4332"/>
          </a:solidFill>
          <a:ln/>
        </p:spPr>
      </p:sp>
      <p:sp>
        <p:nvSpPr>
          <p:cNvPr id="3" name="Text 1"/>
          <p:cNvSpPr/>
          <p:nvPr/>
        </p:nvSpPr>
        <p:spPr>
          <a:xfrm>
            <a:off x="365760" y="137160"/>
            <a:ext cx="8229600" cy="457200"/>
          </a:xfrm>
          <a:prstGeom prst="rect">
            <a:avLst/>
          </a:prstGeom>
          <a:noFill/>
          <a:ln/>
        </p:spPr>
        <p:txBody>
          <a:bodyPr wrap="square" lIns="0" tIns="0" rIns="0" bIns="0" rtlCol="0" anchor="ctr"/>
          <a:lstStyle/>
          <a:p>
            <a:pPr marL="0" indent="0">
              <a:buNone/>
            </a:pPr>
            <a:r>
              <a:rPr lang="en-US" sz="2400" b="1" dirty="0">
                <a:solidFill>
                  <a:srgbClr val="FFFFFF"/>
                </a:solidFill>
                <a:latin typeface="Arial" pitchFamily="34" charset="0"/>
                <a:ea typeface="Arial" pitchFamily="34" charset="-122"/>
                <a:cs typeface="Arial" pitchFamily="34" charset="-120"/>
              </a:rPr>
              <a:t>Quick Quiz — Question 5</a:t>
            </a:r>
            <a:endParaRPr lang="en-US" sz="2400" dirty="0"/>
          </a:p>
        </p:txBody>
      </p:sp>
      <p:sp>
        <p:nvSpPr>
          <p:cNvPr id="4" name="Shape 2"/>
          <p:cNvSpPr/>
          <p:nvPr/>
        </p:nvSpPr>
        <p:spPr>
          <a:xfrm>
            <a:off x="457200" y="1005840"/>
            <a:ext cx="8229600" cy="1097280"/>
          </a:xfrm>
          <a:prstGeom prst="roundRect">
            <a:avLst>
              <a:gd name="adj" fmla="val 8333"/>
            </a:avLst>
          </a:prstGeom>
          <a:solidFill>
            <a:srgbClr val="FFFFFF"/>
          </a:solidFill>
          <a:ln/>
          <a:effectLst>
            <a:outerShdw blurRad="101600" dist="38100" dir="8100000" algn="bl" rotWithShape="0">
              <a:srgbClr val="000000">
                <a:alpha val="12000"/>
              </a:srgbClr>
            </a:outerShdw>
          </a:effectLst>
        </p:spPr>
      </p:sp>
      <p:sp>
        <p:nvSpPr>
          <p:cNvPr id="5" name="Text 3"/>
          <p:cNvSpPr/>
          <p:nvPr/>
        </p:nvSpPr>
        <p:spPr>
          <a:xfrm>
            <a:off x="640080" y="1188720"/>
            <a:ext cx="7863840" cy="731520"/>
          </a:xfrm>
          <a:prstGeom prst="rect">
            <a:avLst/>
          </a:prstGeom>
          <a:noFill/>
          <a:ln/>
        </p:spPr>
        <p:txBody>
          <a:bodyPr wrap="square" lIns="0" tIns="0" rIns="0" bIns="0" rtlCol="0" anchor="ctr"/>
          <a:lstStyle/>
          <a:p>
            <a:pPr marL="0" indent="0" algn="ctr">
              <a:buNone/>
            </a:pPr>
            <a:r>
              <a:rPr lang="en-US" sz="2000" b="1" dirty="0">
                <a:solidFill>
                  <a:srgbClr val="1A1A1A"/>
                </a:solidFill>
                <a:latin typeface="Arial" pitchFamily="34" charset="0"/>
                <a:ea typeface="Arial" pitchFamily="34" charset="-122"/>
                <a:cs typeface="Arial" pitchFamily="34" charset="-120"/>
              </a:rPr>
              <a:t>Where are the seeds of angiosperms enclosed?</a:t>
            </a:r>
            <a:endParaRPr lang="en-US" sz="2000" dirty="0"/>
          </a:p>
        </p:txBody>
      </p:sp>
      <p:sp>
        <p:nvSpPr>
          <p:cNvPr id="6" name="Shape 4"/>
          <p:cNvSpPr/>
          <p:nvPr/>
        </p:nvSpPr>
        <p:spPr>
          <a:xfrm>
            <a:off x="731520" y="2377440"/>
            <a:ext cx="3749040" cy="822960"/>
          </a:xfrm>
          <a:prstGeom prst="roundRect">
            <a:avLst>
              <a:gd name="adj" fmla="val 11111"/>
            </a:avLst>
          </a:prstGeom>
          <a:solidFill>
            <a:srgbClr val="FFFFFF"/>
          </a:solidFill>
          <a:ln/>
          <a:effectLst>
            <a:outerShdw blurRad="101600" dist="38100" dir="8100000" algn="bl" rotWithShape="0">
              <a:srgbClr val="000000">
                <a:alpha val="12000"/>
              </a:srgbClr>
            </a:outerShdw>
          </a:effectLst>
        </p:spPr>
      </p:sp>
      <p:sp>
        <p:nvSpPr>
          <p:cNvPr id="7" name="Text 5"/>
          <p:cNvSpPr/>
          <p:nvPr/>
        </p:nvSpPr>
        <p:spPr>
          <a:xfrm>
            <a:off x="914400" y="2377440"/>
            <a:ext cx="3383280" cy="822960"/>
          </a:xfrm>
          <a:prstGeom prst="rect">
            <a:avLst/>
          </a:prstGeom>
          <a:noFill/>
          <a:ln/>
        </p:spPr>
        <p:txBody>
          <a:bodyPr wrap="square" lIns="0" tIns="0" rIns="0" bIns="0" rtlCol="0" anchor="ctr"/>
          <a:lstStyle/>
          <a:p>
            <a:pPr marL="0" indent="0">
              <a:buNone/>
            </a:pPr>
            <a:r>
              <a:rPr lang="en-US" sz="1800" dirty="0">
                <a:solidFill>
                  <a:srgbClr val="1A1A1A"/>
                </a:solidFill>
                <a:latin typeface="Arial" pitchFamily="34" charset="0"/>
                <a:ea typeface="Arial" pitchFamily="34" charset="-122"/>
                <a:cs typeface="Arial" pitchFamily="34" charset="-120"/>
              </a:rPr>
              <a:t>A.  Cone</a:t>
            </a:r>
            <a:endParaRPr lang="en-US" sz="1800" dirty="0"/>
          </a:p>
        </p:txBody>
      </p:sp>
      <p:sp>
        <p:nvSpPr>
          <p:cNvPr id="8" name="Shape 6"/>
          <p:cNvSpPr/>
          <p:nvPr/>
        </p:nvSpPr>
        <p:spPr>
          <a:xfrm>
            <a:off x="4846320" y="2377440"/>
            <a:ext cx="3749040" cy="822960"/>
          </a:xfrm>
          <a:prstGeom prst="roundRect">
            <a:avLst>
              <a:gd name="adj" fmla="val 11111"/>
            </a:avLst>
          </a:prstGeom>
          <a:solidFill>
            <a:srgbClr val="FFFFFF"/>
          </a:solidFill>
          <a:ln/>
          <a:effectLst>
            <a:outerShdw blurRad="101600" dist="38100" dir="8100000" algn="bl" rotWithShape="0">
              <a:srgbClr val="000000">
                <a:alpha val="12000"/>
              </a:srgbClr>
            </a:outerShdw>
          </a:effectLst>
        </p:spPr>
      </p:sp>
      <p:sp>
        <p:nvSpPr>
          <p:cNvPr id="9" name="Text 7"/>
          <p:cNvSpPr/>
          <p:nvPr/>
        </p:nvSpPr>
        <p:spPr>
          <a:xfrm>
            <a:off x="5029200" y="2377440"/>
            <a:ext cx="3383280" cy="822960"/>
          </a:xfrm>
          <a:prstGeom prst="rect">
            <a:avLst/>
          </a:prstGeom>
          <a:noFill/>
          <a:ln/>
        </p:spPr>
        <p:txBody>
          <a:bodyPr wrap="square" lIns="0" tIns="0" rIns="0" bIns="0" rtlCol="0" anchor="ctr"/>
          <a:lstStyle/>
          <a:p>
            <a:pPr marL="0" indent="0">
              <a:buNone/>
            </a:pPr>
            <a:r>
              <a:rPr lang="en-US" sz="1800" dirty="0">
                <a:solidFill>
                  <a:srgbClr val="1A1A1A"/>
                </a:solidFill>
                <a:latin typeface="Arial" pitchFamily="34" charset="0"/>
                <a:ea typeface="Arial" pitchFamily="34" charset="-122"/>
                <a:cs typeface="Arial" pitchFamily="34" charset="-120"/>
              </a:rPr>
              <a:t>B.  Root</a:t>
            </a:r>
            <a:endParaRPr lang="en-US" sz="1800" dirty="0"/>
          </a:p>
        </p:txBody>
      </p:sp>
      <p:sp>
        <p:nvSpPr>
          <p:cNvPr id="10" name="Shape 8"/>
          <p:cNvSpPr/>
          <p:nvPr/>
        </p:nvSpPr>
        <p:spPr>
          <a:xfrm>
            <a:off x="731520" y="3383280"/>
            <a:ext cx="3749040" cy="822960"/>
          </a:xfrm>
          <a:prstGeom prst="roundRect">
            <a:avLst>
              <a:gd name="adj" fmla="val 11111"/>
            </a:avLst>
          </a:prstGeom>
          <a:solidFill>
            <a:srgbClr val="FFFFFF"/>
          </a:solidFill>
          <a:ln/>
          <a:effectLst>
            <a:outerShdw blurRad="101600" dist="38100" dir="8100000" algn="bl" rotWithShape="0">
              <a:srgbClr val="000000">
                <a:alpha val="12000"/>
              </a:srgbClr>
            </a:outerShdw>
          </a:effectLst>
        </p:spPr>
      </p:sp>
      <p:sp>
        <p:nvSpPr>
          <p:cNvPr id="11" name="Text 9"/>
          <p:cNvSpPr/>
          <p:nvPr/>
        </p:nvSpPr>
        <p:spPr>
          <a:xfrm>
            <a:off x="914400" y="3383280"/>
            <a:ext cx="3383280" cy="822960"/>
          </a:xfrm>
          <a:prstGeom prst="rect">
            <a:avLst/>
          </a:prstGeom>
          <a:noFill/>
          <a:ln/>
        </p:spPr>
        <p:txBody>
          <a:bodyPr wrap="square" lIns="0" tIns="0" rIns="0" bIns="0" rtlCol="0" anchor="ctr"/>
          <a:lstStyle/>
          <a:p>
            <a:pPr marL="0" indent="0">
              <a:buNone/>
            </a:pPr>
            <a:r>
              <a:rPr lang="en-US" sz="1800" dirty="0">
                <a:solidFill>
                  <a:srgbClr val="1A1A1A"/>
                </a:solidFill>
                <a:latin typeface="Arial" pitchFamily="34" charset="0"/>
                <a:ea typeface="Arial" pitchFamily="34" charset="-122"/>
                <a:cs typeface="Arial" pitchFamily="34" charset="-120"/>
              </a:rPr>
              <a:t>C.  Fruit</a:t>
            </a:r>
            <a:endParaRPr lang="en-US" sz="1800" dirty="0"/>
          </a:p>
        </p:txBody>
      </p:sp>
      <p:sp>
        <p:nvSpPr>
          <p:cNvPr id="12" name="Shape 10"/>
          <p:cNvSpPr/>
          <p:nvPr/>
        </p:nvSpPr>
        <p:spPr>
          <a:xfrm>
            <a:off x="4846320" y="3383280"/>
            <a:ext cx="3749040" cy="822960"/>
          </a:xfrm>
          <a:prstGeom prst="roundRect">
            <a:avLst>
              <a:gd name="adj" fmla="val 11111"/>
            </a:avLst>
          </a:prstGeom>
          <a:solidFill>
            <a:srgbClr val="FFFFFF"/>
          </a:solidFill>
          <a:ln/>
          <a:effectLst>
            <a:outerShdw blurRad="101600" dist="38100" dir="8100000" algn="bl" rotWithShape="0">
              <a:srgbClr val="000000">
                <a:alpha val="12000"/>
              </a:srgbClr>
            </a:outerShdw>
          </a:effectLst>
        </p:spPr>
      </p:sp>
      <p:sp>
        <p:nvSpPr>
          <p:cNvPr id="13" name="Text 11"/>
          <p:cNvSpPr/>
          <p:nvPr/>
        </p:nvSpPr>
        <p:spPr>
          <a:xfrm>
            <a:off x="5029200" y="3383280"/>
            <a:ext cx="3383280" cy="822960"/>
          </a:xfrm>
          <a:prstGeom prst="rect">
            <a:avLst/>
          </a:prstGeom>
          <a:noFill/>
          <a:ln/>
        </p:spPr>
        <p:txBody>
          <a:bodyPr wrap="square" lIns="0" tIns="0" rIns="0" bIns="0" rtlCol="0" anchor="ctr"/>
          <a:lstStyle/>
          <a:p>
            <a:pPr marL="0" indent="0">
              <a:buNone/>
            </a:pPr>
            <a:r>
              <a:rPr lang="en-US" sz="1800" dirty="0">
                <a:solidFill>
                  <a:srgbClr val="1A1A1A"/>
                </a:solidFill>
                <a:latin typeface="Arial" pitchFamily="34" charset="0"/>
                <a:ea typeface="Arial" pitchFamily="34" charset="-122"/>
                <a:cs typeface="Arial" pitchFamily="34" charset="-120"/>
              </a:rPr>
              <a:t>D.  Leaf</a:t>
            </a:r>
            <a:endParaRPr lang="en-US" sz="1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3">
    <p:bg>
      <p:bgPr>
        <a:solidFill>
          <a:srgbClr val="F8F9F5"/>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B4332"/>
          </a:solidFill>
          <a:ln/>
        </p:spPr>
      </p:sp>
      <p:sp>
        <p:nvSpPr>
          <p:cNvPr id="3" name="Text 1"/>
          <p:cNvSpPr/>
          <p:nvPr/>
        </p:nvSpPr>
        <p:spPr>
          <a:xfrm>
            <a:off x="365760" y="137160"/>
            <a:ext cx="8229600" cy="457200"/>
          </a:xfrm>
          <a:prstGeom prst="rect">
            <a:avLst/>
          </a:prstGeom>
          <a:noFill/>
          <a:ln/>
        </p:spPr>
        <p:txBody>
          <a:bodyPr wrap="square" lIns="0" tIns="0" rIns="0" bIns="0" rtlCol="0" anchor="ctr"/>
          <a:lstStyle/>
          <a:p>
            <a:pPr marL="0" indent="0">
              <a:buNone/>
            </a:pPr>
            <a:r>
              <a:rPr lang="en-US" sz="2600" b="1" dirty="0">
                <a:solidFill>
                  <a:srgbClr val="FFFFFF"/>
                </a:solidFill>
                <a:latin typeface="Arial" pitchFamily="34" charset="0"/>
                <a:ea typeface="Arial" pitchFamily="34" charset="-122"/>
                <a:cs typeface="Arial" pitchFamily="34" charset="-120"/>
              </a:rPr>
              <a:t>What Did We Learn?</a:t>
            </a:r>
            <a:endParaRPr lang="en-US" sz="2600" dirty="0"/>
          </a:p>
        </p:txBody>
      </p:sp>
      <p:sp>
        <p:nvSpPr>
          <p:cNvPr id="4" name="Shape 2"/>
          <p:cNvSpPr/>
          <p:nvPr/>
        </p:nvSpPr>
        <p:spPr>
          <a:xfrm>
            <a:off x="2560320" y="914400"/>
            <a:ext cx="4023360" cy="548640"/>
          </a:xfrm>
          <a:prstGeom prst="roundRect">
            <a:avLst>
              <a:gd name="adj" fmla="val 13333"/>
            </a:avLst>
          </a:prstGeom>
          <a:solidFill>
            <a:srgbClr val="2D6A4F"/>
          </a:solidFill>
          <a:ln/>
        </p:spPr>
      </p:sp>
      <p:sp>
        <p:nvSpPr>
          <p:cNvPr id="5" name="Text 3"/>
          <p:cNvSpPr/>
          <p:nvPr/>
        </p:nvSpPr>
        <p:spPr>
          <a:xfrm>
            <a:off x="2560320" y="914400"/>
            <a:ext cx="4023360" cy="54864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SEED-PRODUCING PLANTS</a:t>
            </a:r>
            <a:endParaRPr lang="en-US" sz="1400" dirty="0"/>
          </a:p>
        </p:txBody>
      </p:sp>
      <p:sp>
        <p:nvSpPr>
          <p:cNvPr id="6" name="Shape 4"/>
          <p:cNvSpPr/>
          <p:nvPr/>
        </p:nvSpPr>
        <p:spPr>
          <a:xfrm>
            <a:off x="365760" y="1691640"/>
            <a:ext cx="4023360" cy="1188720"/>
          </a:xfrm>
          <a:prstGeom prst="roundRect">
            <a:avLst>
              <a:gd name="adj" fmla="val 7692"/>
            </a:avLst>
          </a:prstGeom>
          <a:solidFill>
            <a:srgbClr val="FEF3C7"/>
          </a:solidFill>
          <a:ln/>
        </p:spPr>
      </p:sp>
      <p:sp>
        <p:nvSpPr>
          <p:cNvPr id="7" name="Text 5"/>
          <p:cNvSpPr/>
          <p:nvPr/>
        </p:nvSpPr>
        <p:spPr>
          <a:xfrm>
            <a:off x="457200" y="1783080"/>
            <a:ext cx="3840480" cy="1005840"/>
          </a:xfrm>
          <a:prstGeom prst="rect">
            <a:avLst/>
          </a:prstGeom>
          <a:noFill/>
          <a:ln/>
        </p:spPr>
        <p:txBody>
          <a:bodyPr wrap="square" lIns="0" tIns="0" rIns="0" bIns="0" rtlCol="0" anchor="ctr"/>
          <a:lstStyle/>
          <a:p>
            <a:pPr marL="0" indent="0" algn="ctr">
              <a:buNone/>
            </a:pPr>
            <a:r>
              <a:rPr lang="en-US" sz="1400" dirty="0">
                <a:solidFill>
                  <a:srgbClr val="1A1A1A"/>
                </a:solidFill>
                <a:latin typeface="Arial" pitchFamily="34" charset="0"/>
                <a:ea typeface="Arial" pitchFamily="34" charset="-122"/>
                <a:cs typeface="Arial" pitchFamily="34" charset="-120"/>
              </a:rPr>
              <a:t>GYMNOSPERMS</a:t>
            </a:r>
            <a:endParaRPr lang="en-US" sz="1400" dirty="0"/>
          </a:p>
          <a:p>
            <a:pPr marL="0" indent="0" algn="ctr">
              <a:buNone/>
            </a:pPr>
            <a:r>
              <a:rPr lang="en-US" sz="1400" dirty="0">
                <a:solidFill>
                  <a:srgbClr val="1A1A1A"/>
                </a:solidFill>
                <a:latin typeface="Arial" pitchFamily="34" charset="0"/>
                <a:ea typeface="Arial" pitchFamily="34" charset="-122"/>
                <a:cs typeface="Arial" pitchFamily="34" charset="-120"/>
              </a:rPr>
              <a:t>Naked seeds • Cones</a:t>
            </a:r>
            <a:endParaRPr lang="en-US" sz="1400" dirty="0"/>
          </a:p>
          <a:p>
            <a:pPr marL="0" indent="0" algn="ctr">
              <a:buNone/>
            </a:pPr>
            <a:r>
              <a:rPr lang="en-US" sz="1400" dirty="0">
                <a:solidFill>
                  <a:srgbClr val="1A1A1A"/>
                </a:solidFill>
                <a:latin typeface="Arial" pitchFamily="34" charset="0"/>
                <a:ea typeface="Arial" pitchFamily="34" charset="-122"/>
                <a:cs typeface="Arial" pitchFamily="34" charset="-120"/>
              </a:rPr>
              <a:t>Example: Pine</a:t>
            </a:r>
            <a:endParaRPr lang="en-US" sz="1400" dirty="0"/>
          </a:p>
        </p:txBody>
      </p:sp>
      <p:sp>
        <p:nvSpPr>
          <p:cNvPr id="8" name="Shape 6"/>
          <p:cNvSpPr/>
          <p:nvPr/>
        </p:nvSpPr>
        <p:spPr>
          <a:xfrm>
            <a:off x="4754880" y="1691640"/>
            <a:ext cx="4023360" cy="1188720"/>
          </a:xfrm>
          <a:prstGeom prst="roundRect">
            <a:avLst>
              <a:gd name="adj" fmla="val 7692"/>
            </a:avLst>
          </a:prstGeom>
          <a:solidFill>
            <a:srgbClr val="D1FAE5"/>
          </a:solidFill>
          <a:ln/>
        </p:spPr>
      </p:sp>
      <p:sp>
        <p:nvSpPr>
          <p:cNvPr id="9" name="Text 7"/>
          <p:cNvSpPr/>
          <p:nvPr/>
        </p:nvSpPr>
        <p:spPr>
          <a:xfrm>
            <a:off x="4846320" y="1783080"/>
            <a:ext cx="3840480" cy="1005840"/>
          </a:xfrm>
          <a:prstGeom prst="rect">
            <a:avLst/>
          </a:prstGeom>
          <a:noFill/>
          <a:ln/>
        </p:spPr>
        <p:txBody>
          <a:bodyPr wrap="square" lIns="0" tIns="0" rIns="0" bIns="0" rtlCol="0" anchor="ctr"/>
          <a:lstStyle/>
          <a:p>
            <a:pPr marL="0" indent="0" algn="ctr">
              <a:buNone/>
            </a:pPr>
            <a:r>
              <a:rPr lang="en-US" sz="1400" dirty="0">
                <a:solidFill>
                  <a:srgbClr val="1A1A1A"/>
                </a:solidFill>
                <a:latin typeface="Arial" pitchFamily="34" charset="0"/>
                <a:ea typeface="Arial" pitchFamily="34" charset="-122"/>
                <a:cs typeface="Arial" pitchFamily="34" charset="-120"/>
              </a:rPr>
              <a:t>ANGIOSPERMS</a:t>
            </a:r>
            <a:endParaRPr lang="en-US" sz="1400" dirty="0"/>
          </a:p>
          <a:p>
            <a:pPr marL="0" indent="0" algn="ctr">
              <a:buNone/>
            </a:pPr>
            <a:r>
              <a:rPr lang="en-US" sz="1400" dirty="0">
                <a:solidFill>
                  <a:srgbClr val="1A1A1A"/>
                </a:solidFill>
                <a:latin typeface="Arial" pitchFamily="34" charset="0"/>
                <a:ea typeface="Arial" pitchFamily="34" charset="-122"/>
                <a:cs typeface="Arial" pitchFamily="34" charset="-120"/>
              </a:rPr>
              <a:t>Seeds in fruits • Flowers</a:t>
            </a:r>
            <a:endParaRPr lang="en-US" sz="1400" dirty="0"/>
          </a:p>
          <a:p>
            <a:pPr marL="0" indent="0" algn="ctr">
              <a:buNone/>
            </a:pPr>
            <a:r>
              <a:rPr lang="en-US" sz="1400" dirty="0">
                <a:solidFill>
                  <a:srgbClr val="1A1A1A"/>
                </a:solidFill>
                <a:latin typeface="Arial" pitchFamily="34" charset="0"/>
                <a:ea typeface="Arial" pitchFamily="34" charset="-122"/>
                <a:cs typeface="Arial" pitchFamily="34" charset="-120"/>
              </a:rPr>
              <a:t>Example: Mango, Rose</a:t>
            </a:r>
            <a:endParaRPr lang="en-US" sz="1400" dirty="0"/>
          </a:p>
        </p:txBody>
      </p:sp>
      <p:sp>
        <p:nvSpPr>
          <p:cNvPr id="10" name="Shape 8"/>
          <p:cNvSpPr/>
          <p:nvPr/>
        </p:nvSpPr>
        <p:spPr>
          <a:xfrm>
            <a:off x="4754880" y="3063240"/>
            <a:ext cx="1920240" cy="1188720"/>
          </a:xfrm>
          <a:prstGeom prst="roundRect">
            <a:avLst>
              <a:gd name="adj" fmla="val 7692"/>
            </a:avLst>
          </a:prstGeom>
          <a:solidFill>
            <a:srgbClr val="E0F7F5"/>
          </a:solidFill>
          <a:ln/>
        </p:spPr>
      </p:sp>
      <p:sp>
        <p:nvSpPr>
          <p:cNvPr id="11" name="Text 9"/>
          <p:cNvSpPr/>
          <p:nvPr/>
        </p:nvSpPr>
        <p:spPr>
          <a:xfrm>
            <a:off x="4800600" y="3108960"/>
            <a:ext cx="1828800" cy="1097280"/>
          </a:xfrm>
          <a:prstGeom prst="rect">
            <a:avLst/>
          </a:prstGeom>
          <a:noFill/>
          <a:ln/>
        </p:spPr>
        <p:txBody>
          <a:bodyPr wrap="square" lIns="0" tIns="0" rIns="0" bIns="0" rtlCol="0" anchor="ctr"/>
          <a:lstStyle/>
          <a:p>
            <a:pPr marL="0" indent="0" algn="ctr">
              <a:buNone/>
            </a:pPr>
            <a:r>
              <a:rPr lang="en-US" sz="1200" dirty="0">
                <a:solidFill>
                  <a:srgbClr val="1A1A1A"/>
                </a:solidFill>
                <a:latin typeface="Arial" pitchFamily="34" charset="0"/>
                <a:ea typeface="Arial" pitchFamily="34" charset="-122"/>
                <a:cs typeface="Arial" pitchFamily="34" charset="-120"/>
              </a:rPr>
              <a:t>MONOCOT</a:t>
            </a:r>
            <a:endParaRPr lang="en-US" sz="1200" dirty="0"/>
          </a:p>
          <a:p>
            <a:pPr marL="0" indent="0" algn="ctr">
              <a:buNone/>
            </a:pPr>
            <a:r>
              <a:rPr lang="en-US" sz="1200" dirty="0">
                <a:solidFill>
                  <a:srgbClr val="1A1A1A"/>
                </a:solidFill>
                <a:latin typeface="Arial" pitchFamily="34" charset="0"/>
                <a:ea typeface="Arial" pitchFamily="34" charset="-122"/>
                <a:cs typeface="Arial" pitchFamily="34" charset="-120"/>
              </a:rPr>
              <a:t>1 cotyledon</a:t>
            </a:r>
            <a:endParaRPr lang="en-US" sz="1200" dirty="0"/>
          </a:p>
          <a:p>
            <a:pPr marL="0" indent="0" algn="ctr">
              <a:buNone/>
            </a:pPr>
            <a:r>
              <a:rPr lang="en-US" sz="1200" dirty="0">
                <a:solidFill>
                  <a:srgbClr val="1A1A1A"/>
                </a:solidFill>
                <a:latin typeface="Arial" pitchFamily="34" charset="0"/>
                <a:ea typeface="Arial" pitchFamily="34" charset="-122"/>
                <a:cs typeface="Arial" pitchFamily="34" charset="-120"/>
              </a:rPr>
              <a:t>Fibrous root</a:t>
            </a:r>
            <a:endParaRPr lang="en-US" sz="1200" dirty="0"/>
          </a:p>
          <a:p>
            <a:pPr marL="0" indent="0" algn="ctr">
              <a:buNone/>
            </a:pPr>
            <a:r>
              <a:rPr lang="en-US" sz="1200" dirty="0">
                <a:solidFill>
                  <a:srgbClr val="1A1A1A"/>
                </a:solidFill>
                <a:latin typeface="Arial" pitchFamily="34" charset="0"/>
                <a:ea typeface="Arial" pitchFamily="34" charset="-122"/>
                <a:cs typeface="Arial" pitchFamily="34" charset="-120"/>
              </a:rPr>
              <a:t>Rice, maize</a:t>
            </a:r>
            <a:endParaRPr lang="en-US" sz="1200" dirty="0"/>
          </a:p>
        </p:txBody>
      </p:sp>
      <p:sp>
        <p:nvSpPr>
          <p:cNvPr id="12" name="Shape 10"/>
          <p:cNvSpPr/>
          <p:nvPr/>
        </p:nvSpPr>
        <p:spPr>
          <a:xfrm>
            <a:off x="6858000" y="3063240"/>
            <a:ext cx="1920240" cy="1188720"/>
          </a:xfrm>
          <a:prstGeom prst="roundRect">
            <a:avLst>
              <a:gd name="adj" fmla="val 7692"/>
            </a:avLst>
          </a:prstGeom>
          <a:solidFill>
            <a:srgbClr val="FEF3C7"/>
          </a:solidFill>
          <a:ln/>
        </p:spPr>
      </p:sp>
      <p:sp>
        <p:nvSpPr>
          <p:cNvPr id="13" name="Text 11"/>
          <p:cNvSpPr/>
          <p:nvPr/>
        </p:nvSpPr>
        <p:spPr>
          <a:xfrm>
            <a:off x="6903720" y="3108960"/>
            <a:ext cx="1828800" cy="1097280"/>
          </a:xfrm>
          <a:prstGeom prst="rect">
            <a:avLst/>
          </a:prstGeom>
          <a:noFill/>
          <a:ln/>
        </p:spPr>
        <p:txBody>
          <a:bodyPr wrap="square" lIns="0" tIns="0" rIns="0" bIns="0" rtlCol="0" anchor="ctr"/>
          <a:lstStyle/>
          <a:p>
            <a:pPr marL="0" indent="0" algn="ctr">
              <a:buNone/>
            </a:pPr>
            <a:r>
              <a:rPr lang="en-US" sz="1200" dirty="0">
                <a:solidFill>
                  <a:srgbClr val="1A1A1A"/>
                </a:solidFill>
                <a:latin typeface="Arial" pitchFamily="34" charset="0"/>
                <a:ea typeface="Arial" pitchFamily="34" charset="-122"/>
                <a:cs typeface="Arial" pitchFamily="34" charset="-120"/>
              </a:rPr>
              <a:t>DICOT</a:t>
            </a:r>
            <a:endParaRPr lang="en-US" sz="1200" dirty="0"/>
          </a:p>
          <a:p>
            <a:pPr marL="0" indent="0" algn="ctr">
              <a:buNone/>
            </a:pPr>
            <a:r>
              <a:rPr lang="en-US" sz="1200" dirty="0">
                <a:solidFill>
                  <a:srgbClr val="1A1A1A"/>
                </a:solidFill>
                <a:latin typeface="Arial" pitchFamily="34" charset="0"/>
                <a:ea typeface="Arial" pitchFamily="34" charset="-122"/>
                <a:cs typeface="Arial" pitchFamily="34" charset="-120"/>
              </a:rPr>
              <a:t>2 cotyledons</a:t>
            </a:r>
            <a:endParaRPr lang="en-US" sz="1200" dirty="0"/>
          </a:p>
          <a:p>
            <a:pPr marL="0" indent="0" algn="ctr">
              <a:buNone/>
            </a:pPr>
            <a:r>
              <a:rPr lang="en-US" sz="1200" dirty="0">
                <a:solidFill>
                  <a:srgbClr val="1A1A1A"/>
                </a:solidFill>
                <a:latin typeface="Arial" pitchFamily="34" charset="0"/>
                <a:ea typeface="Arial" pitchFamily="34" charset="-122"/>
                <a:cs typeface="Arial" pitchFamily="34" charset="-120"/>
              </a:rPr>
              <a:t>Tap root</a:t>
            </a:r>
            <a:endParaRPr lang="en-US" sz="1200" dirty="0"/>
          </a:p>
          <a:p>
            <a:pPr marL="0" indent="0" algn="ctr">
              <a:buNone/>
            </a:pPr>
            <a:r>
              <a:rPr lang="en-US" sz="1200" dirty="0">
                <a:solidFill>
                  <a:srgbClr val="1A1A1A"/>
                </a:solidFill>
                <a:latin typeface="Arial" pitchFamily="34" charset="0"/>
                <a:ea typeface="Arial" pitchFamily="34" charset="-122"/>
                <a:cs typeface="Arial" pitchFamily="34" charset="-120"/>
              </a:rPr>
              <a:t>Pea, mango</a:t>
            </a:r>
            <a:endParaRPr lang="en-US" sz="1200" dirty="0"/>
          </a:p>
        </p:txBody>
      </p:sp>
      <p:sp>
        <p:nvSpPr>
          <p:cNvPr id="14" name="Shape 12"/>
          <p:cNvSpPr/>
          <p:nvPr/>
        </p:nvSpPr>
        <p:spPr>
          <a:xfrm>
            <a:off x="365760" y="4434840"/>
            <a:ext cx="8412480" cy="502920"/>
          </a:xfrm>
          <a:prstGeom prst="roundRect">
            <a:avLst>
              <a:gd name="adj" fmla="val 14545"/>
            </a:avLst>
          </a:prstGeom>
          <a:solidFill>
            <a:srgbClr val="1B4332"/>
          </a:solidFill>
          <a:ln/>
        </p:spPr>
      </p:sp>
      <p:sp>
        <p:nvSpPr>
          <p:cNvPr id="15" name="Text 13"/>
          <p:cNvSpPr/>
          <p:nvPr/>
        </p:nvSpPr>
        <p:spPr>
          <a:xfrm>
            <a:off x="365760" y="4434840"/>
            <a:ext cx="8412480" cy="50292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 Can you identify a plant around you as a monocot or dicot?</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34</TotalTime>
  <Words>1164</Words>
  <Application>Microsoft Office PowerPoint</Application>
  <PresentationFormat>On-screen Show (16:9)</PresentationFormat>
  <Paragraphs>231</Paragraphs>
  <Slides>20</Slides>
  <Notes>19</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20</vt:i4>
      </vt:variant>
    </vt:vector>
  </HeadingPairs>
  <TitlesOfParts>
    <vt:vector size="22" baseType="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Flowering Plants - Gymnosperms, Angiosperms, Monocots &amp; Dicots</dc:title>
  <dc:subject>Interactive Science Lesson</dc:subject>
  <dc:creator>Grade 6 Science</dc:creator>
  <cp:lastModifiedBy>DELL</cp:lastModifiedBy>
  <cp:revision>5</cp:revision>
  <dcterms:created xsi:type="dcterms:W3CDTF">2026-09-03T02:51:55Z</dcterms:created>
  <dcterms:modified xsi:type="dcterms:W3CDTF">2026-09-03T06:30:27Z</dcterms:modified>
</cp:coreProperties>
</file>